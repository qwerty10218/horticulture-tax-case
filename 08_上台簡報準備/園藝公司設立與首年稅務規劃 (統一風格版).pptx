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embeddedFontLst>
    <p:embeddedFont>
      <p:font typeface="Noto Sans TC" panose="02020500000000000000" charset="-120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54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font" Target="fonts/font1.fntdata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f8579f0009_1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f8579f0009_1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f8579f0009_1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f8579f0009_1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8579f0009_1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f8579f0009_1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8579f0009_1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8579f0009_1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f8579f0009_1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f8579f0009_1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f8579f0009_1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f8579f0009_1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f8579f0009_1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f8579f0009_1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f8579f0009_9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3f8579f0009_9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f8579f0009_8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f8579f0009_8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f8579f0009_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3f8579f0009_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f8579f0009_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f8579f0009_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f8579f0009_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3f8579f0009_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f8579f0009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3f8579f0009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f8579f0009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3f8579f0009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f8579f0009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" name="Google Shape;489;g3f8579f0009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f8579f0009_1_0)">
  <p:cSld name="Generated (g3f8579f0009_1_0)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4"/>
          <p:cNvGrpSpPr/>
          <p:nvPr/>
        </p:nvGrpSpPr>
        <p:grpSpPr>
          <a:xfrm>
            <a:off x="-1428750" y="-1428750"/>
            <a:ext cx="12287250" cy="7429500"/>
            <a:chOff x="-1428750" y="-1428750"/>
            <a:chExt cx="12287250" cy="7429500"/>
          </a:xfrm>
        </p:grpSpPr>
        <p:sp>
          <p:nvSpPr>
            <p:cNvPr id="56" name="Google Shape;56;p14"/>
            <p:cNvSpPr/>
            <p:nvPr/>
          </p:nvSpPr>
          <p:spPr>
            <a:xfrm>
              <a:off x="6477000" y="476250"/>
              <a:ext cx="4191000" cy="4191000"/>
            </a:xfrm>
            <a:prstGeom prst="ellipse">
              <a:avLst/>
            </a:prstGeom>
            <a:solidFill>
              <a:srgbClr val="7C9878">
                <a:alpha val="6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14"/>
            <p:cNvSpPr/>
            <p:nvPr/>
          </p:nvSpPr>
          <p:spPr>
            <a:xfrm>
              <a:off x="7429500" y="2571750"/>
              <a:ext cx="3429000" cy="3429000"/>
            </a:xfrm>
            <a:prstGeom prst="ellipse">
              <a:avLst/>
            </a:prstGeom>
            <a:solidFill>
              <a:srgbClr val="5A7557">
                <a:alpha val="8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14"/>
            <p:cNvSpPr/>
            <p:nvPr/>
          </p:nvSpPr>
          <p:spPr>
            <a:xfrm>
              <a:off x="7524750" y="381000"/>
              <a:ext cx="1143000" cy="1143000"/>
            </a:xfrm>
            <a:prstGeom prst="ellipse">
              <a:avLst/>
            </a:prstGeom>
            <a:solidFill>
              <a:srgbClr val="5A7557">
                <a:alpha val="4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14"/>
            <p:cNvSpPr/>
            <p:nvPr/>
          </p:nvSpPr>
          <p:spPr>
            <a:xfrm>
              <a:off x="-1428750" y="-1428750"/>
              <a:ext cx="2857500" cy="2857500"/>
            </a:xfrm>
            <a:prstGeom prst="ellipse">
              <a:avLst/>
            </a:prstGeom>
            <a:solidFill>
              <a:srgbClr val="7C9878">
                <a:alpha val="3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" name="Google Shape;60;p14"/>
          <p:cNvGrpSpPr/>
          <p:nvPr/>
        </p:nvGrpSpPr>
        <p:grpSpPr>
          <a:xfrm>
            <a:off x="571500" y="381000"/>
            <a:ext cx="4305300" cy="438150"/>
            <a:chOff x="0" y="0"/>
            <a:chExt cx="4305300" cy="438150"/>
          </a:xfrm>
        </p:grpSpPr>
        <p:sp>
          <p:nvSpPr>
            <p:cNvPr id="63" name="Google Shape;63;p14"/>
            <p:cNvSpPr txBox="1"/>
            <p:nvPr/>
          </p:nvSpPr>
          <p:spPr>
            <a:xfrm>
              <a:off x="495300" y="57150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64" name="Google Shape;64;p14"/>
          <p:cNvSpPr txBox="1"/>
          <p:nvPr/>
        </p:nvSpPr>
        <p:spPr>
          <a:xfrm>
            <a:off x="571500" y="1905000"/>
            <a:ext cx="76200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您的綠色事業 我們來守護</a:t>
            </a:r>
            <a:endParaRPr sz="1650" b="1">
              <a:solidFill>
                <a:srgbClr val="5A7557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zh-TW" sz="36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從公司設立到首年稅務規劃</a:t>
            </a:r>
            <a:endParaRPr sz="3600" b="1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6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一條龍避坑指南</a:t>
            </a:r>
            <a:endParaRPr sz="3600" b="1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zh-TW" sz="12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rPr>
              <a:t>專為大葉園藝量身打造的轉型策略與合規藍圖</a:t>
            </a:r>
            <a:endParaRPr sz="1200" b="0">
              <a:solidFill>
                <a:srgbClr val="7C9878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grpSp>
        <p:nvGrpSpPr>
          <p:cNvPr id="65" name="Google Shape;65;p14"/>
          <p:cNvGrpSpPr/>
          <p:nvPr/>
        </p:nvGrpSpPr>
        <p:grpSpPr>
          <a:xfrm>
            <a:off x="571500" y="4667250"/>
            <a:ext cx="8001000" cy="323850"/>
            <a:chOff x="0" y="0"/>
            <a:chExt cx="8001000" cy="323850"/>
          </a:xfrm>
        </p:grpSpPr>
        <p:cxnSp>
          <p:nvCxnSpPr>
            <p:cNvPr id="66" name="Google Shape;66;p14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67" name="Google Shape;67;p14"/>
            <p:cNvSpPr txBox="1"/>
            <p:nvPr/>
          </p:nvSpPr>
          <p:spPr>
            <a:xfrm>
              <a:off x="0" y="95250"/>
              <a:ext cx="4762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68" name="Google Shape;68;p14"/>
            <p:cNvSpPr txBox="1"/>
            <p:nvPr/>
          </p:nvSpPr>
          <p:spPr>
            <a:xfrm>
              <a:off x="7048500" y="95250"/>
              <a:ext cx="952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"/>
          <p:cNvSpPr/>
          <p:nvPr/>
        </p:nvSpPr>
        <p:spPr>
          <a:xfrm>
            <a:off x="5905500" y="-1714500"/>
            <a:ext cx="5334000" cy="5334000"/>
          </a:xfrm>
          <a:prstGeom prst="ellipse">
            <a:avLst/>
          </a:prstGeom>
          <a:solidFill>
            <a:srgbClr val="7C9878">
              <a:alpha val="8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15"/>
          <p:cNvSpPr/>
          <p:nvPr/>
        </p:nvSpPr>
        <p:spPr>
          <a:xfrm>
            <a:off x="-476250" y="3333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5" name="Google Shape;75;p15"/>
          <p:cNvGrpSpPr/>
          <p:nvPr/>
        </p:nvGrpSpPr>
        <p:grpSpPr>
          <a:xfrm>
            <a:off x="571500" y="381000"/>
            <a:ext cx="7772400" cy="1428750"/>
            <a:chOff x="0" y="0"/>
            <a:chExt cx="7772400" cy="1428750"/>
          </a:xfrm>
        </p:grpSpPr>
        <p:grpSp>
          <p:nvGrpSpPr>
            <p:cNvPr id="76" name="Google Shape;76;p15"/>
            <p:cNvGrpSpPr/>
            <p:nvPr/>
          </p:nvGrpSpPr>
          <p:grpSpPr>
            <a:xfrm>
              <a:off x="0" y="0"/>
              <a:ext cx="2400300" cy="381000"/>
              <a:chOff x="0" y="0"/>
              <a:chExt cx="2400300" cy="381000"/>
            </a:xfrm>
          </p:grpSpPr>
          <p:sp>
            <p:nvSpPr>
              <p:cNvPr id="79" name="Google Shape;79;p15"/>
              <p:cNvSpPr txBox="1"/>
              <p:nvPr/>
            </p:nvSpPr>
            <p:spPr>
              <a:xfrm>
                <a:off x="495300" y="57150"/>
                <a:ext cx="19050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20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大葉園藝顧問</a:t>
                </a:r>
                <a:endParaRPr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80" name="Google Shape;80;p15"/>
            <p:cNvGrpSpPr/>
            <p:nvPr/>
          </p:nvGrpSpPr>
          <p:grpSpPr>
            <a:xfrm>
              <a:off x="0" y="666750"/>
              <a:ext cx="7772400" cy="762000"/>
              <a:chOff x="0" y="0"/>
              <a:chExt cx="7772400" cy="762000"/>
            </a:xfrm>
          </p:grpSpPr>
          <p:sp>
            <p:nvSpPr>
              <p:cNvPr id="82" name="Google Shape;82;p15"/>
              <p:cNvSpPr txBox="1"/>
              <p:nvPr/>
            </p:nvSpPr>
            <p:spPr>
              <a:xfrm>
                <a:off x="152400" y="0"/>
                <a:ext cx="7620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900" b="1">
                    <a:solidFill>
                      <a:srgbClr val="7C9878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TODAY'S AGENDA</a:t>
                </a:r>
                <a:endParaRPr sz="900" b="1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300"/>
                  </a:spcAft>
                  <a:buNone/>
                </a:pPr>
                <a:r>
                  <a:rPr lang="zh-TW" sz="2100" b="1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今天要帶您走完的路</a:t>
                </a:r>
                <a:endParaRPr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83" name="Google Shape;83;p15"/>
          <p:cNvGrpSpPr/>
          <p:nvPr/>
        </p:nvGrpSpPr>
        <p:grpSpPr>
          <a:xfrm>
            <a:off x="571500" y="2000250"/>
            <a:ext cx="8001000" cy="2333775"/>
            <a:chOff x="0" y="0"/>
            <a:chExt cx="8001000" cy="2333775"/>
          </a:xfrm>
        </p:grpSpPr>
        <p:grpSp>
          <p:nvGrpSpPr>
            <p:cNvPr id="84" name="Google Shape;84;p15"/>
            <p:cNvGrpSpPr/>
            <p:nvPr/>
          </p:nvGrpSpPr>
          <p:grpSpPr>
            <a:xfrm>
              <a:off x="0" y="0"/>
              <a:ext cx="3810000" cy="1047900"/>
              <a:chOff x="0" y="0"/>
              <a:chExt cx="3810000" cy="1047900"/>
            </a:xfrm>
          </p:grpSpPr>
          <p:sp>
            <p:nvSpPr>
              <p:cNvPr id="85" name="Google Shape;85;p15"/>
              <p:cNvSpPr/>
              <p:nvPr/>
            </p:nvSpPr>
            <p:spPr>
              <a:xfrm>
                <a:off x="0" y="0"/>
                <a:ext cx="3810000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;p15"/>
              <p:cNvSpPr txBox="1"/>
              <p:nvPr/>
            </p:nvSpPr>
            <p:spPr>
              <a:xfrm>
                <a:off x="228600" y="228600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公司設立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75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7 步驟完成開業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87" name="Google Shape;87;p15"/>
            <p:cNvGrpSpPr/>
            <p:nvPr/>
          </p:nvGrpSpPr>
          <p:grpSpPr>
            <a:xfrm>
              <a:off x="4191000" y="0"/>
              <a:ext cx="3810000" cy="1047900"/>
              <a:chOff x="0" y="0"/>
              <a:chExt cx="3810000" cy="1047900"/>
            </a:xfrm>
          </p:grpSpPr>
          <p:sp>
            <p:nvSpPr>
              <p:cNvPr id="88" name="Google Shape;88;p15"/>
              <p:cNvSpPr/>
              <p:nvPr/>
            </p:nvSpPr>
            <p:spPr>
              <a:xfrm>
                <a:off x="0" y="0"/>
                <a:ext cx="3810000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15"/>
              <p:cNvSpPr txBox="1"/>
              <p:nvPr/>
            </p:nvSpPr>
            <p:spPr>
              <a:xfrm>
                <a:off x="228600" y="228600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營業稅申報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75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401 / 403 搞懂它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90" name="Google Shape;90;p15"/>
            <p:cNvGrpSpPr/>
            <p:nvPr/>
          </p:nvGrpSpPr>
          <p:grpSpPr>
            <a:xfrm>
              <a:off x="0" y="1285875"/>
              <a:ext cx="3810000" cy="1047900"/>
              <a:chOff x="0" y="0"/>
              <a:chExt cx="3810000" cy="1047900"/>
            </a:xfrm>
          </p:grpSpPr>
          <p:sp>
            <p:nvSpPr>
              <p:cNvPr id="91" name="Google Shape;91;p15"/>
              <p:cNvSpPr/>
              <p:nvPr/>
            </p:nvSpPr>
            <p:spPr>
              <a:xfrm>
                <a:off x="0" y="0"/>
                <a:ext cx="3810000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92;p15"/>
              <p:cNvSpPr txBox="1"/>
              <p:nvPr/>
            </p:nvSpPr>
            <p:spPr>
              <a:xfrm>
                <a:off x="228600" y="228600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營所稅結算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75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書審省稅策略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93" name="Google Shape;93;p15"/>
            <p:cNvGrpSpPr/>
            <p:nvPr/>
          </p:nvGrpSpPr>
          <p:grpSpPr>
            <a:xfrm>
              <a:off x="4191000" y="1285875"/>
              <a:ext cx="3810000" cy="1047900"/>
              <a:chOff x="0" y="0"/>
              <a:chExt cx="3810000" cy="1047900"/>
            </a:xfrm>
          </p:grpSpPr>
          <p:sp>
            <p:nvSpPr>
              <p:cNvPr id="94" name="Google Shape;94;p15"/>
              <p:cNvSpPr/>
              <p:nvPr/>
            </p:nvSpPr>
            <p:spPr>
              <a:xfrm>
                <a:off x="0" y="0"/>
                <a:ext cx="3810000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15"/>
              <p:cNvSpPr txBox="1"/>
              <p:nvPr/>
            </p:nvSpPr>
            <p:spPr>
              <a:xfrm>
                <a:off x="228600" y="228600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盈餘分配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75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合法把錢拿出來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96" name="Google Shape;96;p15"/>
          <p:cNvGrpSpPr/>
          <p:nvPr/>
        </p:nvGrpSpPr>
        <p:grpSpPr>
          <a:xfrm>
            <a:off x="571500" y="4667250"/>
            <a:ext cx="8001000" cy="333450"/>
            <a:chOff x="0" y="0"/>
            <a:chExt cx="8001000" cy="333450"/>
          </a:xfrm>
        </p:grpSpPr>
        <p:cxnSp>
          <p:nvCxnSpPr>
            <p:cNvPr id="97" name="Google Shape;97;p15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8" name="Google Shape;98;p15"/>
            <p:cNvSpPr txBox="1"/>
            <p:nvPr/>
          </p:nvSpPr>
          <p:spPr>
            <a:xfrm>
              <a:off x="0" y="95250"/>
              <a:ext cx="66675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客戶現況：陳老闆經營家族園藝 20 年，要正式轉型為有限公司 | 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99" name="Google Shape;99;p15"/>
            <p:cNvSpPr txBox="1"/>
            <p:nvPr/>
          </p:nvSpPr>
          <p:spPr>
            <a:xfrm>
              <a:off x="7048500" y="95250"/>
              <a:ext cx="9525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Page 02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9F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" name="Google Shape;105;p16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108" name="Google Shape;108;p16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109" name="Google Shape;109;p16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" name="Google Shape;110;p16"/>
          <p:cNvGrpSpPr/>
          <p:nvPr/>
        </p:nvGrpSpPr>
        <p:grpSpPr>
          <a:xfrm>
            <a:off x="571500" y="952500"/>
            <a:ext cx="4914900" cy="762000"/>
            <a:chOff x="0" y="0"/>
            <a:chExt cx="4914900" cy="762000"/>
          </a:xfrm>
        </p:grpSpPr>
        <p:sp>
          <p:nvSpPr>
            <p:cNvPr id="112" name="Google Shape;112;p16"/>
            <p:cNvSpPr txBox="1"/>
            <p:nvPr/>
          </p:nvSpPr>
          <p:spPr>
            <a:xfrm>
              <a:off x="152400" y="0"/>
              <a:ext cx="4762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陳老闆的園藝夢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CLIENT PROFILE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13" name="Google Shape;113;p16"/>
          <p:cNvGrpSpPr/>
          <p:nvPr/>
        </p:nvGrpSpPr>
        <p:grpSpPr>
          <a:xfrm>
            <a:off x="571500" y="1762125"/>
            <a:ext cx="3905400" cy="2381400"/>
            <a:chOff x="0" y="0"/>
            <a:chExt cx="3905400" cy="2381400"/>
          </a:xfrm>
        </p:grpSpPr>
        <p:sp>
          <p:nvSpPr>
            <p:cNvPr id="114" name="Google Shape;114;p16"/>
            <p:cNvSpPr/>
            <p:nvPr/>
          </p:nvSpPr>
          <p:spPr>
            <a:xfrm>
              <a:off x="0" y="0"/>
              <a:ext cx="3905400" cy="2381400"/>
            </a:xfrm>
            <a:prstGeom prst="roundRect">
              <a:avLst>
                <a:gd name="adj" fmla="val 6400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6"/>
            <p:cNvSpPr txBox="1"/>
            <p:nvPr/>
          </p:nvSpPr>
          <p:spPr>
            <a:xfrm>
              <a:off x="381000" y="228600"/>
              <a:ext cx="32958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現況</a:t>
              </a:r>
              <a:endParaRPr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5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家族園藝經營 20 年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花卉批發 + 庭園綠化施工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企業客戶要求開發票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75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正式設立有限公司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17" name="Google Shape;117;p16"/>
          <p:cNvGrpSpPr/>
          <p:nvPr/>
        </p:nvGrpSpPr>
        <p:grpSpPr>
          <a:xfrm>
            <a:off x="4667250" y="1762125"/>
            <a:ext cx="3905400" cy="2381400"/>
            <a:chOff x="0" y="0"/>
            <a:chExt cx="3905400" cy="2381400"/>
          </a:xfrm>
        </p:grpSpPr>
        <p:sp>
          <p:nvSpPr>
            <p:cNvPr id="118" name="Google Shape;118;p16"/>
            <p:cNvSpPr/>
            <p:nvPr/>
          </p:nvSpPr>
          <p:spPr>
            <a:xfrm>
              <a:off x="0" y="0"/>
              <a:ext cx="3905400" cy="2381400"/>
            </a:xfrm>
            <a:prstGeom prst="roundRect">
              <a:avLst>
                <a:gd name="adj" fmla="val 6400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6"/>
            <p:cNvSpPr txBox="1"/>
            <p:nvPr/>
          </p:nvSpPr>
          <p:spPr>
            <a:xfrm>
              <a:off x="381000" y="228600"/>
              <a:ext cx="32958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痛點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5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不知道設立流程要多久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搞不清楚賣花是否要繳稅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聽說年底有很多稅要報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75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公司賺的錢怎麼合法拿出來？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21" name="Google Shape;121;p16"/>
          <p:cNvGrpSpPr/>
          <p:nvPr/>
        </p:nvGrpSpPr>
        <p:grpSpPr>
          <a:xfrm>
            <a:off x="571500" y="4238625"/>
            <a:ext cx="8001000" cy="342900"/>
            <a:chOff x="0" y="0"/>
            <a:chExt cx="8001000" cy="342900"/>
          </a:xfrm>
        </p:grpSpPr>
        <p:sp>
          <p:nvSpPr>
            <p:cNvPr id="122" name="Google Shape;122;p16"/>
            <p:cNvSpPr/>
            <p:nvPr/>
          </p:nvSpPr>
          <p:spPr>
            <a:xfrm>
              <a:off x="0" y="0"/>
              <a:ext cx="8001000" cy="342900"/>
            </a:xfrm>
            <a:prstGeom prst="roundRect">
              <a:avLst>
                <a:gd name="adj" fmla="val 22222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6"/>
            <p:cNvSpPr txBox="1"/>
            <p:nvPr/>
          </p:nvSpPr>
          <p:spPr>
            <a:xfrm>
              <a:off x="190500" y="76200"/>
              <a:ext cx="762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為了接軌大型企業客戶並完善家族傳承，</a:t>
              </a: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合規轉型</a:t>
              </a:r>
              <a:r>
                <a:rPr lang="zh-TW" sz="10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是園藝夢壯大的必經之路。</a:t>
              </a:r>
              <a:endParaRPr sz="105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24" name="Google Shape;124;p16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125" name="Google Shape;125;p16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16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127" name="Google Shape;127;p16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/>
          <p:nvPr/>
        </p:nvSpPr>
        <p:spPr>
          <a:xfrm>
            <a:off x="7715250" y="-1428750"/>
            <a:ext cx="2857500" cy="2857500"/>
          </a:xfrm>
          <a:prstGeom prst="ellipse">
            <a:avLst/>
          </a:prstGeom>
          <a:solidFill>
            <a:srgbClr val="5A7557">
              <a:alpha val="3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" name="Google Shape;133;p17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136" name="Google Shape;136;p17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37" name="Google Shape;137;p17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139" name="Google Shape;139;p17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1 — 公司設立</a:t>
              </a:r>
              <a:endParaRPr sz="1050" b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900"/>
                </a:spcAft>
                <a:buNone/>
              </a:pPr>
              <a:r>
                <a:rPr lang="zh-TW" sz="21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7 步驟完成公司設立</a:t>
              </a:r>
              <a:endParaRPr sz="21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40" name="Google Shape;140;p17"/>
          <p:cNvGrpSpPr/>
          <p:nvPr/>
        </p:nvGrpSpPr>
        <p:grpSpPr>
          <a:xfrm>
            <a:off x="152400" y="2095500"/>
            <a:ext cx="8001000" cy="895500"/>
            <a:chOff x="-419100" y="0"/>
            <a:chExt cx="8001000" cy="895500"/>
          </a:xfrm>
        </p:grpSpPr>
        <p:grpSp>
          <p:nvGrpSpPr>
            <p:cNvPr id="141" name="Google Shape;141;p17"/>
            <p:cNvGrpSpPr/>
            <p:nvPr/>
          </p:nvGrpSpPr>
          <p:grpSpPr>
            <a:xfrm>
              <a:off x="-419100" y="0"/>
              <a:ext cx="1143000" cy="895500"/>
              <a:chOff x="-419100" y="0"/>
              <a:chExt cx="1143000" cy="895500"/>
            </a:xfrm>
          </p:grpSpPr>
          <p:sp>
            <p:nvSpPr>
              <p:cNvPr id="143" name="Google Shape;14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1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44" name="Google Shape;14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名稱預查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46" name="Google Shape;146;p17"/>
            <p:cNvGrpSpPr/>
            <p:nvPr/>
          </p:nvGrpSpPr>
          <p:grpSpPr>
            <a:xfrm>
              <a:off x="723900" y="0"/>
              <a:ext cx="1143000" cy="895500"/>
              <a:chOff x="-419100" y="0"/>
              <a:chExt cx="1143000" cy="895500"/>
            </a:xfrm>
          </p:grpSpPr>
          <p:sp>
            <p:nvSpPr>
              <p:cNvPr id="148" name="Google Shape;14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2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49" name="Google Shape;14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確定地址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51" name="Google Shape;151;p17"/>
            <p:cNvGrpSpPr/>
            <p:nvPr/>
          </p:nvGrpSpPr>
          <p:grpSpPr>
            <a:xfrm>
              <a:off x="1866900" y="0"/>
              <a:ext cx="1143000" cy="895500"/>
              <a:chOff x="-419100" y="0"/>
              <a:chExt cx="1143000" cy="895500"/>
            </a:xfrm>
          </p:grpSpPr>
          <p:sp>
            <p:nvSpPr>
              <p:cNvPr id="153" name="Google Shape;15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3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54" name="Google Shape;15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銀行籌備戶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56" name="Google Shape;156;p17"/>
            <p:cNvGrpSpPr/>
            <p:nvPr/>
          </p:nvGrpSpPr>
          <p:grpSpPr>
            <a:xfrm>
              <a:off x="3009900" y="0"/>
              <a:ext cx="1143000" cy="895500"/>
              <a:chOff x="-419100" y="0"/>
              <a:chExt cx="1143000" cy="895500"/>
            </a:xfrm>
          </p:grpSpPr>
          <p:sp>
            <p:nvSpPr>
              <p:cNvPr id="158" name="Google Shape;15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4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59" name="Google Shape;15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會計師驗資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61" name="Google Shape;161;p17"/>
            <p:cNvGrpSpPr/>
            <p:nvPr/>
          </p:nvGrpSpPr>
          <p:grpSpPr>
            <a:xfrm>
              <a:off x="4152900" y="0"/>
              <a:ext cx="1143000" cy="895500"/>
              <a:chOff x="-419100" y="0"/>
              <a:chExt cx="1143000" cy="895500"/>
            </a:xfrm>
          </p:grpSpPr>
          <p:sp>
            <p:nvSpPr>
              <p:cNvPr id="163" name="Google Shape;16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5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64" name="Google Shape;16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設立登記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66" name="Google Shape;166;p17"/>
            <p:cNvGrpSpPr/>
            <p:nvPr/>
          </p:nvGrpSpPr>
          <p:grpSpPr>
            <a:xfrm>
              <a:off x="5295900" y="0"/>
              <a:ext cx="1143000" cy="895500"/>
              <a:chOff x="-419100" y="0"/>
              <a:chExt cx="1143000" cy="895500"/>
            </a:xfrm>
          </p:grpSpPr>
          <p:sp>
            <p:nvSpPr>
              <p:cNvPr id="168" name="Google Shape;16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6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69" name="Google Shape;16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稅籍登記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71" name="Google Shape;171;p17"/>
            <p:cNvGrpSpPr/>
            <p:nvPr/>
          </p:nvGrpSpPr>
          <p:grpSpPr>
            <a:xfrm>
              <a:off x="6438900" y="0"/>
              <a:ext cx="1143000" cy="895500"/>
              <a:chOff x="-419100" y="0"/>
              <a:chExt cx="1143000" cy="895500"/>
            </a:xfrm>
          </p:grpSpPr>
          <p:sp>
            <p:nvSpPr>
              <p:cNvPr id="173" name="Google Shape;17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7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74" name="Google Shape;17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CTP 申報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175" name="Google Shape;175;p17"/>
          <p:cNvGrpSpPr/>
          <p:nvPr/>
        </p:nvGrpSpPr>
        <p:grpSpPr>
          <a:xfrm>
            <a:off x="571500" y="3238500"/>
            <a:ext cx="8001000" cy="1047900"/>
            <a:chOff x="0" y="0"/>
            <a:chExt cx="8001000" cy="1047900"/>
          </a:xfrm>
        </p:grpSpPr>
        <p:sp>
          <p:nvSpPr>
            <p:cNvPr id="176" name="Google Shape;176;p17"/>
            <p:cNvSpPr/>
            <p:nvPr/>
          </p:nvSpPr>
          <p:spPr>
            <a:xfrm>
              <a:off x="0" y="0"/>
              <a:ext cx="8001000" cy="1047900"/>
            </a:xfrm>
            <a:prstGeom prst="roundRect">
              <a:avLst>
                <a:gd name="adj" fmla="val 14545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7"/>
            <p:cNvSpPr txBox="1"/>
            <p:nvPr/>
          </p:nvSpPr>
          <p:spPr>
            <a:xfrm>
              <a:off x="381000" y="238125"/>
              <a:ext cx="72390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建議資本額：100 萬 / 費用估算：NT$6,000~12,000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關鍵期限：</a:t>
              </a: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15 天</a:t>
              </a:r>
              <a:r>
                <a:rPr lang="zh-TW" sz="105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（驗資後 15 日內送件、設立後 15 日內辦理稅籍及 CTP）</a:t>
              </a:r>
              <a:endParaRPr sz="1050" b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78" name="Google Shape;178;p17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179" name="Google Shape;179;p17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80" name="Google Shape;180;p17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181" name="Google Shape;181;p17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B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8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191" name="Google Shape;191;p18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92" name="Google Shape;192;p18"/>
          <p:cNvGrpSpPr/>
          <p:nvPr/>
        </p:nvGrpSpPr>
        <p:grpSpPr>
          <a:xfrm>
            <a:off x="571500" y="952500"/>
            <a:ext cx="4914900" cy="952500"/>
            <a:chOff x="0" y="0"/>
            <a:chExt cx="4914900" cy="952500"/>
          </a:xfrm>
        </p:grpSpPr>
        <p:sp>
          <p:nvSpPr>
            <p:cNvPr id="193" name="Google Shape;193;p18"/>
            <p:cNvSpPr/>
            <p:nvPr/>
          </p:nvSpPr>
          <p:spPr>
            <a:xfrm>
              <a:off x="0" y="0"/>
              <a:ext cx="1143000" cy="266700"/>
            </a:xfrm>
            <a:prstGeom prst="roundRect">
              <a:avLst>
                <a:gd name="adj" fmla="val 50000"/>
              </a:avLst>
            </a:prstGeom>
            <a:solidFill>
              <a:srgbClr val="C55D4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18"/>
            <p:cNvSpPr txBox="1"/>
            <p:nvPr/>
          </p:nvSpPr>
          <p:spPr>
            <a:xfrm>
              <a:off x="0" y="38100"/>
              <a:ext cx="1143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90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DANGER ZONE</a:t>
              </a:r>
              <a:endParaRPr sz="900" b="1">
                <a:solidFill>
                  <a:srgbClr val="FFFFFF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196" name="Google Shape;196;p18"/>
            <p:cNvSpPr txBox="1"/>
            <p:nvPr/>
          </p:nvSpPr>
          <p:spPr>
            <a:xfrm>
              <a:off x="152400" y="381000"/>
              <a:ext cx="4762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zh-TW" sz="31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兩大致命地雷</a:t>
              </a:r>
              <a:endParaRPr sz="31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97" name="Google Shape;197;p18"/>
          <p:cNvGrpSpPr/>
          <p:nvPr/>
        </p:nvGrpSpPr>
        <p:grpSpPr>
          <a:xfrm>
            <a:off x="571500" y="2095500"/>
            <a:ext cx="3810000" cy="2286000"/>
            <a:chOff x="0" y="0"/>
            <a:chExt cx="3810000" cy="2286000"/>
          </a:xfrm>
        </p:grpSpPr>
        <p:sp>
          <p:nvSpPr>
            <p:cNvPr id="198" name="Google Shape;198;p18"/>
            <p:cNvSpPr/>
            <p:nvPr/>
          </p:nvSpPr>
          <p:spPr>
            <a:xfrm>
              <a:off x="0" y="0"/>
              <a:ext cx="3810000" cy="2286000"/>
            </a:xfrm>
            <a:prstGeom prst="roundRect">
              <a:avLst>
                <a:gd name="adj" fmla="val 6666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18"/>
            <p:cNvSpPr txBox="1"/>
            <p:nvPr/>
          </p:nvSpPr>
          <p:spPr>
            <a:xfrm>
              <a:off x="285750" y="285750"/>
              <a:ext cx="3238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驗資過水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驗資完抽走資金等於虛設資本</a:t>
              </a:r>
              <a:b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</a:br>
              <a: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（公司法 §9）</a:t>
              </a:r>
              <a:endParaRPr sz="1200" b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240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最重刑責 5 年</a:t>
              </a:r>
              <a:endParaRPr sz="240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01" name="Google Shape;201;p18"/>
          <p:cNvGrpSpPr/>
          <p:nvPr/>
        </p:nvGrpSpPr>
        <p:grpSpPr>
          <a:xfrm>
            <a:off x="4762500" y="2095500"/>
            <a:ext cx="3810000" cy="2286000"/>
            <a:chOff x="0" y="0"/>
            <a:chExt cx="3810000" cy="2286000"/>
          </a:xfrm>
        </p:grpSpPr>
        <p:sp>
          <p:nvSpPr>
            <p:cNvPr id="202" name="Google Shape;202;p18"/>
            <p:cNvSpPr/>
            <p:nvPr/>
          </p:nvSpPr>
          <p:spPr>
            <a:xfrm>
              <a:off x="0" y="0"/>
              <a:ext cx="3810000" cy="2286000"/>
            </a:xfrm>
            <a:prstGeom prst="roundRect">
              <a:avLst>
                <a:gd name="adj" fmla="val 6666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8"/>
            <p:cNvSpPr txBox="1"/>
            <p:nvPr/>
          </p:nvSpPr>
          <p:spPr>
            <a:xfrm>
              <a:off x="285750" y="285750"/>
              <a:ext cx="3238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漏報 CTP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公司法 §22-1 主要股東資訊申報</a:t>
              </a:r>
              <a:b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</a:br>
              <a: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忘記 15 日內申報</a:t>
              </a:r>
              <a:endParaRPr sz="1200" b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240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罰 5 萬 ~ 500 萬</a:t>
              </a:r>
              <a:endParaRPr sz="240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05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06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07" name="Google Shape;207;p18"/>
            <p:cNvSpPr txBox="1"/>
            <p:nvPr/>
          </p:nvSpPr>
          <p:spPr>
            <a:xfrm>
              <a:off x="0" y="95250"/>
              <a:ext cx="476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08" name="Google Shape;208;p18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9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4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18" name="Google Shape;218;p19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220" name="Google Shape;220;p19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2 — 收入分類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免稅 vs 應稅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法規依據：營業稅法 §8 第 1 項第 19 款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21" name="Google Shape;221;p19"/>
          <p:cNvGrpSpPr/>
          <p:nvPr/>
        </p:nvGrpSpPr>
        <p:grpSpPr>
          <a:xfrm>
            <a:off x="571500" y="1905000"/>
            <a:ext cx="3619500" cy="2476500"/>
            <a:chOff x="0" y="0"/>
            <a:chExt cx="3619500" cy="2476500"/>
          </a:xfrm>
        </p:grpSpPr>
        <p:sp>
          <p:nvSpPr>
            <p:cNvPr id="222" name="Google Shape;222;p19"/>
            <p:cNvSpPr/>
            <p:nvPr/>
          </p:nvSpPr>
          <p:spPr>
            <a:xfrm>
              <a:off x="0" y="0"/>
              <a:ext cx="36195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14300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19"/>
            <p:cNvSpPr txBox="1"/>
            <p:nvPr/>
          </p:nvSpPr>
          <p:spPr>
            <a:xfrm>
              <a:off x="571500" y="209550"/>
              <a:ext cx="28575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免稅（未加工）</a:t>
              </a:r>
              <a:endParaRPr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2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切花、盆栽（塑膠/素燒陶土/木材容器）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花卉批發、種苗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網路販售原始花卉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900" b="0" i="1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符合農業產銷定義之原始型態產品</a:t>
              </a:r>
              <a:endParaRPr sz="900" b="0" i="1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26" name="Google Shape;226;p19"/>
          <p:cNvGrpSpPr/>
          <p:nvPr/>
        </p:nvGrpSpPr>
        <p:grpSpPr>
          <a:xfrm>
            <a:off x="4762500" y="1905000"/>
            <a:ext cx="3619500" cy="2476500"/>
            <a:chOff x="0" y="0"/>
            <a:chExt cx="3619500" cy="2476500"/>
          </a:xfrm>
        </p:grpSpPr>
        <p:sp>
          <p:nvSpPr>
            <p:cNvPr id="227" name="Google Shape;227;p19"/>
            <p:cNvSpPr/>
            <p:nvPr/>
          </p:nvSpPr>
          <p:spPr>
            <a:xfrm>
              <a:off x="0" y="0"/>
              <a:ext cx="3619500" cy="2476500"/>
            </a:xfrm>
            <a:prstGeom prst="roundRect">
              <a:avLst>
                <a:gd name="adj" fmla="val 6153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19"/>
            <p:cNvSpPr txBox="1"/>
            <p:nvPr/>
          </p:nvSpPr>
          <p:spPr>
            <a:xfrm>
              <a:off x="571500" y="209550"/>
              <a:ext cx="28575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應稅（加工 / 勞務）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2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乾燥花、花藝禮盒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園藝維護服務、景觀設計施工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高級瓷器 / 玻璃盆栽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900" b="0" i="1">
                  <a:solidFill>
                    <a:srgbClr val="D87A6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涉及人工裝飾、加工或純勞務提供</a:t>
              </a:r>
              <a:endParaRPr sz="900" b="0" i="1">
                <a:solidFill>
                  <a:srgbClr val="D87A6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31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9" name="Google Shape;239;p20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42" name="Google Shape;242;p20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43" name="Google Shape;243;p20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245" name="Google Shape;245;p20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401 vs 403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2 — 申報書選用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46" name="Google Shape;246;p20"/>
          <p:cNvGrpSpPr/>
          <p:nvPr/>
        </p:nvGrpSpPr>
        <p:grpSpPr>
          <a:xfrm>
            <a:off x="571500" y="1809750"/>
            <a:ext cx="8001000" cy="1714500"/>
            <a:chOff x="0" y="0"/>
            <a:chExt cx="8001000" cy="1714500"/>
          </a:xfrm>
        </p:grpSpPr>
        <p:sp>
          <p:nvSpPr>
            <p:cNvPr id="247" name="Google Shape;247;p20"/>
            <p:cNvSpPr/>
            <p:nvPr/>
          </p:nvSpPr>
          <p:spPr>
            <a:xfrm>
              <a:off x="0" y="0"/>
              <a:ext cx="8001000" cy="1714500"/>
            </a:xfrm>
            <a:prstGeom prst="roundRect">
              <a:avLst>
                <a:gd name="adj" fmla="val 6666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48" name="Google Shape;248;p20"/>
            <p:cNvCxnSpPr/>
            <p:nvPr/>
          </p:nvCxnSpPr>
          <p:spPr>
            <a:xfrm>
              <a:off x="190500" y="428625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9" name="Google Shape;249;p20"/>
            <p:cNvCxnSpPr/>
            <p:nvPr/>
          </p:nvCxnSpPr>
          <p:spPr>
            <a:xfrm>
              <a:off x="190500" y="857250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50" name="Google Shape;250;p20"/>
            <p:cNvCxnSpPr/>
            <p:nvPr/>
          </p:nvCxnSpPr>
          <p:spPr>
            <a:xfrm>
              <a:off x="190500" y="1285875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pic>
          <p:nvPicPr>
            <p:cNvPr id="251" name="Google Shape;251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5" y="1295400"/>
              <a:ext cx="7982100" cy="409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52" name="Google Shape;252;p20"/>
            <p:cNvSpPr txBox="1"/>
            <p:nvPr/>
          </p:nvSpPr>
          <p:spPr>
            <a:xfrm>
              <a:off x="228600" y="95250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業務類型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3" name="Google Shape;253;p20"/>
            <p:cNvSpPr txBox="1"/>
            <p:nvPr/>
          </p:nvSpPr>
          <p:spPr>
            <a:xfrm>
              <a:off x="1905000" y="95250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收入性質說明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4" name="Google Shape;254;p20"/>
            <p:cNvSpPr txBox="1"/>
            <p:nvPr/>
          </p:nvSpPr>
          <p:spPr>
            <a:xfrm>
              <a:off x="5905500" y="952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適用申報書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5" name="Google Shape;255;p20"/>
            <p:cNvSpPr txBox="1"/>
            <p:nvPr/>
          </p:nvSpPr>
          <p:spPr>
            <a:xfrm>
              <a:off x="228600" y="523875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專營應稅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6" name="Google Shape;256;p20"/>
            <p:cNvSpPr txBox="1"/>
            <p:nvPr/>
          </p:nvSpPr>
          <p:spPr>
            <a:xfrm>
              <a:off x="1905000" y="523875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所有收入皆為應稅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7" name="Google Shape;257;p20"/>
            <p:cNvSpPr txBox="1"/>
            <p:nvPr/>
          </p:nvSpPr>
          <p:spPr>
            <a:xfrm>
              <a:off x="5905500" y="523875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401 申報書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8" name="Google Shape;258;p20"/>
            <p:cNvSpPr txBox="1"/>
            <p:nvPr/>
          </p:nvSpPr>
          <p:spPr>
            <a:xfrm>
              <a:off x="228600" y="952500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專營免稅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9" name="Google Shape;259;p20"/>
            <p:cNvSpPr txBox="1"/>
            <p:nvPr/>
          </p:nvSpPr>
          <p:spPr>
            <a:xfrm>
              <a:off x="1905000" y="952500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所有收入皆為免稅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0" name="Google Shape;260;p20"/>
            <p:cNvSpPr txBox="1"/>
            <p:nvPr/>
          </p:nvSpPr>
          <p:spPr>
            <a:xfrm>
              <a:off x="5905500" y="95250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401 申報書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1" name="Google Shape;261;p20"/>
            <p:cNvSpPr txBox="1"/>
            <p:nvPr/>
          </p:nvSpPr>
          <p:spPr>
            <a:xfrm>
              <a:off x="228600" y="1381125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3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兼營</a:t>
              </a:r>
              <a:endParaRPr sz="13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2" name="Google Shape;262;p20"/>
            <p:cNvSpPr txBox="1"/>
            <p:nvPr/>
          </p:nvSpPr>
          <p:spPr>
            <a:xfrm>
              <a:off x="1905000" y="1381125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同時有應稅＋免稅收入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3" name="Google Shape;263;p20"/>
            <p:cNvSpPr txBox="1"/>
            <p:nvPr/>
          </p:nvSpPr>
          <p:spPr>
            <a:xfrm>
              <a:off x="5905500" y="1381125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403 申報書</a:t>
              </a:r>
              <a:endParaRPr sz="16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64" name="Google Shape;264;p20"/>
          <p:cNvGrpSpPr/>
          <p:nvPr/>
        </p:nvGrpSpPr>
        <p:grpSpPr>
          <a:xfrm>
            <a:off x="571500" y="3714750"/>
            <a:ext cx="8001000" cy="809700"/>
            <a:chOff x="0" y="0"/>
            <a:chExt cx="8001000" cy="809700"/>
          </a:xfrm>
        </p:grpSpPr>
        <p:sp>
          <p:nvSpPr>
            <p:cNvPr id="265" name="Google Shape;265;p20"/>
            <p:cNvSpPr/>
            <p:nvPr/>
          </p:nvSpPr>
          <p:spPr>
            <a:xfrm>
              <a:off x="0" y="0"/>
              <a:ext cx="8001000" cy="809700"/>
            </a:xfrm>
            <a:prstGeom prst="roundRect">
              <a:avLst>
                <a:gd name="adj" fmla="val 18823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0"/>
            <p:cNvSpPr txBox="1"/>
            <p:nvPr/>
          </p:nvSpPr>
          <p:spPr>
            <a:xfrm>
              <a:off x="285750" y="142875"/>
              <a:ext cx="7429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口訣：「專營四零一，兼營四零三」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大葉園藝賣花（免稅）又做工程（應稅）＝ 兼營 ＝ </a:t>
              </a: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403</a:t>
              </a: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。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67" name="Google Shape;267;p20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68" name="Google Shape;268;p20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9" name="Google Shape;269;p20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70" name="Google Shape;270;p20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271" name="Google Shape;271;p20"/>
          <p:cNvSpPr/>
          <p:nvPr/>
        </p:nvSpPr>
        <p:spPr>
          <a:xfrm>
            <a:off x="7810500" y="-666750"/>
            <a:ext cx="2286000" cy="2286000"/>
          </a:xfrm>
          <a:prstGeom prst="ellipse">
            <a:avLst/>
          </a:prstGeom>
          <a:solidFill>
            <a:srgbClr val="7C9878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7" name="Google Shape;277;p21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80" name="Google Shape;280;p21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81" name="Google Shape;281;p21"/>
          <p:cNvGrpSpPr/>
          <p:nvPr/>
        </p:nvGrpSpPr>
        <p:grpSpPr>
          <a:xfrm>
            <a:off x="571500" y="952500"/>
            <a:ext cx="6819900" cy="762000"/>
            <a:chOff x="0" y="0"/>
            <a:chExt cx="6819900" cy="762000"/>
          </a:xfrm>
        </p:grpSpPr>
        <p:sp>
          <p:nvSpPr>
            <p:cNvPr id="283" name="Google Shape;283;p21"/>
            <p:cNvSpPr txBox="1"/>
            <p:nvPr/>
          </p:nvSpPr>
          <p:spPr>
            <a:xfrm>
              <a:off x="152400" y="0"/>
              <a:ext cx="666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年底大魔王：進項比例調整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2 — 進項稅額分攤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84" name="Google Shape;284;p21"/>
          <p:cNvGrpSpPr/>
          <p:nvPr/>
        </p:nvGrpSpPr>
        <p:grpSpPr>
          <a:xfrm>
            <a:off x="571500" y="2095500"/>
            <a:ext cx="3429000" cy="2286000"/>
            <a:chOff x="0" y="0"/>
            <a:chExt cx="3429000" cy="2286000"/>
          </a:xfrm>
        </p:grpSpPr>
        <p:sp>
          <p:nvSpPr>
            <p:cNvPr id="285" name="Google Shape;285;p21"/>
            <p:cNvSpPr/>
            <p:nvPr/>
          </p:nvSpPr>
          <p:spPr>
            <a:xfrm>
              <a:off x="0" y="0"/>
              <a:ext cx="3429000" cy="2286000"/>
            </a:xfrm>
            <a:prstGeom prst="roundRect">
              <a:avLst>
                <a:gd name="adj" fmla="val 6666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21"/>
            <p:cNvSpPr txBox="1"/>
            <p:nvPr/>
          </p:nvSpPr>
          <p:spPr>
            <a:xfrm>
              <a:off x="228600" y="228600"/>
              <a:ext cx="2971800" cy="1828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平時（每 2 個月）</a:t>
              </a:r>
              <a:endParaRPr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依當期免稅/應稅比例計算不可扣抵進項。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單數月 15 日前申報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稅率 5%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87" name="Google Shape;287;p21"/>
          <p:cNvGrpSpPr/>
          <p:nvPr/>
        </p:nvGrpSpPr>
        <p:grpSpPr>
          <a:xfrm>
            <a:off x="4572000" y="2095500"/>
            <a:ext cx="4000500" cy="2286000"/>
            <a:chOff x="0" y="0"/>
            <a:chExt cx="4000500" cy="2286000"/>
          </a:xfrm>
        </p:grpSpPr>
        <p:sp>
          <p:nvSpPr>
            <p:cNvPr id="288" name="Google Shape;288;p21"/>
            <p:cNvSpPr/>
            <p:nvPr/>
          </p:nvSpPr>
          <p:spPr>
            <a:xfrm>
              <a:off x="0" y="0"/>
              <a:ext cx="4000500" cy="2286000"/>
            </a:xfrm>
            <a:prstGeom prst="roundRect">
              <a:avLst>
                <a:gd name="adj" fmla="val 6666"/>
              </a:avLst>
            </a:prstGeom>
            <a:solidFill>
              <a:srgbClr val="FDF2F0"/>
            </a:solidFill>
            <a:ln w="9525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1"/>
            <p:cNvSpPr txBox="1"/>
            <p:nvPr/>
          </p:nvSpPr>
          <p:spPr>
            <a:xfrm>
              <a:off x="228600" y="228600"/>
              <a:ext cx="3543300" cy="1828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年底（最後一期）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11-12 月期（隔年 1/15 報），須加總全年度銷售額重新精算。</a:t>
              </a:r>
              <a:endParaRPr sz="1050" b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600"/>
                </a:spcAft>
                <a:buNone/>
              </a:pPr>
              <a:r>
                <a:rPr lang="zh-TW" sz="1050" b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疏漏將面臨補稅與裁罰。</a:t>
              </a:r>
              <a:endParaRPr sz="1050" b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91" name="Google Shape;291;p21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92" name="Google Shape;292;p21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93" name="Google Shape;293;p21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94" name="Google Shape;294;p21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05500" y="2095500"/>
            <a:ext cx="5334000" cy="533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476250" y="-1047750"/>
            <a:ext cx="2857500" cy="2857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1" name="Google Shape;301;p22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304" name="Google Shape;304;p22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05" name="Google Shape;305;p22"/>
          <p:cNvGrpSpPr/>
          <p:nvPr/>
        </p:nvGrpSpPr>
        <p:grpSpPr>
          <a:xfrm>
            <a:off x="571500" y="952500"/>
            <a:ext cx="8153400" cy="762000"/>
            <a:chOff x="0" y="0"/>
            <a:chExt cx="8153400" cy="762000"/>
          </a:xfrm>
        </p:grpSpPr>
        <p:sp>
          <p:nvSpPr>
            <p:cNvPr id="307" name="Google Shape;307;p22"/>
            <p:cNvSpPr txBox="1"/>
            <p:nvPr/>
          </p:nvSpPr>
          <p:spPr>
            <a:xfrm>
              <a:off x="152400" y="0"/>
              <a:ext cx="8001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三種申報方式比較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3 — 營所稅策略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08" name="Google Shape;308;p22"/>
          <p:cNvGrpSpPr/>
          <p:nvPr/>
        </p:nvGrpSpPr>
        <p:grpSpPr>
          <a:xfrm>
            <a:off x="571500" y="1905000"/>
            <a:ext cx="2571900" cy="2476500"/>
            <a:chOff x="0" y="0"/>
            <a:chExt cx="2571900" cy="2476500"/>
          </a:xfrm>
        </p:grpSpPr>
        <p:sp>
          <p:nvSpPr>
            <p:cNvPr id="309" name="Google Shape;309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A755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擴大書審</a:t>
              </a:r>
              <a:endParaRPr sz="150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營收 &lt; 3,000 萬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純益率 ~4%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查帳風險極低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推薦首年使用</a:t>
              </a:r>
              <a:endParaRPr/>
            </a:p>
          </p:txBody>
        </p:sp>
      </p:grpSp>
      <p:grpSp>
        <p:nvGrpSpPr>
          <p:cNvPr id="312" name="Google Shape;312;p22"/>
          <p:cNvGrpSpPr/>
          <p:nvPr/>
        </p:nvGrpSpPr>
        <p:grpSpPr>
          <a:xfrm>
            <a:off x="3286125" y="1905000"/>
            <a:ext cx="2571900" cy="2476500"/>
            <a:chOff x="0" y="0"/>
            <a:chExt cx="2571900" cy="2476500"/>
          </a:xfrm>
        </p:grpSpPr>
        <p:sp>
          <p:nvSpPr>
            <p:cNvPr id="313" name="Google Shape;313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4A46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>
                  <a:solidFill>
                    <a:srgbClr val="C4A46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所得額標準</a:t>
              </a:r>
              <a:endParaRPr sz="1500" b="1">
                <a:solidFill>
                  <a:srgbClr val="C4A46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無營收限制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淨利率 10%~11%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查帳風險中等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帳務完整時可選</a:t>
              </a:r>
              <a:endParaRPr/>
            </a:p>
          </p:txBody>
        </p:sp>
      </p:grpSp>
      <p:grpSp>
        <p:nvGrpSpPr>
          <p:cNvPr id="316" name="Google Shape;316;p22"/>
          <p:cNvGrpSpPr/>
          <p:nvPr/>
        </p:nvGrpSpPr>
        <p:grpSpPr>
          <a:xfrm>
            <a:off x="6000750" y="1905000"/>
            <a:ext cx="2571900" cy="2476500"/>
            <a:chOff x="0" y="0"/>
            <a:chExt cx="2571900" cy="2476500"/>
          </a:xfrm>
        </p:grpSpPr>
        <p:sp>
          <p:nvSpPr>
            <p:cNvPr id="317" name="Google Shape;317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5D4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同業利潤標準</a:t>
              </a:r>
              <a:endParaRPr sz="150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無營收限制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利潤率 &gt;15%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國稅局直接核定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被動適用</a:t>
              </a:r>
              <a:endParaRPr/>
            </a:p>
          </p:txBody>
        </p:sp>
      </p:grpSp>
      <p:grpSp>
        <p:nvGrpSpPr>
          <p:cNvPr id="320" name="Google Shape;320;p22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321" name="Google Shape;321;p22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22" name="Google Shape;322;p22"/>
            <p:cNvSpPr txBox="1"/>
            <p:nvPr/>
          </p:nvSpPr>
          <p:spPr>
            <a:xfrm>
              <a:off x="0" y="95250"/>
              <a:ext cx="5715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323" name="Google Shape;323;p22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23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29" name="Google Shape;329;p23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332" name="Google Shape;332;p23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33" name="Google Shape;333;p23"/>
          <p:cNvGrpSpPr/>
          <p:nvPr/>
        </p:nvGrpSpPr>
        <p:grpSpPr>
          <a:xfrm>
            <a:off x="571500" y="952500"/>
            <a:ext cx="7620000" cy="1095525"/>
            <a:chOff x="0" y="0"/>
            <a:chExt cx="7620000" cy="1095525"/>
          </a:xfrm>
        </p:grpSpPr>
        <p:sp>
          <p:nvSpPr>
            <p:cNvPr id="334" name="Google Shape;334;p23"/>
            <p:cNvSpPr/>
            <p:nvPr/>
          </p:nvSpPr>
          <p:spPr>
            <a:xfrm>
              <a:off x="0" y="0"/>
              <a:ext cx="1047900" cy="228600"/>
            </a:xfrm>
            <a:prstGeom prst="roundRect">
              <a:avLst>
                <a:gd name="adj" fmla="val 50000"/>
              </a:avLst>
            </a:prstGeom>
            <a:solidFill>
              <a:srgbClr val="C55D4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23"/>
            <p:cNvSpPr txBox="1"/>
            <p:nvPr/>
          </p:nvSpPr>
          <p:spPr>
            <a:xfrm>
              <a:off x="0" y="0"/>
              <a:ext cx="1047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90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TRAP ALERT</a:t>
              </a:r>
              <a:endParaRPr sz="900" b="1">
                <a:solidFill>
                  <a:srgbClr val="FFFFFF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336" name="Google Shape;336;p23"/>
            <p:cNvSpPr txBox="1"/>
            <p:nvPr/>
          </p:nvSpPr>
          <p:spPr>
            <a:xfrm>
              <a:off x="0" y="285750"/>
              <a:ext cx="7620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zh-TW" sz="31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只賺 5 萬也要繳稅？</a:t>
              </a:r>
              <a:endParaRPr sz="31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337" name="Google Shape;337;p23"/>
            <p:cNvSpPr txBox="1"/>
            <p:nvPr/>
          </p:nvSpPr>
          <p:spPr>
            <a:xfrm>
              <a:off x="0" y="809625"/>
              <a:ext cx="762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900"/>
                </a:spcAft>
                <a:buNone/>
              </a:pPr>
              <a:r>
                <a:rPr lang="zh-TW" sz="1350" b="1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原則：≤12 萬免稅 | 12~20 萬減半 | &gt;20 萬 × 20%</a:t>
              </a:r>
              <a:endParaRPr sz="1350" b="1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38" name="Google Shape;338;p23"/>
          <p:cNvGrpSpPr/>
          <p:nvPr/>
        </p:nvGrpSpPr>
        <p:grpSpPr>
          <a:xfrm>
            <a:off x="571500" y="2095500"/>
            <a:ext cx="3810000" cy="1428900"/>
            <a:chOff x="0" y="0"/>
            <a:chExt cx="3810000" cy="1428900"/>
          </a:xfrm>
        </p:grpSpPr>
        <p:sp>
          <p:nvSpPr>
            <p:cNvPr id="339" name="Google Shape;339;p23"/>
            <p:cNvSpPr/>
            <p:nvPr/>
          </p:nvSpPr>
          <p:spPr>
            <a:xfrm>
              <a:off x="0" y="0"/>
              <a:ext cx="3810000" cy="1428900"/>
            </a:xfrm>
            <a:prstGeom prst="roundRect">
              <a:avLst>
                <a:gd name="adj" fmla="val 10666"/>
              </a:avLst>
            </a:prstGeom>
            <a:solidFill>
              <a:srgbClr val="FDF2F0"/>
            </a:solidFill>
            <a:ln w="1905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23"/>
            <p:cNvSpPr txBox="1"/>
            <p:nvPr/>
          </p:nvSpPr>
          <p:spPr>
            <a:xfrm>
              <a:off x="495300" y="152400"/>
              <a:ext cx="3086100" cy="112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常見錯誤</a:t>
              </a:r>
              <a:endParaRPr sz="150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120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11 月設立，實際賺 5 萬。</a:t>
              </a:r>
              <a:endParaRPr sz="120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120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以為「5萬 &lt; 12萬免稅」</a:t>
              </a:r>
              <a:endParaRPr sz="120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600"/>
                </a:spcAft>
                <a:buNone/>
              </a:pPr>
              <a:r>
                <a:rPr lang="zh-TW" sz="13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→ 大錯特錯！</a:t>
              </a:r>
              <a:endParaRPr sz="13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43" name="Google Shape;343;p23"/>
          <p:cNvGrpSpPr/>
          <p:nvPr/>
        </p:nvGrpSpPr>
        <p:grpSpPr>
          <a:xfrm>
            <a:off x="4762500" y="2095500"/>
            <a:ext cx="3810000" cy="1428900"/>
            <a:chOff x="0" y="0"/>
            <a:chExt cx="3810000" cy="1428900"/>
          </a:xfrm>
        </p:grpSpPr>
        <p:sp>
          <p:nvSpPr>
            <p:cNvPr id="344" name="Google Shape;344;p23"/>
            <p:cNvSpPr/>
            <p:nvPr/>
          </p:nvSpPr>
          <p:spPr>
            <a:xfrm>
              <a:off x="0" y="0"/>
              <a:ext cx="3810000" cy="1428900"/>
            </a:xfrm>
            <a:prstGeom prst="roundRect">
              <a:avLst>
                <a:gd name="adj" fmla="val 10666"/>
              </a:avLst>
            </a:prstGeom>
            <a:solidFill>
              <a:srgbClr val="FFFFFF"/>
            </a:solidFill>
            <a:ln w="19050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23"/>
            <p:cNvSpPr txBox="1"/>
            <p:nvPr/>
          </p:nvSpPr>
          <p:spPr>
            <a:xfrm>
              <a:off x="495300" y="152400"/>
              <a:ext cx="3086100" cy="112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正確算法</a:t>
              </a:r>
              <a:endParaRPr sz="150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① 放大：5萬 × 12÷2 = </a:t>
              </a:r>
              <a:r>
                <a:rPr lang="zh-TW" sz="10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30 萬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② 套公式：30萬 × 20% = </a:t>
              </a:r>
              <a:r>
                <a:rPr lang="zh-TW" sz="10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6 萬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75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③ 縮回：6萬 × 2÷12 = </a:t>
              </a:r>
              <a:r>
                <a:rPr lang="zh-TW" sz="18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NT$10,000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48" name="Google Shape;348;p23"/>
          <p:cNvGrpSpPr/>
          <p:nvPr/>
        </p:nvGrpSpPr>
        <p:grpSpPr>
          <a:xfrm>
            <a:off x="1714500" y="3714750"/>
            <a:ext cx="5715000" cy="666900"/>
            <a:chOff x="0" y="0"/>
            <a:chExt cx="5715000" cy="666900"/>
          </a:xfrm>
        </p:grpSpPr>
        <p:sp>
          <p:nvSpPr>
            <p:cNvPr id="349" name="Google Shape;349;p23"/>
            <p:cNvSpPr/>
            <p:nvPr/>
          </p:nvSpPr>
          <p:spPr>
            <a:xfrm>
              <a:off x="0" y="0"/>
              <a:ext cx="5715000" cy="666900"/>
            </a:xfrm>
            <a:prstGeom prst="roundRect">
              <a:avLst>
                <a:gd name="adj" fmla="val 22857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23"/>
            <p:cNvSpPr txBox="1"/>
            <p:nvPr/>
          </p:nvSpPr>
          <p:spPr>
            <a:xfrm>
              <a:off x="0" y="0"/>
              <a:ext cx="57150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口訣：「放大 → 套 → 縮」</a:t>
              </a:r>
              <a:endParaRPr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51" name="Google Shape;351;p23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352" name="Google Shape;352;p23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53" name="Google Shape;353;p23"/>
            <p:cNvSpPr txBox="1"/>
            <p:nvPr/>
          </p:nvSpPr>
          <p:spPr>
            <a:xfrm>
              <a:off x="0" y="95250"/>
              <a:ext cx="476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354" name="Google Shape;354;p23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B"/>
        </a:solidFill>
        <a:effectLst/>
      </p:bgPr>
    </p:bg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4"/>
          <p:cNvSpPr/>
          <p:nvPr/>
        </p:nvSpPr>
        <p:spPr>
          <a:xfrm>
            <a:off x="5905500" y="2095500"/>
            <a:ext cx="5334000" cy="5334000"/>
          </a:xfrm>
          <a:prstGeom prst="ellipse">
            <a:avLst/>
          </a:prstGeom>
          <a:solidFill>
            <a:srgbClr val="7C9878">
              <a:alpha val="8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0" name="Google Shape;360;p24"/>
          <p:cNvSpPr/>
          <p:nvPr/>
        </p:nvSpPr>
        <p:spPr>
          <a:xfrm>
            <a:off x="-1143000" y="3429000"/>
            <a:ext cx="3429000" cy="34290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24"/>
          <p:cNvSpPr/>
          <p:nvPr/>
        </p:nvSpPr>
        <p:spPr>
          <a:xfrm>
            <a:off x="7620000" y="0"/>
            <a:ext cx="1524000" cy="1905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quadBezTo>
                  <a:pt x="75000" y="60000"/>
                  <a:pt x="0" y="120000"/>
                </a:quadBezTo>
                <a:lnTo>
                  <a:pt x="120000" y="120000"/>
                </a:lnTo>
                <a:lnTo>
                  <a:pt x="120000" y="0"/>
                </a:lnTo>
                <a:close/>
              </a:path>
            </a:pathLst>
          </a:custGeom>
          <a:solidFill>
            <a:srgbClr val="5A7557">
              <a:alpha val="3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2" name="Google Shape;362;p24"/>
          <p:cNvGrpSpPr/>
          <p:nvPr/>
        </p:nvGrpSpPr>
        <p:grpSpPr>
          <a:xfrm>
            <a:off x="571500" y="381000"/>
            <a:ext cx="8001000" cy="4572000"/>
            <a:chOff x="571500" y="381000"/>
            <a:chExt cx="8001000" cy="4572000"/>
          </a:xfrm>
        </p:grpSpPr>
        <p:grpSp>
          <p:nvGrpSpPr>
            <p:cNvPr id="363" name="Google Shape;363;p24"/>
            <p:cNvGrpSpPr/>
            <p:nvPr/>
          </p:nvGrpSpPr>
          <p:grpSpPr>
            <a:xfrm>
              <a:off x="571500" y="381000"/>
              <a:ext cx="2400300" cy="381000"/>
              <a:chOff x="0" y="0"/>
              <a:chExt cx="2400300" cy="381000"/>
            </a:xfrm>
          </p:grpSpPr>
          <p:sp>
            <p:nvSpPr>
              <p:cNvPr id="366" name="Google Shape;366;p24"/>
              <p:cNvSpPr txBox="1"/>
              <p:nvPr/>
            </p:nvSpPr>
            <p:spPr>
              <a:xfrm>
                <a:off x="495300" y="57150"/>
                <a:ext cx="19050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20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大葉園藝顧問</a:t>
                </a:r>
                <a:endParaRPr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367" name="Google Shape;367;p24"/>
            <p:cNvGrpSpPr/>
            <p:nvPr/>
          </p:nvGrpSpPr>
          <p:grpSpPr>
            <a:xfrm>
              <a:off x="571500" y="952500"/>
              <a:ext cx="7772400" cy="952500"/>
              <a:chOff x="0" y="0"/>
              <a:chExt cx="7772400" cy="952500"/>
            </a:xfrm>
          </p:grpSpPr>
          <p:sp>
            <p:nvSpPr>
              <p:cNvPr id="369" name="Google Shape;369;p24"/>
              <p:cNvSpPr txBox="1"/>
              <p:nvPr/>
            </p:nvSpPr>
            <p:spPr>
              <a:xfrm>
                <a:off x="152400" y="0"/>
                <a:ext cx="7620000" cy="95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900" b="0">
                    <a:solidFill>
                      <a:srgbClr val="7C9878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PART 3 — 營所稅優惠</a:t>
                </a:r>
                <a:endParaRPr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900"/>
                  </a:spcAft>
                  <a:buNone/>
                </a:pPr>
                <a:r>
                  <a:rPr lang="zh-TW" sz="2700" b="1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恭喜老闆 首年免暫繳 </a:t>
                </a:r>
                <a:endParaRPr sz="27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370" name="Google Shape;370;p24"/>
            <p:cNvGrpSpPr/>
            <p:nvPr/>
          </p:nvGrpSpPr>
          <p:grpSpPr>
            <a:xfrm>
              <a:off x="762000" y="2000250"/>
              <a:ext cx="7810500" cy="2286000"/>
              <a:chOff x="190500" y="0"/>
              <a:chExt cx="7810500" cy="2286000"/>
            </a:xfrm>
          </p:grpSpPr>
          <p:sp>
            <p:nvSpPr>
              <p:cNvPr id="371" name="Google Shape;371;p24"/>
              <p:cNvSpPr txBox="1"/>
              <p:nvPr/>
            </p:nvSpPr>
            <p:spPr>
              <a:xfrm>
                <a:off x="190500" y="381000"/>
                <a:ext cx="2667000" cy="19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480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$0</a:t>
                </a:r>
                <a:endParaRPr sz="48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zh-TW" sz="210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暫繳額度</a:t>
                </a:r>
                <a:endParaRPr sz="21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zh-TW" sz="1050" b="0">
                    <a:solidFill>
                      <a:srgbClr val="7C9878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設立首年專屬優惠</a:t>
                </a:r>
                <a:endParaRPr sz="10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grpSp>
            <p:nvGrpSpPr>
              <p:cNvPr id="372" name="Google Shape;372;p24"/>
              <p:cNvGrpSpPr/>
              <p:nvPr/>
            </p:nvGrpSpPr>
            <p:grpSpPr>
              <a:xfrm>
                <a:off x="3238500" y="0"/>
                <a:ext cx="4762500" cy="2286000"/>
                <a:chOff x="0" y="0"/>
                <a:chExt cx="4762500" cy="2286000"/>
              </a:xfrm>
            </p:grpSpPr>
            <p:sp>
              <p:nvSpPr>
                <p:cNvPr id="373" name="Google Shape;373;p24"/>
                <p:cNvSpPr/>
                <p:nvPr/>
              </p:nvSpPr>
              <p:spPr>
                <a:xfrm>
                  <a:off x="0" y="0"/>
                  <a:ext cx="4762500" cy="2286000"/>
                </a:xfrm>
                <a:prstGeom prst="roundRect">
                  <a:avLst>
                    <a:gd name="adj" fmla="val 8333"/>
                  </a:avLst>
                </a:prstGeom>
                <a:solidFill>
                  <a:srgbClr val="FFFFFF"/>
                </a:solidFill>
                <a:ln w="9525" cap="flat" cmpd="sng">
                  <a:solidFill>
                    <a:srgbClr val="E8E5DA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4" name="Google Shape;374;p24"/>
                <p:cNvSpPr txBox="1"/>
                <p:nvPr/>
              </p:nvSpPr>
              <p:spPr>
                <a:xfrm>
                  <a:off x="304800" y="304800"/>
                  <a:ext cx="4152900" cy="1676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zh-TW" sz="1650" b="1">
                      <a:solidFill>
                        <a:srgbClr val="5A7557"/>
                      </a:solidFill>
                      <a:latin typeface="Noto Sans TC"/>
                      <a:ea typeface="Noto Sans TC"/>
                      <a:cs typeface="Noto Sans TC"/>
                      <a:sym typeface="Noto Sans TC"/>
                    </a:rPr>
                    <a:t>營所稅暫繳說明</a:t>
                  </a:r>
                  <a:endParaRPr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endParaRPr>
                </a:p>
                <a:p>
                  <a:pPr marL="0" lvl="0" indent="0" algn="l" rtl="0">
                    <a:spcBef>
                      <a:spcPts val="1500"/>
                    </a:spcBef>
                    <a:spcAft>
                      <a:spcPts val="0"/>
                    </a:spcAft>
                    <a:buNone/>
                  </a:pPr>
                  <a:r>
                    <a:rPr lang="zh-TW" sz="1200" b="0">
                      <a:solidFill>
                        <a:srgbClr val="2D4333"/>
                      </a:solidFill>
                      <a:latin typeface="Noto Sans TC"/>
                      <a:ea typeface="Noto Sans TC"/>
                      <a:cs typeface="Noto Sans TC"/>
                      <a:sym typeface="Noto Sans TC"/>
                    </a:rPr>
                    <a:t>每年 9 月需預繳上年度稅額的一半，但設立第一年免辦理暫繳，保留充足營運現金流。</a:t>
                  </a:r>
                  <a:endParaRPr sz="120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endParaRPr>
                </a:p>
                <a:p>
                  <a:pPr marL="0" lvl="0" indent="0" algn="l" rtl="0">
                    <a:spcBef>
                      <a:spcPts val="1800"/>
                    </a:spcBef>
                    <a:spcAft>
                      <a:spcPts val="0"/>
                    </a:spcAft>
                    <a:buNone/>
                  </a:pPr>
                  <a:r>
                    <a:rPr lang="zh-TW" sz="1050" b="1">
                      <a:solidFill>
                        <a:srgbClr val="C55D4D"/>
                      </a:solidFill>
                      <a:latin typeface="Noto Sans TC"/>
                      <a:ea typeface="Noto Sans TC"/>
                      <a:cs typeface="Noto Sans TC"/>
                      <a:sym typeface="Noto Sans TC"/>
                    </a:rPr>
                    <a:t>溫馨提醒：第二年 9 月起就要提前準備。</a:t>
                  </a:r>
                  <a:endParaRPr sz="1050" b="1">
                    <a:solidFill>
                      <a:srgbClr val="C55D4D"/>
                    </a:solidFill>
                    <a:latin typeface="Noto Sans TC"/>
                    <a:ea typeface="Noto Sans TC"/>
                    <a:cs typeface="Noto Sans TC"/>
                    <a:sym typeface="Noto Sans TC"/>
                  </a:endParaRPr>
                </a:p>
              </p:txBody>
            </p:sp>
          </p:grpSp>
        </p:grpSp>
        <p:grpSp>
          <p:nvGrpSpPr>
            <p:cNvPr id="375" name="Google Shape;375;p24"/>
            <p:cNvGrpSpPr/>
            <p:nvPr/>
          </p:nvGrpSpPr>
          <p:grpSpPr>
            <a:xfrm>
              <a:off x="571500" y="4667250"/>
              <a:ext cx="8001000" cy="285750"/>
              <a:chOff x="0" y="0"/>
              <a:chExt cx="8001000" cy="285750"/>
            </a:xfrm>
          </p:grpSpPr>
          <p:cxnSp>
            <p:nvCxnSpPr>
              <p:cNvPr id="376" name="Google Shape;376;p24"/>
              <p:cNvCxnSpPr/>
              <p:nvPr/>
            </p:nvCxnSpPr>
            <p:spPr>
              <a:xfrm>
                <a:off x="0" y="0"/>
                <a:ext cx="8001000" cy="0"/>
              </a:xfrm>
              <a:prstGeom prst="straightConnector1">
                <a:avLst/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377" name="Google Shape;377;p24"/>
              <p:cNvSpPr txBox="1"/>
              <p:nvPr/>
            </p:nvSpPr>
            <p:spPr>
              <a:xfrm>
                <a:off x="0" y="95250"/>
                <a:ext cx="38100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750" b="0">
                    <a:solidFill>
                      <a:srgbClr val="7C9878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大葉園藝有限公司 ✕ 稅務顧問團隊 | 企業轉型與稅務規劃指南</a:t>
                </a:r>
                <a:endParaRPr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378" name="Google Shape;378;p24"/>
              <p:cNvSpPr txBox="1"/>
              <p:nvPr/>
            </p:nvSpPr>
            <p:spPr>
              <a:xfrm>
                <a:off x="7048500" y="95250"/>
                <a:ext cx="9525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750" b="0">
                    <a:solidFill>
                      <a:srgbClr val="7C9878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2026.08</a:t>
                </a:r>
                <a:endParaRPr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9" grpId="0" animBg="1"/>
      <p:bldP spid="36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5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4" name="Google Shape;384;p25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387" name="Google Shape;387;p25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88" name="Google Shape;388;p25"/>
          <p:cNvGrpSpPr/>
          <p:nvPr/>
        </p:nvGrpSpPr>
        <p:grpSpPr>
          <a:xfrm>
            <a:off x="571500" y="952500"/>
            <a:ext cx="6819900" cy="952500"/>
            <a:chOff x="0" y="0"/>
            <a:chExt cx="6819900" cy="952500"/>
          </a:xfrm>
        </p:grpSpPr>
        <p:sp>
          <p:nvSpPr>
            <p:cNvPr id="390" name="Google Shape;390;p25"/>
            <p:cNvSpPr txBox="1"/>
            <p:nvPr/>
          </p:nvSpPr>
          <p:spPr>
            <a:xfrm>
              <a:off x="152400" y="0"/>
              <a:ext cx="6667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公司的錢 ≠ 老闆的錢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4 — 盈餘分配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91" name="Google Shape;391;p25"/>
          <p:cNvGrpSpPr/>
          <p:nvPr/>
        </p:nvGrpSpPr>
        <p:grpSpPr>
          <a:xfrm>
            <a:off x="571500" y="2095500"/>
            <a:ext cx="3619500" cy="2095500"/>
            <a:chOff x="0" y="0"/>
            <a:chExt cx="3619500" cy="2095500"/>
          </a:xfrm>
        </p:grpSpPr>
        <p:sp>
          <p:nvSpPr>
            <p:cNvPr id="392" name="Google Shape;392;p25"/>
            <p:cNvSpPr/>
            <p:nvPr/>
          </p:nvSpPr>
          <p:spPr>
            <a:xfrm>
              <a:off x="0" y="0"/>
              <a:ext cx="3619500" cy="2095500"/>
            </a:xfrm>
            <a:prstGeom prst="roundRect">
              <a:avLst>
                <a:gd name="adj" fmla="val 7272"/>
              </a:avLst>
            </a:prstGeom>
            <a:solidFill>
              <a:srgbClr val="FFFFFF"/>
            </a:solidFill>
            <a:ln w="19050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25"/>
            <p:cNvSpPr txBox="1"/>
            <p:nvPr/>
          </p:nvSpPr>
          <p:spPr>
            <a:xfrm>
              <a:off x="571500" y="228600"/>
              <a:ext cx="2857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3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合法拿錢</a:t>
              </a:r>
              <a:endParaRPr sz="13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9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發薪水給自己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年底盈餘分配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75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合法報銷車馬費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97" name="Google Shape;397;p25"/>
          <p:cNvGrpSpPr/>
          <p:nvPr/>
        </p:nvGrpSpPr>
        <p:grpSpPr>
          <a:xfrm>
            <a:off x="4333875" y="2905125"/>
            <a:ext cx="476400" cy="476400"/>
            <a:chOff x="0" y="0"/>
            <a:chExt cx="476400" cy="476400"/>
          </a:xfrm>
        </p:grpSpPr>
        <p:sp>
          <p:nvSpPr>
            <p:cNvPr id="398" name="Google Shape;398;p25"/>
            <p:cNvSpPr/>
            <p:nvPr/>
          </p:nvSpPr>
          <p:spPr>
            <a:xfrm>
              <a:off x="0" y="0"/>
              <a:ext cx="476400" cy="476400"/>
            </a:xfrm>
            <a:prstGeom prst="ellipse">
              <a:avLst/>
            </a:prstGeom>
            <a:solidFill>
              <a:srgbClr val="FAF9F6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25"/>
            <p:cNvSpPr txBox="1"/>
            <p:nvPr/>
          </p:nvSpPr>
          <p:spPr>
            <a:xfrm>
              <a:off x="0" y="95250"/>
              <a:ext cx="476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VS</a:t>
              </a:r>
              <a:endParaRPr sz="120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00" name="Google Shape;400;p25"/>
          <p:cNvGrpSpPr/>
          <p:nvPr/>
        </p:nvGrpSpPr>
        <p:grpSpPr>
          <a:xfrm>
            <a:off x="4953000" y="2095500"/>
            <a:ext cx="3619500" cy="2095500"/>
            <a:chOff x="0" y="0"/>
            <a:chExt cx="3619500" cy="2095500"/>
          </a:xfrm>
        </p:grpSpPr>
        <p:sp>
          <p:nvSpPr>
            <p:cNvPr id="401" name="Google Shape;401;p25"/>
            <p:cNvSpPr/>
            <p:nvPr/>
          </p:nvSpPr>
          <p:spPr>
            <a:xfrm>
              <a:off x="0" y="0"/>
              <a:ext cx="3619500" cy="2095500"/>
            </a:xfrm>
            <a:prstGeom prst="roundRect">
              <a:avLst>
                <a:gd name="adj" fmla="val 7272"/>
              </a:avLst>
            </a:prstGeom>
            <a:solidFill>
              <a:srgbClr val="FDF2F0"/>
            </a:solidFill>
            <a:ln w="1905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25"/>
            <p:cNvSpPr txBox="1"/>
            <p:nvPr/>
          </p:nvSpPr>
          <p:spPr>
            <a:xfrm>
              <a:off x="571500" y="228600"/>
              <a:ext cx="2857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3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違法拿錢</a:t>
              </a:r>
              <a:endParaRPr sz="13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9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私領現金轉入「股東往來」</a:t>
              </a:r>
              <a:endParaRPr sz="1050" b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面臨「設算利息收入」</a:t>
              </a:r>
              <a:endParaRPr sz="1050" b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60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甚至「業務侵占罪責」</a:t>
              </a:r>
              <a:endParaRPr sz="1050" b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06" name="Google Shape;406;p25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407" name="Google Shape;407;p25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408" name="Google Shape;408;p25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409" name="Google Shape;409;p25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26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26"/>
          <p:cNvSpPr/>
          <p:nvPr/>
        </p:nvSpPr>
        <p:spPr>
          <a:xfrm>
            <a:off x="-2667000" y="-2667000"/>
            <a:ext cx="5334000" cy="5334000"/>
          </a:xfrm>
          <a:prstGeom prst="ellipse">
            <a:avLst/>
          </a:prstGeom>
          <a:solidFill>
            <a:srgbClr val="7C9878">
              <a:alpha val="3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6" name="Google Shape;416;p26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419" name="Google Shape;419;p26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20" name="Google Shape;420;p26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422" name="Google Shape;422;p26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不分配就加徵 5%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4 — 未分配盈餘稅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423" name="Google Shape;423;p26"/>
          <p:cNvSpPr txBox="1"/>
          <p:nvPr/>
        </p:nvSpPr>
        <p:spPr>
          <a:xfrm>
            <a:off x="571500" y="2000250"/>
            <a:ext cx="3810000" cy="19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分配順序：補、提、分</a:t>
            </a:r>
            <a:endParaRPr sz="1650" b="1">
              <a:solidFill>
                <a:srgbClr val="5A7557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zh-TW"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① 彌補以往虧損</a:t>
            </a:r>
            <a:endParaRPr>
              <a:solidFill>
                <a:srgbClr val="5A7557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② 提列 10% 法定盈餘公積</a:t>
            </a:r>
            <a:endParaRPr>
              <a:solidFill>
                <a:srgbClr val="5A7557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③ 分派股息紅利</a:t>
            </a:r>
            <a:endParaRPr>
              <a:solidFill>
                <a:srgbClr val="5A7557"/>
              </a:solidFill>
            </a:endParaRPr>
          </a:p>
        </p:txBody>
      </p:sp>
      <p:grpSp>
        <p:nvGrpSpPr>
          <p:cNvPr id="424" name="Google Shape;424;p26"/>
          <p:cNvGrpSpPr/>
          <p:nvPr/>
        </p:nvGrpSpPr>
        <p:grpSpPr>
          <a:xfrm>
            <a:off x="4572000" y="1809750"/>
            <a:ext cx="4000500" cy="1905000"/>
            <a:chOff x="0" y="0"/>
            <a:chExt cx="4000500" cy="1905000"/>
          </a:xfrm>
        </p:grpSpPr>
        <p:sp>
          <p:nvSpPr>
            <p:cNvPr id="425" name="Google Shape;425;p26"/>
            <p:cNvSpPr/>
            <p:nvPr/>
          </p:nvSpPr>
          <p:spPr>
            <a:xfrm>
              <a:off x="0" y="0"/>
              <a:ext cx="4000500" cy="1905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4300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26"/>
            <p:cNvSpPr txBox="1"/>
            <p:nvPr/>
          </p:nvSpPr>
          <p:spPr>
            <a:xfrm>
              <a:off x="228600" y="228600"/>
              <a:ext cx="3543300" cy="144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節稅解法：實質投資</a:t>
              </a:r>
              <a:endParaRPr sz="15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125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依產創條例 §23-3，購置設備、溫室擴建、買工程貨車，</a:t>
              </a:r>
              <a:r>
                <a:rPr lang="zh-TW" sz="1125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免徵 5% 稅額！</a:t>
              </a:r>
              <a:endParaRPr sz="1125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27" name="Google Shape;427;p26"/>
          <p:cNvGrpSpPr/>
          <p:nvPr/>
        </p:nvGrpSpPr>
        <p:grpSpPr>
          <a:xfrm>
            <a:off x="571500" y="3905250"/>
            <a:ext cx="8001000" cy="571500"/>
            <a:chOff x="0" y="0"/>
            <a:chExt cx="8001000" cy="571500"/>
          </a:xfrm>
        </p:grpSpPr>
        <p:sp>
          <p:nvSpPr>
            <p:cNvPr id="428" name="Google Shape;428;p26"/>
            <p:cNvSpPr/>
            <p:nvPr/>
          </p:nvSpPr>
          <p:spPr>
            <a:xfrm>
              <a:off x="0" y="0"/>
              <a:ext cx="8001000" cy="571500"/>
            </a:xfrm>
            <a:prstGeom prst="roundRect">
              <a:avLst>
                <a:gd name="adj" fmla="val 20000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26"/>
            <p:cNvSpPr txBox="1"/>
            <p:nvPr/>
          </p:nvSpPr>
          <p:spPr>
            <a:xfrm>
              <a:off x="285750" y="0"/>
              <a:ext cx="7429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3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「老闆，有擴建計畫，這筆稅就能省下來！」</a:t>
              </a:r>
              <a:endParaRPr sz="135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30" name="Google Shape;430;p26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431" name="Google Shape;431;p26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432" name="Google Shape;432;p26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433" name="Google Shape;433;p26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4" grpId="0" animBg="1"/>
      <p:bldP spid="42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2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9F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p27"/>
          <p:cNvSpPr/>
          <p:nvPr/>
        </p:nvSpPr>
        <p:spPr>
          <a:xfrm>
            <a:off x="4953000" y="1143000"/>
            <a:ext cx="5334000" cy="5334000"/>
          </a:xfrm>
          <a:prstGeom prst="ellipse">
            <a:avLst/>
          </a:prstGeom>
          <a:solidFill>
            <a:srgbClr val="7C9878">
              <a:alpha val="8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27"/>
          <p:cNvSpPr/>
          <p:nvPr/>
        </p:nvSpPr>
        <p:spPr>
          <a:xfrm>
            <a:off x="-476250" y="-1428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41" name="Google Shape;441;p27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444" name="Google Shape;444;p27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45" name="Google Shape;445;p27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447" name="Google Shape;447;p27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第一年稅務行事曆（以 2 月設立為例）</a:t>
              </a:r>
              <a:endParaRPr sz="210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90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TIMELINE</a:t>
              </a:r>
              <a:endParaRPr sz="90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48" name="Google Shape;448;p27"/>
          <p:cNvGrpSpPr/>
          <p:nvPr/>
        </p:nvGrpSpPr>
        <p:grpSpPr>
          <a:xfrm>
            <a:off x="-95250" y="1714500"/>
            <a:ext cx="9382275" cy="2333775"/>
            <a:chOff x="-666750" y="-1143000"/>
            <a:chExt cx="9382275" cy="2333775"/>
          </a:xfrm>
        </p:grpSpPr>
        <p:cxnSp>
          <p:nvCxnSpPr>
            <p:cNvPr id="449" name="Google Shape;449;p27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19050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grpSp>
          <p:nvGrpSpPr>
            <p:cNvPr id="450" name="Google Shape;450;p27"/>
            <p:cNvGrpSpPr/>
            <p:nvPr/>
          </p:nvGrpSpPr>
          <p:grpSpPr>
            <a:xfrm>
              <a:off x="-666750" y="-1143000"/>
              <a:ext cx="1333500" cy="1238250"/>
              <a:chOff x="-666750" y="-1143000"/>
              <a:chExt cx="1333500" cy="1238250"/>
            </a:xfrm>
          </p:grpSpPr>
          <p:pic>
            <p:nvPicPr>
              <p:cNvPr id="453" name="Google Shape;453;p27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-9525" y="-438150"/>
                <a:ext cx="19200" cy="3429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54" name="Google Shape;454;p27"/>
              <p:cNvSpPr txBox="1"/>
              <p:nvPr/>
            </p:nvSpPr>
            <p:spPr>
              <a:xfrm>
                <a:off x="-666750" y="-1143000"/>
                <a:ext cx="13335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2月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ctr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設立、稅籍+CTP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455" name="Google Shape;455;p27"/>
            <p:cNvGrpSpPr/>
            <p:nvPr/>
          </p:nvGrpSpPr>
          <p:grpSpPr>
            <a:xfrm>
              <a:off x="933450" y="-95250"/>
              <a:ext cx="1333500" cy="1286025"/>
              <a:chOff x="-666750" y="-95250"/>
              <a:chExt cx="1333500" cy="1286025"/>
            </a:xfrm>
          </p:grpSpPr>
          <p:pic>
            <p:nvPicPr>
              <p:cNvPr id="458" name="Google Shape;458;p27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-9525" y="95250"/>
                <a:ext cx="19200" cy="3429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59" name="Google Shape;459;p27"/>
              <p:cNvSpPr txBox="1"/>
              <p:nvPr/>
            </p:nvSpPr>
            <p:spPr>
              <a:xfrm>
                <a:off x="-666750" y="523875"/>
                <a:ext cx="13335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3月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ctr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首次營業稅(403)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460" name="Google Shape;460;p27"/>
            <p:cNvGrpSpPr/>
            <p:nvPr/>
          </p:nvGrpSpPr>
          <p:grpSpPr>
            <a:xfrm>
              <a:off x="2533650" y="-1143000"/>
              <a:ext cx="1333500" cy="1238250"/>
              <a:chOff x="-666750" y="-1143000"/>
              <a:chExt cx="1333500" cy="1238250"/>
            </a:xfrm>
          </p:grpSpPr>
          <p:pic>
            <p:nvPicPr>
              <p:cNvPr id="463" name="Google Shape;463;p27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-9525" y="-438150"/>
                <a:ext cx="19200" cy="3429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64" name="Google Shape;464;p27"/>
              <p:cNvSpPr txBox="1"/>
              <p:nvPr/>
            </p:nvSpPr>
            <p:spPr>
              <a:xfrm>
                <a:off x="-666750" y="-1143000"/>
                <a:ext cx="13335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5-11月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ctr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zh-TW" sz="1050" b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雙月報營業稅</a:t>
                </a:r>
                <a:endParaRPr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465" name="Google Shape;465;p27"/>
            <p:cNvGrpSpPr/>
            <p:nvPr/>
          </p:nvGrpSpPr>
          <p:grpSpPr>
            <a:xfrm>
              <a:off x="4133850" y="-95250"/>
              <a:ext cx="1333500" cy="1286025"/>
              <a:chOff x="-666750" y="-95250"/>
              <a:chExt cx="1333500" cy="1286025"/>
            </a:xfrm>
          </p:grpSpPr>
          <p:pic>
            <p:nvPicPr>
              <p:cNvPr id="468" name="Google Shape;468;p27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-9525" y="95250"/>
                <a:ext cx="19200" cy="3429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69" name="Google Shape;469;p27"/>
              <p:cNvSpPr txBox="1"/>
              <p:nvPr/>
            </p:nvSpPr>
            <p:spPr>
              <a:xfrm>
                <a:off x="-666750" y="523875"/>
                <a:ext cx="13335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9月</a:t>
                </a:r>
                <a:endParaRPr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ctr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首年免暫繳</a:t>
                </a:r>
                <a:endParaRPr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470" name="Google Shape;470;p27"/>
            <p:cNvGrpSpPr/>
            <p:nvPr/>
          </p:nvGrpSpPr>
          <p:grpSpPr>
            <a:xfrm>
              <a:off x="5734050" y="-1143000"/>
              <a:ext cx="1333500" cy="1238250"/>
              <a:chOff x="-666750" y="-1143000"/>
              <a:chExt cx="1333500" cy="1238250"/>
            </a:xfrm>
          </p:grpSpPr>
          <p:pic>
            <p:nvPicPr>
              <p:cNvPr id="473" name="Google Shape;473;p27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-9525" y="-438150"/>
                <a:ext cx="19200" cy="3429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74" name="Google Shape;474;p27"/>
              <p:cNvSpPr txBox="1"/>
              <p:nvPr/>
            </p:nvSpPr>
            <p:spPr>
              <a:xfrm>
                <a:off x="-666750" y="-1143000"/>
                <a:ext cx="13335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 dirty="0">
                    <a:solidFill>
                      <a:srgbClr val="C55D4D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隔年 1月</a:t>
                </a:r>
                <a:endParaRPr sz="165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lvl="0" algn="ctr">
                  <a:spcBef>
                    <a:spcPts val="300"/>
                  </a:spcBef>
                </a:pPr>
                <a:r>
                  <a:rPr lang="zh-TW" sz="1050" b="1" dirty="0" smtClean="0">
                    <a:solidFill>
                      <a:srgbClr val="C55D4D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 </a:t>
                </a:r>
                <a:r>
                  <a:rPr lang="zh-TW" sz="1050" b="1" dirty="0">
                    <a:solidFill>
                      <a:srgbClr val="C55D4D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年底進項調整</a:t>
                </a:r>
                <a:endParaRPr sz="105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475" name="Google Shape;475;p27"/>
            <p:cNvGrpSpPr/>
            <p:nvPr/>
          </p:nvGrpSpPr>
          <p:grpSpPr>
            <a:xfrm>
              <a:off x="7286625" y="-95250"/>
              <a:ext cx="1428900" cy="1286025"/>
              <a:chOff x="-714375" y="-95250"/>
              <a:chExt cx="1428900" cy="1286025"/>
            </a:xfrm>
          </p:grpSpPr>
          <p:pic>
            <p:nvPicPr>
              <p:cNvPr id="478" name="Google Shape;478;p27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-9525" y="95250"/>
                <a:ext cx="19200" cy="3429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79" name="Google Shape;479;p27"/>
              <p:cNvSpPr txBox="1"/>
              <p:nvPr/>
            </p:nvSpPr>
            <p:spPr>
              <a:xfrm>
                <a:off x="-714375" y="523875"/>
                <a:ext cx="14289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 dirty="0">
                    <a:solidFill>
                      <a:srgbClr val="C55D4D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隔年 5月</a:t>
                </a:r>
                <a:endParaRPr sz="165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ctr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zh-TW" sz="1050" b="1" dirty="0">
                    <a:solidFill>
                      <a:srgbClr val="C55D4D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首次營所稅</a:t>
                </a:r>
                <a:endParaRPr sz="105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480" name="Google Shape;480;p27"/>
          <p:cNvGrpSpPr/>
          <p:nvPr/>
        </p:nvGrpSpPr>
        <p:grpSpPr>
          <a:xfrm>
            <a:off x="1714500" y="4000500"/>
            <a:ext cx="5715000" cy="476400"/>
            <a:chOff x="0" y="0"/>
            <a:chExt cx="5715000" cy="476400"/>
          </a:xfrm>
        </p:grpSpPr>
        <p:sp>
          <p:nvSpPr>
            <p:cNvPr id="481" name="Google Shape;481;p27"/>
            <p:cNvSpPr/>
            <p:nvPr/>
          </p:nvSpPr>
          <p:spPr>
            <a:xfrm>
              <a:off x="0" y="0"/>
              <a:ext cx="5715000" cy="476400"/>
            </a:xfrm>
            <a:prstGeom prst="roundRect">
              <a:avLst>
                <a:gd name="adj" fmla="val 24000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27"/>
            <p:cNvSpPr txBox="1"/>
            <p:nvPr/>
          </p:nvSpPr>
          <p:spPr>
            <a:xfrm>
              <a:off x="0" y="0"/>
              <a:ext cx="5715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全程由顧問團隊專業把關，關鍵節點提前提醒 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83" name="Google Shape;483;p27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484" name="Google Shape;484;p27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485" name="Google Shape;485;p27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486" name="Google Shape;486;p27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28"/>
          <p:cNvSpPr/>
          <p:nvPr/>
        </p:nvSpPr>
        <p:spPr>
          <a:xfrm>
            <a:off x="5524500" y="1714500"/>
            <a:ext cx="5334000" cy="5334000"/>
          </a:xfrm>
          <a:prstGeom prst="ellipse">
            <a:avLst/>
          </a:prstGeom>
          <a:solidFill>
            <a:srgbClr val="7C9878">
              <a:alpha val="8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28"/>
          <p:cNvSpPr/>
          <p:nvPr/>
        </p:nvSpPr>
        <p:spPr>
          <a:xfrm>
            <a:off x="0" y="-16192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3" name="Google Shape;493;p2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496" name="Google Shape;496;p28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97" name="Google Shape;497;p28"/>
          <p:cNvGrpSpPr/>
          <p:nvPr/>
        </p:nvGrpSpPr>
        <p:grpSpPr>
          <a:xfrm>
            <a:off x="571500" y="1333500"/>
            <a:ext cx="952500" cy="266700"/>
            <a:chOff x="0" y="0"/>
            <a:chExt cx="952500" cy="266700"/>
          </a:xfrm>
        </p:grpSpPr>
        <p:sp>
          <p:nvSpPr>
            <p:cNvPr id="498" name="Google Shape;498;p28"/>
            <p:cNvSpPr/>
            <p:nvPr/>
          </p:nvSpPr>
          <p:spPr>
            <a:xfrm>
              <a:off x="0" y="0"/>
              <a:ext cx="952500" cy="266700"/>
            </a:xfrm>
            <a:prstGeom prst="roundRect">
              <a:avLst>
                <a:gd name="adj" fmla="val 50000"/>
              </a:avLst>
            </a:prstGeom>
            <a:solidFill>
              <a:srgbClr val="000000">
                <a:alpha val="0"/>
              </a:srgbClr>
            </a:solidFill>
            <a:ln w="9525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8"/>
            <p:cNvSpPr txBox="1"/>
            <p:nvPr/>
          </p:nvSpPr>
          <p:spPr>
            <a:xfrm>
              <a:off x="0" y="0"/>
              <a:ext cx="9525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9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THANK YOU</a:t>
              </a:r>
              <a:endParaRPr sz="90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00" name="Google Shape;500;p28"/>
          <p:cNvSpPr txBox="1"/>
          <p:nvPr/>
        </p:nvSpPr>
        <p:spPr>
          <a:xfrm>
            <a:off x="571500" y="1809750"/>
            <a:ext cx="80010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zh-TW" sz="36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讓您專心種樹 稅的事交給我們</a:t>
            </a:r>
            <a:endParaRPr sz="3600" b="1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sp>
        <p:nvSpPr>
          <p:cNvPr id="501" name="Google Shape;501;p28"/>
          <p:cNvSpPr txBox="1"/>
          <p:nvPr/>
        </p:nvSpPr>
        <p:spPr>
          <a:xfrm>
            <a:off x="571500" y="2762250"/>
            <a:ext cx="8001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900"/>
              </a:spcAft>
              <a:buNone/>
            </a:pPr>
            <a:r>
              <a:rPr lang="zh-TW" sz="1800" b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設立 → 營業 → 報稅 → 盈餘。一條龍專業服務，全年稅務無死角。</a:t>
            </a:r>
            <a:endParaRPr sz="1800" b="0">
              <a:solidFill>
                <a:srgbClr val="5A7557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sp>
        <p:nvSpPr>
          <p:cNvPr id="502" name="Google Shape;502;p28"/>
          <p:cNvSpPr txBox="1"/>
          <p:nvPr/>
        </p:nvSpPr>
        <p:spPr>
          <a:xfrm>
            <a:off x="571500" y="3429000"/>
            <a:ext cx="8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750"/>
              </a:spcAft>
              <a:buNone/>
            </a:pPr>
            <a:r>
              <a:rPr lang="zh-TW" sz="135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rPr>
              <a:t>大葉園藝有限公司 ✕ 稅務顧問團隊</a:t>
            </a:r>
            <a:endParaRPr sz="1350" b="1">
              <a:solidFill>
                <a:srgbClr val="2D4333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grpSp>
        <p:nvGrpSpPr>
          <p:cNvPr id="503" name="Google Shape;503;p2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04" name="Google Shape;504;p2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05" name="Google Shape;505;p28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06" name="Google Shape;506;p28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1326</Words>
  <Application>Microsoft Office PowerPoint</Application>
  <PresentationFormat>如螢幕大小 (16:9)</PresentationFormat>
  <Paragraphs>212</Paragraphs>
  <Slides>15</Slides>
  <Notes>15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18" baseType="lpstr">
      <vt:lpstr>Arial</vt:lpstr>
      <vt:lpstr>Noto Sans TC</vt:lpstr>
      <vt:lpstr>Simple Light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cp:lastModifiedBy>User</cp:lastModifiedBy>
  <cp:revision>2</cp:revision>
  <dcterms:modified xsi:type="dcterms:W3CDTF">2026-08-25T08:17:53Z</dcterms:modified>
</cp:coreProperties>
</file>