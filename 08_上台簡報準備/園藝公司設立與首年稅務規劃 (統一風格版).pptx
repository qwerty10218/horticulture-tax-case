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Noto Sans TC" panose="02020500000000000000" charset="-120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0" y="4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579f0009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8579f0009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8579f0009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8579f0009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8579f0009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8579f0009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579f000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8579f0009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8579f0009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8579f0009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579f000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8579f000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從公司設立到首年稅務規劃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0" y="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0" y="0"/>
                      <a:pt x="60000" y="0"/>
                      <a:pt x="60000" y="0"/>
                    </a:cubicBezTo>
                    <a:cubicBezTo>
                      <a:pt x="120000" y="0"/>
                      <a:pt x="120000" y="60000"/>
                      <a:pt x="120000" y="60000"/>
                    </a:cubicBezTo>
                    <a:cubicBezTo>
                      <a:pt x="120000" y="120000"/>
                      <a:pt x="60000" y="120000"/>
                      <a:pt x="60000" y="120000"/>
                    </a:cubicBezTo>
                    <a:cubicBezTo>
                      <a:pt x="0" y="12000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5A7557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114300" y="762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0" y="0"/>
                      <a:pt x="60000" y="0"/>
                      <a:pt x="60000" y="0"/>
                    </a:cubicBezTo>
                    <a:cubicBezTo>
                      <a:pt x="120000" y="0"/>
                      <a:pt x="120000" y="60000"/>
                      <a:pt x="120000" y="60000"/>
                    </a:cubicBezTo>
                    <a:cubicBezTo>
                      <a:pt x="120000" y="120000"/>
                      <a:pt x="60000" y="120000"/>
                      <a:pt x="60000" y="120000"/>
                    </a:cubicBezTo>
                    <a:cubicBezTo>
                      <a:pt x="0" y="12000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7C9878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0" y="762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■ 公司設立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 步驟完成開業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■ 營業稅申報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401 / 403 搞懂它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■ 營所稅結算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書審省稅策略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■ 盈餘分配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合法把錢拿出來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陳老闆的園藝夢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228600" y="228600"/>
              <a:ext cx="38100" cy="2097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正式設立有限公司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228600" y="228600"/>
              <a:ext cx="38100" cy="209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痛點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不知道設立流程要多久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搞不清楚賣花是否要繳稅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聽說年底有很多稅要報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公司賺的錢怎麼合法拿出來？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►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sz="21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 步驟完成公司設立</a:t>
              </a:r>
              <a:endParaRPr sz="21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2" name="Google Shape;142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45" name="Google Shape;145;p17"/>
            <p:cNvSpPr/>
            <p:nvPr/>
          </p:nvSpPr>
          <p:spPr>
            <a:xfrm>
              <a:off x="714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50" name="Google Shape;150;p17"/>
            <p:cNvSpPr/>
            <p:nvPr/>
          </p:nvSpPr>
          <p:spPr>
            <a:xfrm>
              <a:off x="1857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55" name="Google Shape;155;p17"/>
            <p:cNvSpPr/>
            <p:nvPr/>
          </p:nvSpPr>
          <p:spPr>
            <a:xfrm>
              <a:off x="3000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7" name="Google Shape;157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60" name="Google Shape;160;p17"/>
            <p:cNvSpPr/>
            <p:nvPr/>
          </p:nvSpPr>
          <p:spPr>
            <a:xfrm>
              <a:off x="4143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65" name="Google Shape;165;p17"/>
            <p:cNvSpPr/>
            <p:nvPr/>
          </p:nvSpPr>
          <p:spPr>
            <a:xfrm>
              <a:off x="5286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sp>
          <p:nvSpPr>
            <p:cNvPr id="170" name="Google Shape;170;p17"/>
            <p:cNvSpPr/>
            <p:nvPr/>
          </p:nvSpPr>
          <p:spPr>
            <a:xfrm>
              <a:off x="6429375" y="571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lnTo>
                    <a:pt x="30000" y="60000"/>
                  </a:lnTo>
                  <a:close/>
                </a:path>
              </a:pathLst>
            </a:custGeom>
            <a:solidFill>
              <a:srgbClr val="E8E5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FFFFFF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建議資本額：100 萬 / 費用估算：NT$6,000~12,000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► 關鍵期限：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89" name="Google Shape;189;p18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228600" y="228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0000" y="0"/>
                  </a:lnTo>
                  <a:lnTo>
                    <a:pt x="120000" y="6000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D87A68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228600" y="228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0000" y="0"/>
                  </a:lnTo>
                  <a:lnTo>
                    <a:pt x="120000" y="6000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D87A68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漏報 CTP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收入分類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247650" y="257175"/>
              <a:ext cx="114300" cy="85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6667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■ 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171450" y="171450"/>
              <a:ext cx="266700" cy="266700"/>
            </a:xfrm>
            <a:prstGeom prst="ellipse">
              <a:avLst/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257175" y="257175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✘ 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4" name="Google Shape;244;p20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申報書選用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★ 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★ 口訣：「專營四零一，兼營四零三」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1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78" name="Google Shape;278;p21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1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1" name="Google Shape;281;p21"/>
          <p:cNvGrpSpPr/>
          <p:nvPr/>
        </p:nvGrpSpPr>
        <p:grpSpPr>
          <a:xfrm>
            <a:off x="571500" y="952500"/>
            <a:ext cx="6819900" cy="762000"/>
            <a:chOff x="0" y="0"/>
            <a:chExt cx="6819900" cy="762000"/>
          </a:xfrm>
        </p:grpSpPr>
        <p:sp>
          <p:nvSpPr>
            <p:cNvPr id="282" name="Google Shape;282;p21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52400" y="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年底大魔王：進項比例調整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進項稅額分攤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4" name="Google Shape;284;p21"/>
          <p:cNvGrpSpPr/>
          <p:nvPr/>
        </p:nvGrpSpPr>
        <p:grpSpPr>
          <a:xfrm>
            <a:off x="571500" y="2095500"/>
            <a:ext cx="3429000" cy="2286000"/>
            <a:chOff x="0" y="0"/>
            <a:chExt cx="3429000" cy="2286000"/>
          </a:xfrm>
        </p:grpSpPr>
        <p:sp>
          <p:nvSpPr>
            <p:cNvPr id="285" name="Google Shape;285;p21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228600" y="228600"/>
              <a:ext cx="2971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► 平時（每 2 個月）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依當期免稅/應稅比例計算不可扣抵進項。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單數月 15 日前申報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稅率 5%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4572000" y="2095500"/>
            <a:ext cx="4000500" cy="2286000"/>
            <a:chOff x="0" y="0"/>
            <a:chExt cx="4000500" cy="22860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40005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9525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228600" y="228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0000" y="0"/>
                  </a:lnTo>
                  <a:lnTo>
                    <a:pt x="120000" y="6000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D87A68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228600" y="228600"/>
              <a:ext cx="35433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年底（最後一期）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11-12 月期（隔年 1/15 報），須加總全年度銷售額重新精算。</a:t>
              </a:r>
              <a:endParaRPr sz="105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zh-TW" sz="1050" b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疏漏將面臨補稅與裁罰。</a:t>
              </a:r>
              <a:endParaRPr sz="1050" b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92" name="Google Shape;292;p21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3" name="Google Shape;293;p21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6" name="Google Shape;306;p22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3 — 營所稅策略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營收 &lt; 3,000 萬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純益率 ~4%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查帳風險極低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■ 推薦首年使用</a:t>
              </a:r>
              <a:endParaRPr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sz="1500" b="1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無營收限制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淨利率 10%~11%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查帳風險中等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帳務完整時可選</a:t>
              </a:r>
              <a:endParaRPr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無營收限制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&gt;15%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國稅局直接核定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被動適用</a:t>
              </a:r>
              <a:endParaRPr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23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30" name="Google Shape;330;p23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33" name="Google Shape;333;p23"/>
          <p:cNvGrpSpPr/>
          <p:nvPr/>
        </p:nvGrpSpPr>
        <p:grpSpPr>
          <a:xfrm>
            <a:off x="571500" y="952500"/>
            <a:ext cx="7620000" cy="1095525"/>
            <a:chOff x="0" y="0"/>
            <a:chExt cx="7620000" cy="1095525"/>
          </a:xfrm>
        </p:grpSpPr>
        <p:sp>
          <p:nvSpPr>
            <p:cNvPr id="334" name="Google Shape;334;p23"/>
            <p:cNvSpPr/>
            <p:nvPr/>
          </p:nvSpPr>
          <p:spPr>
            <a:xfrm>
              <a:off x="0" y="0"/>
              <a:ext cx="1047900" cy="2286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0" y="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▲ TRAP ALERT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0" y="285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只賺 5 萬也要繳稅？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0" y="809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sz="135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原則：≤12 萬免稅 | 12~20 萬減半 | &gt;20 萬 × 20%</a:t>
              </a:r>
              <a:endParaRPr sz="1350" b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38" name="Google Shape;338;p23"/>
          <p:cNvGrpSpPr/>
          <p:nvPr/>
        </p:nvGrpSpPr>
        <p:grpSpPr>
          <a:xfrm>
            <a:off x="571500" y="2095500"/>
            <a:ext cx="3810000" cy="1428900"/>
            <a:chOff x="0" y="0"/>
            <a:chExt cx="3810000" cy="1428900"/>
          </a:xfrm>
        </p:grpSpPr>
        <p:sp>
          <p:nvSpPr>
            <p:cNvPr id="339" name="Google Shape;339;p23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name="adj" fmla="val 10666"/>
              </a:avLst>
            </a:prstGeom>
            <a:solidFill>
              <a:srgbClr val="FDF2F0"/>
            </a:solidFill>
            <a:ln w="1905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152400" y="152400"/>
              <a:ext cx="228600" cy="228600"/>
            </a:xfrm>
            <a:prstGeom prst="ellipse">
              <a:avLst/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219075" y="219075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3"/>
            <p:cNvSpPr txBox="1"/>
            <p:nvPr/>
          </p:nvSpPr>
          <p:spPr>
            <a:xfrm>
              <a:off x="495300" y="152400"/>
              <a:ext cx="30861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✘ 常見錯誤</a:t>
              </a:r>
              <a:endParaRPr sz="15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11 月設立，實際賺 5 萬。</a:t>
              </a:r>
              <a:endParaRPr sz="120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以為「5萬 &lt; 12萬免稅」</a:t>
              </a:r>
              <a:endParaRPr sz="120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600"/>
                </a:spcAft>
                <a:buNone/>
              </a:pPr>
              <a:r>
                <a:rPr lang="zh-TW" sz="13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→ 大錯特錯！</a:t>
              </a:r>
              <a:endParaRPr sz="13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43" name="Google Shape;343;p23"/>
          <p:cNvGrpSpPr/>
          <p:nvPr/>
        </p:nvGrpSpPr>
        <p:grpSpPr>
          <a:xfrm>
            <a:off x="4762500" y="2095500"/>
            <a:ext cx="3810000" cy="1428900"/>
            <a:chOff x="0" y="0"/>
            <a:chExt cx="3810000" cy="1428900"/>
          </a:xfrm>
        </p:grpSpPr>
        <p:sp>
          <p:nvSpPr>
            <p:cNvPr id="344" name="Google Shape;344;p23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name="adj" fmla="val 10666"/>
              </a:avLst>
            </a:prstGeom>
            <a:solidFill>
              <a:srgbClr val="FFFFFF"/>
            </a:solidFill>
            <a:ln w="1905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152400" y="152400"/>
              <a:ext cx="228600" cy="228600"/>
            </a:xfrm>
            <a:prstGeom prst="ellipse">
              <a:avLst/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219075" y="219075"/>
              <a:ext cx="95400" cy="85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6667"/>
                  </a:moveTo>
                  <a:lnTo>
                    <a:pt x="48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3"/>
            <p:cNvSpPr txBox="1"/>
            <p:nvPr/>
          </p:nvSpPr>
          <p:spPr>
            <a:xfrm>
              <a:off x="495300" y="152400"/>
              <a:ext cx="30861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■ 正確算法</a:t>
              </a:r>
              <a:endParaRPr sz="15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① 放大：5萬 × 12÷2 = 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30 萬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② 套公式：30萬 × 20% = 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6 萬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75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③ 縮回：6萬 × 2÷12 = </a:t>
              </a:r>
              <a:r>
                <a:rPr lang="zh-TW" sz="18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NT$10,000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48" name="Google Shape;348;p23"/>
          <p:cNvGrpSpPr/>
          <p:nvPr/>
        </p:nvGrpSpPr>
        <p:grpSpPr>
          <a:xfrm>
            <a:off x="1714500" y="3714750"/>
            <a:ext cx="5715000" cy="666900"/>
            <a:chOff x="0" y="0"/>
            <a:chExt cx="5715000" cy="666900"/>
          </a:xfrm>
        </p:grpSpPr>
        <p:sp>
          <p:nvSpPr>
            <p:cNvPr id="349" name="Google Shape;349;p23"/>
            <p:cNvSpPr/>
            <p:nvPr/>
          </p:nvSpPr>
          <p:spPr>
            <a:xfrm>
              <a:off x="0" y="0"/>
              <a:ext cx="5715000" cy="666900"/>
            </a:xfrm>
            <a:prstGeom prst="roundRect">
              <a:avLst>
                <a:gd name="adj" fmla="val 22857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0" y="0"/>
              <a:ext cx="5715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口訣：「放大 → 套 → 縮」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51" name="Google Shape;351;p23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52" name="Google Shape;352;p23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3" name="Google Shape;353;p23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54" name="Google Shape;354;p23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/>
          <p:nvPr/>
        </p:nvSpPr>
        <p:spPr>
          <a:xfrm>
            <a:off x="5905500" y="2095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-1143000" y="3429000"/>
            <a:ext cx="3429000" cy="34290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7620000" y="0"/>
            <a:ext cx="1524000" cy="190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quadBezTo>
                  <a:pt x="75000" y="60000"/>
                  <a:pt x="0" y="120000"/>
                </a:quadBezTo>
                <a:lnTo>
                  <a:pt x="12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24"/>
          <p:cNvGrpSpPr/>
          <p:nvPr/>
        </p:nvGrpSpPr>
        <p:grpSpPr>
          <a:xfrm>
            <a:off x="571500" y="381000"/>
            <a:ext cx="8001000" cy="4572000"/>
            <a:chOff x="571500" y="381000"/>
            <a:chExt cx="8001000" cy="4572000"/>
          </a:xfrm>
        </p:grpSpPr>
        <p:grpSp>
          <p:nvGrpSpPr>
            <p:cNvPr id="363" name="Google Shape;363;p24"/>
            <p:cNvGrpSpPr/>
            <p:nvPr/>
          </p:nvGrpSpPr>
          <p:grpSpPr>
            <a:xfrm>
              <a:off x="571500" y="381000"/>
              <a:ext cx="2400300" cy="381000"/>
              <a:chOff x="0" y="0"/>
              <a:chExt cx="2400300" cy="381000"/>
            </a:xfrm>
          </p:grpSpPr>
          <p:sp>
            <p:nvSpPr>
              <p:cNvPr id="364" name="Google Shape;364;p24"/>
              <p:cNvSpPr/>
              <p:nvPr/>
            </p:nvSpPr>
            <p:spPr>
              <a:xfrm>
                <a:off x="0" y="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0" y="0"/>
                      <a:pt x="60000" y="0"/>
                      <a:pt x="60000" y="0"/>
                    </a:cubicBezTo>
                    <a:cubicBezTo>
                      <a:pt x="120000" y="0"/>
                      <a:pt x="120000" y="60000"/>
                      <a:pt x="120000" y="60000"/>
                    </a:cubicBezTo>
                    <a:cubicBezTo>
                      <a:pt x="120000" y="120000"/>
                      <a:pt x="60000" y="120000"/>
                      <a:pt x="60000" y="120000"/>
                    </a:cubicBezTo>
                    <a:cubicBezTo>
                      <a:pt x="0" y="12000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5A7557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114300" y="762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0" y="0"/>
                      <a:pt x="60000" y="0"/>
                      <a:pt x="60000" y="0"/>
                    </a:cubicBezTo>
                    <a:cubicBezTo>
                      <a:pt x="120000" y="0"/>
                      <a:pt x="120000" y="60000"/>
                      <a:pt x="120000" y="60000"/>
                    </a:cubicBezTo>
                    <a:cubicBezTo>
                      <a:pt x="120000" y="120000"/>
                      <a:pt x="60000" y="120000"/>
                      <a:pt x="60000" y="120000"/>
                    </a:cubicBezTo>
                    <a:cubicBezTo>
                      <a:pt x="0" y="12000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7C9878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4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367" name="Google Shape;367;p24"/>
            <p:cNvGrpSpPr/>
            <p:nvPr/>
          </p:nvGrpSpPr>
          <p:grpSpPr>
            <a:xfrm>
              <a:off x="571500" y="952500"/>
              <a:ext cx="7772400" cy="952500"/>
              <a:chOff x="0" y="0"/>
              <a:chExt cx="7772400" cy="952500"/>
            </a:xfrm>
          </p:grpSpPr>
          <p:sp>
            <p:nvSpPr>
              <p:cNvPr id="368" name="Google Shape;368;p24"/>
              <p:cNvSpPr/>
              <p:nvPr/>
            </p:nvSpPr>
            <p:spPr>
              <a:xfrm>
                <a:off x="0" y="762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4"/>
              <p:cNvSpPr txBox="1"/>
              <p:nvPr/>
            </p:nvSpPr>
            <p:spPr>
              <a:xfrm>
                <a:off x="152400" y="0"/>
                <a:ext cx="762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0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PART 3 — 營所稅優惠</a:t>
                </a:r>
                <a:endParaRPr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900"/>
                  </a:spcAft>
                  <a:buNone/>
                </a:pPr>
                <a:r>
                  <a:rPr lang="zh-TW" sz="27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恭喜老闆 首年免暫繳 ★</a:t>
                </a:r>
                <a:endParaRPr sz="27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370" name="Google Shape;370;p24"/>
            <p:cNvGrpSpPr/>
            <p:nvPr/>
          </p:nvGrpSpPr>
          <p:grpSpPr>
            <a:xfrm>
              <a:off x="762000" y="2000250"/>
              <a:ext cx="7810500" cy="2286000"/>
              <a:chOff x="190500" y="0"/>
              <a:chExt cx="7810500" cy="2286000"/>
            </a:xfrm>
          </p:grpSpPr>
          <p:sp>
            <p:nvSpPr>
              <p:cNvPr id="371" name="Google Shape;371;p24"/>
              <p:cNvSpPr txBox="1"/>
              <p:nvPr/>
            </p:nvSpPr>
            <p:spPr>
              <a:xfrm>
                <a:off x="190500" y="381000"/>
                <a:ext cx="2667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480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$0</a:t>
                </a:r>
                <a:endParaRPr sz="48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210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暫繳額度</a:t>
                </a:r>
                <a:endParaRPr sz="21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zh-TW" sz="1050" b="0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設立首年專屬優惠</a:t>
                </a:r>
                <a:endParaRPr sz="10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grpSp>
            <p:nvGrpSpPr>
              <p:cNvPr id="372" name="Google Shape;372;p24"/>
              <p:cNvGrpSpPr/>
              <p:nvPr/>
            </p:nvGrpSpPr>
            <p:grpSpPr>
              <a:xfrm>
                <a:off x="3238500" y="0"/>
                <a:ext cx="4762500" cy="2286000"/>
                <a:chOff x="0" y="0"/>
                <a:chExt cx="4762500" cy="2286000"/>
              </a:xfrm>
            </p:grpSpPr>
            <p:sp>
              <p:nvSpPr>
                <p:cNvPr id="373" name="Google Shape;373;p24"/>
                <p:cNvSpPr/>
                <p:nvPr/>
              </p:nvSpPr>
              <p:spPr>
                <a:xfrm>
                  <a:off x="0" y="0"/>
                  <a:ext cx="4762500" cy="2286000"/>
                </a:xfrm>
                <a:prstGeom prst="roundRect">
                  <a:avLst>
                    <a:gd name="adj" fmla="val 8333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8E5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24"/>
                <p:cNvSpPr txBox="1"/>
                <p:nvPr/>
              </p:nvSpPr>
              <p:spPr>
                <a:xfrm>
                  <a:off x="304800" y="304800"/>
                  <a:ext cx="4152900" cy="16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1650" b="1">
                      <a:solidFill>
                        <a:srgbClr val="5A7557"/>
                      </a:solidFill>
                      <a:latin typeface="Noto Sans TC"/>
                      <a:ea typeface="Noto Sans TC"/>
                      <a:cs typeface="Noto Sans TC"/>
                      <a:sym typeface="Noto Sans TC"/>
                    </a:rPr>
                    <a:t>營所稅暫繳說明</a:t>
                  </a:r>
                  <a:endParaRPr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endParaRPr>
                </a:p>
                <a:p>
                  <a:pPr marL="0" lvl="0" indent="0" algn="l" rtl="0">
                    <a:spcBef>
                      <a:spcPts val="1500"/>
                    </a:spcBef>
                    <a:spcAft>
                      <a:spcPts val="0"/>
                    </a:spcAft>
                    <a:buNone/>
                  </a:pPr>
                  <a:r>
                    <a:rPr lang="zh-TW" sz="1200" b="0">
                      <a:solidFill>
                        <a:srgbClr val="2D4333"/>
                      </a:solidFill>
                      <a:latin typeface="Noto Sans TC"/>
                      <a:ea typeface="Noto Sans TC"/>
                      <a:cs typeface="Noto Sans TC"/>
                      <a:sym typeface="Noto Sans TC"/>
                    </a:rPr>
                    <a:t>每年 9 月需預繳上年度稅額的一半，但設立第一年免辦理暫繳，保留充足營運現金流。</a:t>
                  </a:r>
                  <a:endParaRPr sz="120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endParaRPr>
                </a:p>
                <a:p>
                  <a:pPr marL="0" lvl="0" indent="0" algn="l" rtl="0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lang="zh-TW" sz="1050" b="1">
                      <a:solidFill>
                        <a:srgbClr val="C55D4D"/>
                      </a:solidFill>
                      <a:latin typeface="Noto Sans TC"/>
                      <a:ea typeface="Noto Sans TC"/>
                      <a:cs typeface="Noto Sans TC"/>
                      <a:sym typeface="Noto Sans TC"/>
                    </a:rPr>
                    <a:t>▲ 溫馨提醒：第二年 9 月起就要提前準備。</a:t>
                  </a:r>
                  <a:endParaRPr sz="1050" b="1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endParaRPr>
                </a:p>
              </p:txBody>
            </p:sp>
          </p:grpSp>
        </p:grpSp>
        <p:grpSp>
          <p:nvGrpSpPr>
            <p:cNvPr id="375" name="Google Shape;375;p24"/>
            <p:cNvGrpSpPr/>
            <p:nvPr/>
          </p:nvGrpSpPr>
          <p:grpSpPr>
            <a:xfrm>
              <a:off x="571500" y="4667250"/>
              <a:ext cx="8001000" cy="285750"/>
              <a:chOff x="0" y="0"/>
              <a:chExt cx="8001000" cy="285750"/>
            </a:xfrm>
          </p:grpSpPr>
          <p:cxnSp>
            <p:nvCxnSpPr>
              <p:cNvPr id="376" name="Google Shape;376;p24"/>
              <p:cNvCxnSpPr/>
              <p:nvPr/>
            </p:nvCxnSpPr>
            <p:spPr>
              <a:xfrm>
                <a:off x="0" y="0"/>
                <a:ext cx="8001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77" name="Google Shape;377;p24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750" b="0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大葉園藝有限公司 ✕ 稅務顧問團隊 | 企業轉型與稅務規劃指南</a:t>
                </a:r>
                <a:endParaRPr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378" name="Google Shape;378;p24"/>
              <p:cNvSpPr txBox="1"/>
              <p:nvPr/>
            </p:nvSpPr>
            <p:spPr>
              <a:xfrm>
                <a:off x="7048500" y="9525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750" b="0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2026.08</a:t>
                </a:r>
                <a:endParaRPr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25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85" name="Google Shape;385;p2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5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88" name="Google Shape;388;p25"/>
          <p:cNvGrpSpPr/>
          <p:nvPr/>
        </p:nvGrpSpPr>
        <p:grpSpPr>
          <a:xfrm>
            <a:off x="571500" y="952500"/>
            <a:ext cx="6819900" cy="952500"/>
            <a:chOff x="0" y="0"/>
            <a:chExt cx="6819900" cy="952500"/>
          </a:xfrm>
        </p:grpSpPr>
        <p:sp>
          <p:nvSpPr>
            <p:cNvPr id="389" name="Google Shape;389;p25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5"/>
            <p:cNvSpPr txBox="1"/>
            <p:nvPr/>
          </p:nvSpPr>
          <p:spPr>
            <a:xfrm>
              <a:off x="152400" y="0"/>
              <a:ext cx="666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公司的錢 ≠ 老闆的錢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4 — 盈餘分配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91" name="Google Shape;391;p25"/>
          <p:cNvGrpSpPr/>
          <p:nvPr/>
        </p:nvGrpSpPr>
        <p:grpSpPr>
          <a:xfrm>
            <a:off x="571500" y="2095500"/>
            <a:ext cx="3619500" cy="2095500"/>
            <a:chOff x="0" y="0"/>
            <a:chExt cx="3619500" cy="2095500"/>
          </a:xfrm>
        </p:grpSpPr>
        <p:sp>
          <p:nvSpPr>
            <p:cNvPr id="392" name="Google Shape;392;p25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name="adj" fmla="val 7272"/>
              </a:avLst>
            </a:prstGeom>
            <a:solidFill>
              <a:srgbClr val="FFFFFF"/>
            </a:solidFill>
            <a:ln w="1905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3" name="Google Shape;393;p25"/>
            <p:cNvGrpSpPr/>
            <p:nvPr/>
          </p:nvGrpSpPr>
          <p:grpSpPr>
            <a:xfrm>
              <a:off x="228600" y="228600"/>
              <a:ext cx="228600" cy="228600"/>
              <a:chOff x="0" y="0"/>
              <a:chExt cx="228600" cy="228600"/>
            </a:xfrm>
          </p:grpSpPr>
          <p:sp>
            <p:nvSpPr>
              <p:cNvPr id="394" name="Google Shape;394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5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8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6" name="Google Shape;396;p25"/>
            <p:cNvSpPr txBox="1"/>
            <p:nvPr/>
          </p:nvSpPr>
          <p:spPr>
            <a:xfrm>
              <a:off x="571500" y="22860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■ 合法拿錢</a:t>
              </a:r>
              <a:endParaRPr sz="13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發薪水給自己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年底盈餘分配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合法報銷車馬費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97" name="Google Shape;397;p25"/>
          <p:cNvGrpSpPr/>
          <p:nvPr/>
        </p:nvGrpSpPr>
        <p:grpSpPr>
          <a:xfrm>
            <a:off x="4333875" y="2905125"/>
            <a:ext cx="476400" cy="476400"/>
            <a:chOff x="0" y="0"/>
            <a:chExt cx="476400" cy="476400"/>
          </a:xfrm>
        </p:grpSpPr>
        <p:sp>
          <p:nvSpPr>
            <p:cNvPr id="398" name="Google Shape;398;p25"/>
            <p:cNvSpPr/>
            <p:nvPr/>
          </p:nvSpPr>
          <p:spPr>
            <a:xfrm>
              <a:off x="0" y="0"/>
              <a:ext cx="476400" cy="476400"/>
            </a:xfrm>
            <a:prstGeom prst="ellipse">
              <a:avLst/>
            </a:prstGeom>
            <a:solidFill>
              <a:srgbClr val="FAF9F6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5"/>
            <p:cNvSpPr txBox="1"/>
            <p:nvPr/>
          </p:nvSpPr>
          <p:spPr>
            <a:xfrm>
              <a:off x="0" y="95250"/>
              <a:ext cx="47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VS</a:t>
              </a:r>
              <a:endParaRPr sz="12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00" name="Google Shape;400;p25"/>
          <p:cNvGrpSpPr/>
          <p:nvPr/>
        </p:nvGrpSpPr>
        <p:grpSpPr>
          <a:xfrm>
            <a:off x="4953000" y="2095500"/>
            <a:ext cx="3619500" cy="2095500"/>
            <a:chOff x="0" y="0"/>
            <a:chExt cx="3619500" cy="2095500"/>
          </a:xfrm>
        </p:grpSpPr>
        <p:sp>
          <p:nvSpPr>
            <p:cNvPr id="401" name="Google Shape;401;p25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name="adj" fmla="val 7272"/>
              </a:avLst>
            </a:prstGeom>
            <a:solidFill>
              <a:srgbClr val="FDF2F0"/>
            </a:solidFill>
            <a:ln w="1905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402;p25"/>
            <p:cNvGrpSpPr/>
            <p:nvPr/>
          </p:nvGrpSpPr>
          <p:grpSpPr>
            <a:xfrm>
              <a:off x="228600" y="228600"/>
              <a:ext cx="228600" cy="228600"/>
              <a:chOff x="0" y="0"/>
              <a:chExt cx="228600" cy="228600"/>
            </a:xfrm>
          </p:grpSpPr>
          <p:sp>
            <p:nvSpPr>
              <p:cNvPr id="403" name="Google Shape;403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C55D4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66675" y="66675"/>
                <a:ext cx="954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120000"/>
                    </a:lnTo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5" name="Google Shape;405;p25"/>
            <p:cNvSpPr txBox="1"/>
            <p:nvPr/>
          </p:nvSpPr>
          <p:spPr>
            <a:xfrm>
              <a:off x="571500" y="22860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✘ 違法拿錢</a:t>
              </a:r>
              <a:endParaRPr sz="13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私領現金轉入「股東往來」</a:t>
              </a:r>
              <a:endParaRPr sz="1050" b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面臨「設算利息收入」</a:t>
              </a:r>
              <a:endParaRPr sz="1050" b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60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甚至「業務侵占罪責」</a:t>
              </a:r>
              <a:endParaRPr sz="1050" b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06" name="Google Shape;406;p25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407" name="Google Shape;407;p2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8" name="Google Shape;408;p25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409" name="Google Shape;409;p25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6"/>
          <p:cNvSpPr/>
          <p:nvPr/>
        </p:nvSpPr>
        <p:spPr>
          <a:xfrm>
            <a:off x="-2667000" y="-2667000"/>
            <a:ext cx="5334000" cy="5334000"/>
          </a:xfrm>
          <a:prstGeom prst="ellipse">
            <a:avLst/>
          </a:prstGeom>
          <a:solidFill>
            <a:srgbClr val="7C9878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2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17" name="Google Shape;417;p2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20" name="Google Shape;420;p26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421" name="Google Shape;421;p26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6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不分配就加徵 5%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4 — 未分配盈餘稅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423" name="Google Shape;423;p26"/>
          <p:cNvSpPr txBox="1"/>
          <p:nvPr/>
        </p:nvSpPr>
        <p:spPr>
          <a:xfrm>
            <a:off x="571500" y="200025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分配順序：補、提、分</a:t>
            </a:r>
            <a:endParaRPr sz="1650" b="1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① 彌補以往虧損</a:t>
            </a:r>
            <a:endParaRPr>
              <a:solidFill>
                <a:srgbClr val="5A755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② 提列 10% 法定盈餘公積</a:t>
            </a:r>
            <a:endParaRPr>
              <a:solidFill>
                <a:srgbClr val="5A755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③ 分派股息紅利</a:t>
            </a:r>
            <a:endParaRPr>
              <a:solidFill>
                <a:srgbClr val="5A7557"/>
              </a:solidFill>
            </a:endParaRPr>
          </a:p>
        </p:txBody>
      </p:sp>
      <p:grpSp>
        <p:nvGrpSpPr>
          <p:cNvPr id="424" name="Google Shape;424;p26"/>
          <p:cNvGrpSpPr/>
          <p:nvPr/>
        </p:nvGrpSpPr>
        <p:grpSpPr>
          <a:xfrm>
            <a:off x="4572000" y="1809750"/>
            <a:ext cx="4000500" cy="1905000"/>
            <a:chOff x="0" y="0"/>
            <a:chExt cx="4000500" cy="1905000"/>
          </a:xfrm>
        </p:grpSpPr>
        <p:sp>
          <p:nvSpPr>
            <p:cNvPr id="425" name="Google Shape;425;p26"/>
            <p:cNvSpPr/>
            <p:nvPr/>
          </p:nvSpPr>
          <p:spPr>
            <a:xfrm>
              <a:off x="0" y="0"/>
              <a:ext cx="4000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6"/>
            <p:cNvSpPr txBox="1"/>
            <p:nvPr/>
          </p:nvSpPr>
          <p:spPr>
            <a:xfrm>
              <a:off x="228600" y="228600"/>
              <a:ext cx="3543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★ 節稅解法：實質投資</a:t>
              </a:r>
              <a:endParaRPr sz="15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125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依產創條例 §23-3，購置設備、溫室擴建、買工程貨車，</a:t>
              </a:r>
              <a:r>
                <a:rPr lang="zh-TW" sz="1125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免徵 5% 稅額！</a:t>
              </a:r>
              <a:endParaRPr sz="1125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27" name="Google Shape;427;p26"/>
          <p:cNvGrpSpPr/>
          <p:nvPr/>
        </p:nvGrpSpPr>
        <p:grpSpPr>
          <a:xfrm>
            <a:off x="571500" y="3905250"/>
            <a:ext cx="8001000" cy="571500"/>
            <a:chOff x="0" y="0"/>
            <a:chExt cx="8001000" cy="571500"/>
          </a:xfrm>
        </p:grpSpPr>
        <p:sp>
          <p:nvSpPr>
            <p:cNvPr id="428" name="Google Shape;428;p26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name="adj" fmla="val 20000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6"/>
            <p:cNvSpPr txBox="1"/>
            <p:nvPr/>
          </p:nvSpPr>
          <p:spPr>
            <a:xfrm>
              <a:off x="285750" y="0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「老闆，有擴建計畫，這筆稅就能省下來！」</a:t>
              </a:r>
              <a:endParaRPr sz="13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30" name="Google Shape;430;p2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431" name="Google Shape;431;p2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32" name="Google Shape;432;p2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433" name="Google Shape;433;p2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4953000" y="11430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-476250" y="-1428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2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42" name="Google Shape;442;p27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45" name="Google Shape;445;p2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446" name="Google Shape;446;p27"/>
            <p:cNvSpPr/>
            <p:nvPr/>
          </p:nvSpPr>
          <p:spPr>
            <a:xfrm>
              <a:off x="0" y="76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第一年稅務行事曆（以 2 月設立為例）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TIMELINE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48" name="Google Shape;448;p27"/>
          <p:cNvGrpSpPr/>
          <p:nvPr/>
        </p:nvGrpSpPr>
        <p:grpSpPr>
          <a:xfrm>
            <a:off x="-95250" y="1714500"/>
            <a:ext cx="9382275" cy="2333775"/>
            <a:chOff x="-666750" y="-1143000"/>
            <a:chExt cx="9382275" cy="2333775"/>
          </a:xfrm>
        </p:grpSpPr>
        <p:cxnSp>
          <p:nvCxnSpPr>
            <p:cNvPr id="449" name="Google Shape;449;p2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50" name="Google Shape;450;p27"/>
            <p:cNvGrpSpPr/>
            <p:nvPr/>
          </p:nvGrpSpPr>
          <p:grpSpPr>
            <a:xfrm>
              <a:off x="-666750" y="-1143000"/>
              <a:ext cx="1333500" cy="1238250"/>
              <a:chOff x="-666750" y="-1143000"/>
              <a:chExt cx="1333500" cy="1238250"/>
            </a:xfrm>
          </p:grpSpPr>
          <p:sp>
            <p:nvSpPr>
              <p:cNvPr id="451" name="Google Shape;451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53" name="Google Shape;453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9525" y="-4381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4" name="Google Shape;454;p27"/>
              <p:cNvSpPr txBox="1"/>
              <p:nvPr/>
            </p:nvSpPr>
            <p:spPr>
              <a:xfrm>
                <a:off x="-666750" y="-1143000"/>
                <a:ext cx="133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2月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設立、稅籍+CTP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455" name="Google Shape;455;p27"/>
            <p:cNvGrpSpPr/>
            <p:nvPr/>
          </p:nvGrpSpPr>
          <p:grpSpPr>
            <a:xfrm>
              <a:off x="933450" y="-95250"/>
              <a:ext cx="1333500" cy="1286025"/>
              <a:chOff x="-666750" y="-95250"/>
              <a:chExt cx="1333500" cy="1286025"/>
            </a:xfrm>
          </p:grpSpPr>
          <p:sp>
            <p:nvSpPr>
              <p:cNvPr id="456" name="Google Shape;456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58" name="Google Shape;458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9525" y="952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9" name="Google Shape;459;p27"/>
              <p:cNvSpPr txBox="1"/>
              <p:nvPr/>
            </p:nvSpPr>
            <p:spPr>
              <a:xfrm>
                <a:off x="-666750" y="523875"/>
                <a:ext cx="133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3月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首次營業稅(403)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460" name="Google Shape;460;p27"/>
            <p:cNvGrpSpPr/>
            <p:nvPr/>
          </p:nvGrpSpPr>
          <p:grpSpPr>
            <a:xfrm>
              <a:off x="2533650" y="-1143000"/>
              <a:ext cx="1333500" cy="1238250"/>
              <a:chOff x="-666750" y="-1143000"/>
              <a:chExt cx="1333500" cy="1238250"/>
            </a:xfrm>
          </p:grpSpPr>
          <p:sp>
            <p:nvSpPr>
              <p:cNvPr id="461" name="Google Shape;461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63" name="Google Shape;463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9525" y="-4381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4" name="Google Shape;464;p27"/>
              <p:cNvSpPr txBox="1"/>
              <p:nvPr/>
            </p:nvSpPr>
            <p:spPr>
              <a:xfrm>
                <a:off x="-666750" y="-1143000"/>
                <a:ext cx="133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5-11月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雙月報營業稅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465" name="Google Shape;465;p27"/>
            <p:cNvGrpSpPr/>
            <p:nvPr/>
          </p:nvGrpSpPr>
          <p:grpSpPr>
            <a:xfrm>
              <a:off x="4133850" y="-95250"/>
              <a:ext cx="1333500" cy="1286025"/>
              <a:chOff x="-666750" y="-95250"/>
              <a:chExt cx="1333500" cy="1286025"/>
            </a:xfrm>
          </p:grpSpPr>
          <p:sp>
            <p:nvSpPr>
              <p:cNvPr id="466" name="Google Shape;466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5A7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68" name="Google Shape;468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-9525" y="952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9" name="Google Shape;469;p27"/>
              <p:cNvSpPr txBox="1"/>
              <p:nvPr/>
            </p:nvSpPr>
            <p:spPr>
              <a:xfrm>
                <a:off x="-666750" y="523875"/>
                <a:ext cx="133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9月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★ 首年免暫繳</a:t>
                </a:r>
                <a:endParaRPr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470" name="Google Shape;470;p27"/>
            <p:cNvGrpSpPr/>
            <p:nvPr/>
          </p:nvGrpSpPr>
          <p:grpSpPr>
            <a:xfrm>
              <a:off x="5734050" y="-1143000"/>
              <a:ext cx="1333500" cy="1238250"/>
              <a:chOff x="-666750" y="-1143000"/>
              <a:chExt cx="1333500" cy="1238250"/>
            </a:xfrm>
          </p:grpSpPr>
          <p:sp>
            <p:nvSpPr>
              <p:cNvPr id="471" name="Google Shape;471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C55D4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73" name="Google Shape;473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9525" y="-4381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4" name="Google Shape;474;p27"/>
              <p:cNvSpPr txBox="1"/>
              <p:nvPr/>
            </p:nvSpPr>
            <p:spPr>
              <a:xfrm>
                <a:off x="-666750" y="-1143000"/>
                <a:ext cx="133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隔年 1月</a:t>
                </a:r>
                <a:endParaRPr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lvl="0" algn="ctr">
                  <a:spcBef>
                    <a:spcPts val="300"/>
                  </a:spcBef>
                </a:pPr>
                <a:r>
                  <a:rPr lang="zh-TW" altLang="zh-TW" sz="1050" b="1" dirty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▲</a:t>
                </a:r>
                <a:r>
                  <a:rPr lang="zh-TW" sz="1050" b="1" dirty="0" smtClean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 </a:t>
                </a:r>
                <a:r>
                  <a:rPr lang="zh-TW" sz="1050" b="1" dirty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年底進項調整</a:t>
                </a:r>
                <a:endParaRPr sz="10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475" name="Google Shape;475;p27"/>
            <p:cNvGrpSpPr/>
            <p:nvPr/>
          </p:nvGrpSpPr>
          <p:grpSpPr>
            <a:xfrm>
              <a:off x="7286625" y="-95250"/>
              <a:ext cx="1428900" cy="1286025"/>
              <a:chOff x="-714375" y="-95250"/>
              <a:chExt cx="1428900" cy="1286025"/>
            </a:xfrm>
          </p:grpSpPr>
          <p:sp>
            <p:nvSpPr>
              <p:cNvPr id="476" name="Google Shape;476;p27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C55D4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78" name="Google Shape;478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9525" y="95250"/>
                <a:ext cx="192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9" name="Google Shape;479;p27"/>
              <p:cNvSpPr txBox="1"/>
              <p:nvPr/>
            </p:nvSpPr>
            <p:spPr>
              <a:xfrm>
                <a:off x="-714375" y="523875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隔年 5月</a:t>
                </a:r>
                <a:endParaRPr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zh-TW" sz="1050" b="1" dirty="0" smtClean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▲ </a:t>
                </a:r>
                <a:r>
                  <a:rPr lang="zh-TW" sz="1050" b="1" dirty="0">
                    <a:solidFill>
                      <a:srgbClr val="C55D4D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首次營所稅</a:t>
                </a:r>
                <a:endParaRPr sz="10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480" name="Google Shape;480;p27"/>
          <p:cNvGrpSpPr/>
          <p:nvPr/>
        </p:nvGrpSpPr>
        <p:grpSpPr>
          <a:xfrm>
            <a:off x="1714500" y="4000500"/>
            <a:ext cx="5715000" cy="476400"/>
            <a:chOff x="0" y="0"/>
            <a:chExt cx="5715000" cy="476400"/>
          </a:xfrm>
        </p:grpSpPr>
        <p:sp>
          <p:nvSpPr>
            <p:cNvPr id="481" name="Google Shape;481;p27"/>
            <p:cNvSpPr/>
            <p:nvPr/>
          </p:nvSpPr>
          <p:spPr>
            <a:xfrm>
              <a:off x="0" y="0"/>
              <a:ext cx="5715000" cy="476400"/>
            </a:xfrm>
            <a:prstGeom prst="roundRect">
              <a:avLst>
                <a:gd name="adj" fmla="val 24000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7"/>
            <p:cNvSpPr txBox="1"/>
            <p:nvPr/>
          </p:nvSpPr>
          <p:spPr>
            <a:xfrm>
              <a:off x="0" y="0"/>
              <a:ext cx="571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全程由顧問團隊專業把關，關鍵節點提前提醒 ■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83" name="Google Shape;483;p2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484" name="Google Shape;484;p2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85" name="Google Shape;485;p2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486" name="Google Shape;486;p2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4" name="Google Shape;494;p28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5A7557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114300" y="76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cubicBezTo>
                    <a:pt x="0" y="0"/>
                    <a:pt x="60000" y="0"/>
                    <a:pt x="60000" y="0"/>
                  </a:cubicBezTo>
                  <a:cubicBezTo>
                    <a:pt x="120000" y="0"/>
                    <a:pt x="120000" y="60000"/>
                    <a:pt x="120000" y="60000"/>
                  </a:cubicBezTo>
                  <a:cubicBezTo>
                    <a:pt x="120000" y="120000"/>
                    <a:pt x="60000" y="120000"/>
                    <a:pt x="60000" y="120000"/>
                  </a:cubicBezTo>
                  <a:cubicBezTo>
                    <a:pt x="0" y="120000"/>
                    <a:pt x="0" y="60000"/>
                    <a:pt x="0" y="60000"/>
                  </a:cubicBezTo>
                  <a:close/>
                </a:path>
              </a:pathLst>
            </a:custGeom>
            <a:solidFill>
              <a:srgbClr val="7C9878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讓您專心種樹 稅的事交給我們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 → 盈餘。一條龍專業服務，全年稅務無死角。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</Words>
  <Application>Microsoft Office PowerPoint</Application>
  <PresentationFormat>如螢幕大小 (16:9)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Noto Sans TC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User</cp:lastModifiedBy>
  <cp:revision>1</cp:revision>
  <dcterms:modified xsi:type="dcterms:W3CDTF">2026-08-25T07:24:11Z</dcterms:modified>
</cp:coreProperties>
</file>