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Noto Sans TC" panose="02020500000000000000" charset="-12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8579f0009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f8579f0009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8579f0009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f8579f0009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8579f0009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f8579f0009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8579f0009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f8579f0009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f8579f0009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f8579f0009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f8579f000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f8579f000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495300" y="571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從公司設立到首年稅務規劃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476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95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500" y="2000250"/>
            <a:ext cx="8001000" cy="2333775"/>
            <a:chOff x="0" y="0"/>
            <a:chExt cx="8001000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 步驟完成開業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401 / 403 搞懂它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0" y="1285875"/>
              <a:ext cx="3810000" cy="1047900"/>
              <a:chOff x="0" y="0"/>
              <a:chExt cx="3810000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書審省稅策略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3" name="Google Shape;93;p15"/>
            <p:cNvGrpSpPr/>
            <p:nvPr/>
          </p:nvGrpSpPr>
          <p:grpSpPr>
            <a:xfrm>
              <a:off x="4191000" y="1285875"/>
              <a:ext cx="3810000" cy="1047900"/>
              <a:chOff x="0" y="0"/>
              <a:chExt cx="3810000" cy="1047900"/>
            </a:xfrm>
          </p:grpSpPr>
          <p:sp>
            <p:nvSpPr>
              <p:cNvPr id="94" name="Google Shape;94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盈餘分配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合法把錢拿出來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6667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客戶現況：陳老闆經營家族園藝 20 年，要正式轉型為有限公司 | 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Page 02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正式設立有限公司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痛點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不知道設立流程要多久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搞不清楚賣花是否要繳稅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聽說年底有很多稅要報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公司賺的錢怎麼合法拿出來？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21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 步驟完成公司設立</a:t>
              </a:r>
              <a:endParaRPr sz="21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建議資本額：100 萬 / 費用估算：NT$6,000~12,000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收入分類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申報書選用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口訣：「專營四零一，兼營四零三」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1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80" name="Google Shape;280;p21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1" name="Google Shape;281;p21"/>
          <p:cNvGrpSpPr/>
          <p:nvPr/>
        </p:nvGrpSpPr>
        <p:grpSpPr>
          <a:xfrm>
            <a:off x="571500" y="952500"/>
            <a:ext cx="6819900" cy="762000"/>
            <a:chOff x="0" y="0"/>
            <a:chExt cx="6819900" cy="762000"/>
          </a:xfrm>
        </p:grpSpPr>
        <p:sp>
          <p:nvSpPr>
            <p:cNvPr id="283" name="Google Shape;283;p21"/>
            <p:cNvSpPr txBox="1"/>
            <p:nvPr/>
          </p:nvSpPr>
          <p:spPr>
            <a:xfrm>
              <a:off x="152400" y="0"/>
              <a:ext cx="666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年底大魔王：進項比例調整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進項稅額分攤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4" name="Google Shape;284;p21"/>
          <p:cNvGrpSpPr/>
          <p:nvPr/>
        </p:nvGrpSpPr>
        <p:grpSpPr>
          <a:xfrm>
            <a:off x="571500" y="2095500"/>
            <a:ext cx="3429000" cy="2286000"/>
            <a:chOff x="0" y="0"/>
            <a:chExt cx="3429000" cy="2286000"/>
          </a:xfrm>
        </p:grpSpPr>
        <p:sp>
          <p:nvSpPr>
            <p:cNvPr id="285" name="Google Shape;285;p21"/>
            <p:cNvSpPr/>
            <p:nvPr/>
          </p:nvSpPr>
          <p:spPr>
            <a:xfrm>
              <a:off x="0" y="0"/>
              <a:ext cx="3429000" cy="22860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1"/>
            <p:cNvSpPr txBox="1"/>
            <p:nvPr/>
          </p:nvSpPr>
          <p:spPr>
            <a:xfrm>
              <a:off x="228600" y="228600"/>
              <a:ext cx="29718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平時（每 2 個月）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依當期免稅/應稅比例計算不可扣抵進項。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單數月 15 日前申報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稅率 5%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7" name="Google Shape;287;p21"/>
          <p:cNvGrpSpPr/>
          <p:nvPr/>
        </p:nvGrpSpPr>
        <p:grpSpPr>
          <a:xfrm>
            <a:off x="4572000" y="2095500"/>
            <a:ext cx="4000500" cy="2286000"/>
            <a:chOff x="0" y="0"/>
            <a:chExt cx="4000500" cy="2286000"/>
          </a:xfrm>
        </p:grpSpPr>
        <p:sp>
          <p:nvSpPr>
            <p:cNvPr id="288" name="Google Shape;288;p21"/>
            <p:cNvSpPr/>
            <p:nvPr/>
          </p:nvSpPr>
          <p:spPr>
            <a:xfrm>
              <a:off x="0" y="0"/>
              <a:ext cx="40005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9525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228600" y="228600"/>
              <a:ext cx="35433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年底（最後一期）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11-12 月期（隔年 1/15 報），須加總全年度銷售額重新精算。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疏漏將面臨補稅與裁罰。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91" name="Google Shape;291;p21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92" name="Google Shape;292;p21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93" name="Google Shape;293;p21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3 — 營所稅策略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營收 &lt; 3,000 萬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純益率 ~4%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查帳風險極低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推薦首年使用</a:t>
              </a:r>
              <a:endParaRPr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sz="1500" b="1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淨利率 10%~11%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查帳風險中等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帳務完整時可選</a:t>
              </a:r>
              <a:endParaRPr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&gt;15%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國稅局直接核定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被動適用</a:t>
              </a:r>
              <a:endParaRPr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715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3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9" name="Google Shape;329;p23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32" name="Google Shape;332;p23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3" name="Google Shape;333;p23"/>
          <p:cNvGrpSpPr/>
          <p:nvPr/>
        </p:nvGrpSpPr>
        <p:grpSpPr>
          <a:xfrm>
            <a:off x="571500" y="952500"/>
            <a:ext cx="7620000" cy="1095525"/>
            <a:chOff x="0" y="0"/>
            <a:chExt cx="7620000" cy="1095525"/>
          </a:xfrm>
        </p:grpSpPr>
        <p:sp>
          <p:nvSpPr>
            <p:cNvPr id="334" name="Google Shape;334;p23"/>
            <p:cNvSpPr/>
            <p:nvPr/>
          </p:nvSpPr>
          <p:spPr>
            <a:xfrm>
              <a:off x="0" y="0"/>
              <a:ext cx="1047900" cy="2286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3"/>
            <p:cNvSpPr txBox="1"/>
            <p:nvPr/>
          </p:nvSpPr>
          <p:spPr>
            <a:xfrm>
              <a:off x="0" y="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TRAP ALERT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6" name="Google Shape;336;p23"/>
            <p:cNvSpPr txBox="1"/>
            <p:nvPr/>
          </p:nvSpPr>
          <p:spPr>
            <a:xfrm>
              <a:off x="0" y="285750"/>
              <a:ext cx="762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只賺 5 萬也要繳稅？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7" name="Google Shape;337;p23"/>
            <p:cNvSpPr txBox="1"/>
            <p:nvPr/>
          </p:nvSpPr>
          <p:spPr>
            <a:xfrm>
              <a:off x="0" y="809625"/>
              <a:ext cx="762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135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原則：≤12 萬免稅 | 12~20 萬減半 | &gt;20 萬 × 20%</a:t>
              </a:r>
              <a:endParaRPr sz="1350" b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8" name="Google Shape;338;p23"/>
          <p:cNvGrpSpPr/>
          <p:nvPr/>
        </p:nvGrpSpPr>
        <p:grpSpPr>
          <a:xfrm>
            <a:off x="571500" y="2095500"/>
            <a:ext cx="3810000" cy="1428900"/>
            <a:chOff x="0" y="0"/>
            <a:chExt cx="3810000" cy="1428900"/>
          </a:xfrm>
        </p:grpSpPr>
        <p:sp>
          <p:nvSpPr>
            <p:cNvPr id="339" name="Google Shape;339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常見錯誤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 月設立，實際賺 5 萬。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以為「5萬 &lt; 12萬免稅」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60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→ 大錯特錯！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3" name="Google Shape;343;p23"/>
          <p:cNvGrpSpPr/>
          <p:nvPr/>
        </p:nvGrpSpPr>
        <p:grpSpPr>
          <a:xfrm>
            <a:off x="4762500" y="2095500"/>
            <a:ext cx="3810000" cy="1428900"/>
            <a:chOff x="0" y="0"/>
            <a:chExt cx="3810000" cy="1428900"/>
          </a:xfrm>
        </p:grpSpPr>
        <p:sp>
          <p:nvSpPr>
            <p:cNvPr id="344" name="Google Shape;344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正確算法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① 放大：5萬 × 12÷2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30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② 套公式：30萬 × 20%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6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75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③ 縮回：6萬 × 2÷12 = </a:t>
              </a:r>
              <a:r>
                <a:rPr lang="zh-TW" sz="1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NT$10,000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8" name="Google Shape;348;p23"/>
          <p:cNvGrpSpPr/>
          <p:nvPr/>
        </p:nvGrpSpPr>
        <p:grpSpPr>
          <a:xfrm>
            <a:off x="1714500" y="3714750"/>
            <a:ext cx="5715000" cy="666900"/>
            <a:chOff x="0" y="0"/>
            <a:chExt cx="5715000" cy="666900"/>
          </a:xfrm>
        </p:grpSpPr>
        <p:sp>
          <p:nvSpPr>
            <p:cNvPr id="349" name="Google Shape;349;p23"/>
            <p:cNvSpPr/>
            <p:nvPr/>
          </p:nvSpPr>
          <p:spPr>
            <a:xfrm>
              <a:off x="0" y="0"/>
              <a:ext cx="5715000" cy="666900"/>
            </a:xfrm>
            <a:prstGeom prst="roundRect">
              <a:avLst>
                <a:gd name="adj" fmla="val 22857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0" y="0"/>
              <a:ext cx="5715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口訣：「放大 → 套 → 縮」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51" name="Google Shape;351;p23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52" name="Google Shape;352;p23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3" name="Google Shape;353;p23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54" name="Google Shape;354;p23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4"/>
          <p:cNvSpPr/>
          <p:nvPr/>
        </p:nvSpPr>
        <p:spPr>
          <a:xfrm>
            <a:off x="5905500" y="2095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24"/>
          <p:cNvSpPr/>
          <p:nvPr/>
        </p:nvSpPr>
        <p:spPr>
          <a:xfrm>
            <a:off x="-1143000" y="3429000"/>
            <a:ext cx="3429000" cy="34290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24"/>
          <p:cNvSpPr/>
          <p:nvPr/>
        </p:nvSpPr>
        <p:spPr>
          <a:xfrm>
            <a:off x="7620000" y="0"/>
            <a:ext cx="1524000" cy="1905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quadBezTo>
                  <a:pt x="75000" y="60000"/>
                  <a:pt x="0" y="120000"/>
                </a:quadBezTo>
                <a:lnTo>
                  <a:pt x="120000" y="120000"/>
                </a:lnTo>
                <a:lnTo>
                  <a:pt x="120000" y="0"/>
                </a:lnTo>
                <a:close/>
              </a:path>
            </a:pathLst>
          </a:cu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2" name="Google Shape;362;p24"/>
          <p:cNvGrpSpPr/>
          <p:nvPr/>
        </p:nvGrpSpPr>
        <p:grpSpPr>
          <a:xfrm>
            <a:off x="571500" y="381000"/>
            <a:ext cx="8001000" cy="4572000"/>
            <a:chOff x="571500" y="381000"/>
            <a:chExt cx="8001000" cy="4572000"/>
          </a:xfrm>
        </p:grpSpPr>
        <p:grpSp>
          <p:nvGrpSpPr>
            <p:cNvPr id="363" name="Google Shape;363;p24"/>
            <p:cNvGrpSpPr/>
            <p:nvPr/>
          </p:nvGrpSpPr>
          <p:grpSpPr>
            <a:xfrm>
              <a:off x="571500" y="381000"/>
              <a:ext cx="2400300" cy="381000"/>
              <a:chOff x="0" y="0"/>
              <a:chExt cx="2400300" cy="381000"/>
            </a:xfrm>
          </p:grpSpPr>
          <p:sp>
            <p:nvSpPr>
              <p:cNvPr id="366" name="Google Shape;366;p24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67" name="Google Shape;367;p24"/>
            <p:cNvGrpSpPr/>
            <p:nvPr/>
          </p:nvGrpSpPr>
          <p:grpSpPr>
            <a:xfrm>
              <a:off x="571500" y="952500"/>
              <a:ext cx="7772400" cy="952500"/>
              <a:chOff x="0" y="0"/>
              <a:chExt cx="7772400" cy="952500"/>
            </a:xfrm>
          </p:grpSpPr>
          <p:sp>
            <p:nvSpPr>
              <p:cNvPr id="369" name="Google Shape;369;p24"/>
              <p:cNvSpPr txBox="1"/>
              <p:nvPr/>
            </p:nvSpPr>
            <p:spPr>
              <a:xfrm>
                <a:off x="152400" y="0"/>
                <a:ext cx="7620000" cy="95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PART 3 — 營所稅優惠</a:t>
                </a:r>
                <a:endParaRPr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900"/>
                  </a:spcAft>
                  <a:buNone/>
                </a:pPr>
                <a:r>
                  <a:rPr lang="zh-TW" sz="27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恭喜老闆 首年免暫繳 </a:t>
                </a:r>
                <a:endParaRPr sz="27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70" name="Google Shape;370;p24"/>
            <p:cNvGrpSpPr/>
            <p:nvPr/>
          </p:nvGrpSpPr>
          <p:grpSpPr>
            <a:xfrm>
              <a:off x="762000" y="2000250"/>
              <a:ext cx="7810500" cy="2286000"/>
              <a:chOff x="190500" y="0"/>
              <a:chExt cx="7810500" cy="2286000"/>
            </a:xfrm>
          </p:grpSpPr>
          <p:sp>
            <p:nvSpPr>
              <p:cNvPr id="371" name="Google Shape;371;p24"/>
              <p:cNvSpPr txBox="1"/>
              <p:nvPr/>
            </p:nvSpPr>
            <p:spPr>
              <a:xfrm>
                <a:off x="190500" y="381000"/>
                <a:ext cx="2667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48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$0</a:t>
                </a:r>
                <a:endParaRPr sz="4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21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暫繳額度</a:t>
                </a:r>
                <a:endParaRPr sz="21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設立首年專屬優惠</a:t>
                </a:r>
                <a:endParaRPr sz="10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grpSp>
            <p:nvGrpSpPr>
              <p:cNvPr id="372" name="Google Shape;372;p24"/>
              <p:cNvGrpSpPr/>
              <p:nvPr/>
            </p:nvGrpSpPr>
            <p:grpSpPr>
              <a:xfrm>
                <a:off x="3238500" y="0"/>
                <a:ext cx="4762500" cy="2286000"/>
                <a:chOff x="0" y="0"/>
                <a:chExt cx="4762500" cy="2286000"/>
              </a:xfrm>
            </p:grpSpPr>
            <p:sp>
              <p:nvSpPr>
                <p:cNvPr id="373" name="Google Shape;373;p24"/>
                <p:cNvSpPr/>
                <p:nvPr/>
              </p:nvSpPr>
              <p:spPr>
                <a:xfrm>
                  <a:off x="0" y="0"/>
                  <a:ext cx="4762500" cy="2286000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9525" cap="flat" cmpd="sng">
                  <a:solidFill>
                    <a:srgbClr val="E8E5DA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" name="Google Shape;374;p24"/>
                <p:cNvSpPr txBox="1"/>
                <p:nvPr/>
              </p:nvSpPr>
              <p:spPr>
                <a:xfrm>
                  <a:off x="304800" y="304800"/>
                  <a:ext cx="4152900" cy="167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zh-TW" sz="1650" b="1">
                      <a:solidFill>
                        <a:srgbClr val="5A7557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營所稅暫繳說明</a:t>
                  </a:r>
                  <a:endParaRPr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500"/>
                    </a:spcBef>
                    <a:spcAft>
                      <a:spcPts val="0"/>
                    </a:spcAft>
                    <a:buNone/>
                  </a:pPr>
                  <a:r>
                    <a:rPr lang="zh-TW" sz="1200" b="0">
                      <a:solidFill>
                        <a:srgbClr val="2D4333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每年 9 月需預繳上年度稅額的一半，但設立第一年免辦理暫繳，保留充足營運現金流。</a:t>
                  </a:r>
                  <a:endParaRPr sz="120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800"/>
                    </a:spcBef>
                    <a:spcAft>
                      <a:spcPts val="0"/>
                    </a:spcAft>
                    <a:buNone/>
                  </a:pPr>
                  <a:r>
                    <a:rPr lang="zh-TW" sz="1050" b="1">
                      <a:solidFill>
                        <a:srgbClr val="C55D4D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溫馨提醒：第二年 9 月起就要提前準備。</a:t>
                  </a:r>
                  <a:endParaRPr sz="1050" b="1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</p:txBody>
            </p:sp>
          </p:grpSp>
        </p:grpSp>
        <p:grpSp>
          <p:nvGrpSpPr>
            <p:cNvPr id="375" name="Google Shape;375;p24"/>
            <p:cNvGrpSpPr/>
            <p:nvPr/>
          </p:nvGrpSpPr>
          <p:grpSpPr>
            <a:xfrm>
              <a:off x="571500" y="4667250"/>
              <a:ext cx="8001000" cy="285750"/>
              <a:chOff x="0" y="0"/>
              <a:chExt cx="8001000" cy="285750"/>
            </a:xfrm>
          </p:grpSpPr>
          <p:cxnSp>
            <p:nvCxnSpPr>
              <p:cNvPr id="376" name="Google Shape;376;p24"/>
              <p:cNvCxnSpPr/>
              <p:nvPr/>
            </p:nvCxnSpPr>
            <p:spPr>
              <a:xfrm>
                <a:off x="0" y="0"/>
                <a:ext cx="80010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77" name="Google Shape;377;p24"/>
              <p:cNvSpPr txBox="1"/>
              <p:nvPr/>
            </p:nvSpPr>
            <p:spPr>
              <a:xfrm>
                <a:off x="0" y="95250"/>
                <a:ext cx="3810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大葉園藝有限公司 ✕ 稅務顧問團隊 | 企業轉型與稅務規劃指南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378" name="Google Shape;378;p24"/>
              <p:cNvSpPr txBox="1"/>
              <p:nvPr/>
            </p:nvSpPr>
            <p:spPr>
              <a:xfrm>
                <a:off x="7048500" y="95250"/>
                <a:ext cx="9525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2026.08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animBg="1"/>
      <p:bldP spid="36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5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4" name="Google Shape;384;p25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87" name="Google Shape;387;p25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88" name="Google Shape;388;p25"/>
          <p:cNvGrpSpPr/>
          <p:nvPr/>
        </p:nvGrpSpPr>
        <p:grpSpPr>
          <a:xfrm>
            <a:off x="571500" y="952500"/>
            <a:ext cx="6819900" cy="952500"/>
            <a:chOff x="0" y="0"/>
            <a:chExt cx="6819900" cy="952500"/>
          </a:xfrm>
        </p:grpSpPr>
        <p:sp>
          <p:nvSpPr>
            <p:cNvPr id="390" name="Google Shape;390;p25"/>
            <p:cNvSpPr txBox="1"/>
            <p:nvPr/>
          </p:nvSpPr>
          <p:spPr>
            <a:xfrm>
              <a:off x="152400" y="0"/>
              <a:ext cx="666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公司的錢 ≠ 老闆的錢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盈餘分配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1" name="Google Shape;391;p25"/>
          <p:cNvGrpSpPr/>
          <p:nvPr/>
        </p:nvGrpSpPr>
        <p:grpSpPr>
          <a:xfrm>
            <a:off x="571500" y="2095500"/>
            <a:ext cx="3619500" cy="2095500"/>
            <a:chOff x="0" y="0"/>
            <a:chExt cx="3619500" cy="2095500"/>
          </a:xfrm>
        </p:grpSpPr>
        <p:sp>
          <p:nvSpPr>
            <p:cNvPr id="392" name="Google Shape;392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合法拿錢</a:t>
              </a:r>
              <a:endParaRPr sz="13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發薪水給自己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年底盈餘分配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合法報銷車馬費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7" name="Google Shape;397;p25"/>
          <p:cNvGrpSpPr/>
          <p:nvPr/>
        </p:nvGrpSpPr>
        <p:grpSpPr>
          <a:xfrm>
            <a:off x="4333875" y="2905125"/>
            <a:ext cx="476400" cy="476400"/>
            <a:chOff x="0" y="0"/>
            <a:chExt cx="476400" cy="476400"/>
          </a:xfrm>
        </p:grpSpPr>
        <p:sp>
          <p:nvSpPr>
            <p:cNvPr id="398" name="Google Shape;398;p25"/>
            <p:cNvSpPr/>
            <p:nvPr/>
          </p:nvSpPr>
          <p:spPr>
            <a:xfrm>
              <a:off x="0" y="0"/>
              <a:ext cx="476400" cy="476400"/>
            </a:xfrm>
            <a:prstGeom prst="ellipse">
              <a:avLst/>
            </a:prstGeom>
            <a:solidFill>
              <a:srgbClr val="FAF9F6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5"/>
            <p:cNvSpPr txBox="1"/>
            <p:nvPr/>
          </p:nvSpPr>
          <p:spPr>
            <a:xfrm>
              <a:off x="0" y="95250"/>
              <a:ext cx="476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VS</a:t>
              </a:r>
              <a:endParaRPr sz="12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0" name="Google Shape;400;p25"/>
          <p:cNvGrpSpPr/>
          <p:nvPr/>
        </p:nvGrpSpPr>
        <p:grpSpPr>
          <a:xfrm>
            <a:off x="4953000" y="2095500"/>
            <a:ext cx="3619500" cy="2095500"/>
            <a:chOff x="0" y="0"/>
            <a:chExt cx="3619500" cy="2095500"/>
          </a:xfrm>
        </p:grpSpPr>
        <p:sp>
          <p:nvSpPr>
            <p:cNvPr id="401" name="Google Shape;401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違法拿錢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私領現金轉入「股東往來」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面臨「設算利息收入」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60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甚至「業務侵占罪責」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6" name="Google Shape;406;p25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07" name="Google Shape;407;p2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08" name="Google Shape;408;p25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09" name="Google Shape;409;p25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6"/>
          <p:cNvSpPr/>
          <p:nvPr/>
        </p:nvSpPr>
        <p:spPr>
          <a:xfrm>
            <a:off x="-2667000" y="-2667000"/>
            <a:ext cx="5334000" cy="5334000"/>
          </a:xfrm>
          <a:prstGeom prst="ellipse">
            <a:avLst/>
          </a:prstGeom>
          <a:solidFill>
            <a:srgbClr val="7C9878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6" name="Google Shape;416;p2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19" name="Google Shape;419;p2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0" name="Google Shape;420;p26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22" name="Google Shape;422;p26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不分配就加徵 5%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未分配盈餘稅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423" name="Google Shape;423;p26"/>
          <p:cNvSpPr txBox="1"/>
          <p:nvPr/>
        </p:nvSpPr>
        <p:spPr>
          <a:xfrm>
            <a:off x="571500" y="2000250"/>
            <a:ext cx="3810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分配順序：補、提、分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① 彌補以往虧損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② 提列 10% 法定盈餘公積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③ 分派股息紅利</a:t>
            </a:r>
            <a:endParaRPr>
              <a:solidFill>
                <a:srgbClr val="5A7557"/>
              </a:solidFill>
            </a:endParaRPr>
          </a:p>
        </p:txBody>
      </p:sp>
      <p:grpSp>
        <p:nvGrpSpPr>
          <p:cNvPr id="424" name="Google Shape;424;p26"/>
          <p:cNvGrpSpPr/>
          <p:nvPr/>
        </p:nvGrpSpPr>
        <p:grpSpPr>
          <a:xfrm>
            <a:off x="4572000" y="1809750"/>
            <a:ext cx="4000500" cy="1905000"/>
            <a:chOff x="0" y="0"/>
            <a:chExt cx="4000500" cy="1905000"/>
          </a:xfrm>
        </p:grpSpPr>
        <p:sp>
          <p:nvSpPr>
            <p:cNvPr id="425" name="Google Shape;425;p26"/>
            <p:cNvSpPr/>
            <p:nvPr/>
          </p:nvSpPr>
          <p:spPr>
            <a:xfrm>
              <a:off x="0" y="0"/>
              <a:ext cx="4000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6"/>
            <p:cNvSpPr txBox="1"/>
            <p:nvPr/>
          </p:nvSpPr>
          <p:spPr>
            <a:xfrm>
              <a:off x="228600" y="228600"/>
              <a:ext cx="35433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節稅解法：實質投資</a:t>
              </a:r>
              <a:endParaRPr sz="15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125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依產創條例 §23-3，購置設備、溫室擴建、買工程貨車，</a:t>
              </a:r>
              <a:r>
                <a:rPr lang="zh-TW" sz="1125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免徵 5% 稅額！</a:t>
              </a:r>
              <a:endParaRPr sz="1125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7" name="Google Shape;427;p26"/>
          <p:cNvGrpSpPr/>
          <p:nvPr/>
        </p:nvGrpSpPr>
        <p:grpSpPr>
          <a:xfrm>
            <a:off x="571500" y="3905250"/>
            <a:ext cx="8001000" cy="571500"/>
            <a:chOff x="0" y="0"/>
            <a:chExt cx="8001000" cy="571500"/>
          </a:xfrm>
        </p:grpSpPr>
        <p:sp>
          <p:nvSpPr>
            <p:cNvPr id="428" name="Google Shape;428;p26"/>
            <p:cNvSpPr/>
            <p:nvPr/>
          </p:nvSpPr>
          <p:spPr>
            <a:xfrm>
              <a:off x="0" y="0"/>
              <a:ext cx="8001000" cy="571500"/>
            </a:xfrm>
            <a:prstGeom prst="roundRect">
              <a:avLst>
                <a:gd name="adj" fmla="val 20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 txBox="1"/>
            <p:nvPr/>
          </p:nvSpPr>
          <p:spPr>
            <a:xfrm>
              <a:off x="285750" y="0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「老闆，有擴建計畫，這筆稅就能省下來！」</a:t>
              </a:r>
              <a:endParaRPr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30" name="Google Shape;430;p2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31" name="Google Shape;431;p2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32" name="Google Shape;432;p2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33" name="Google Shape;433;p2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4" grpId="0" animBg="1"/>
      <p:bldP spid="4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27"/>
          <p:cNvSpPr/>
          <p:nvPr/>
        </p:nvSpPr>
        <p:spPr>
          <a:xfrm>
            <a:off x="4953000" y="11430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27"/>
          <p:cNvSpPr/>
          <p:nvPr/>
        </p:nvSpPr>
        <p:spPr>
          <a:xfrm>
            <a:off x="-476250" y="-1428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1" name="Google Shape;441;p2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44" name="Google Shape;444;p2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5" name="Google Shape;445;p2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47" name="Google Shape;447;p2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第一年稅務行事曆（以 2 月設立為例）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TIMELINE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8" name="Google Shape;448;p27"/>
          <p:cNvGrpSpPr/>
          <p:nvPr/>
        </p:nvGrpSpPr>
        <p:grpSpPr>
          <a:xfrm>
            <a:off x="-95250" y="1714500"/>
            <a:ext cx="9382275" cy="2333775"/>
            <a:chOff x="-666750" y="-1143000"/>
            <a:chExt cx="9382275" cy="2333775"/>
          </a:xfrm>
        </p:grpSpPr>
        <p:cxnSp>
          <p:nvCxnSpPr>
            <p:cNvPr id="449" name="Google Shape;449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450" name="Google Shape;450;p27"/>
            <p:cNvGrpSpPr/>
            <p:nvPr/>
          </p:nvGrpSpPr>
          <p:grpSpPr>
            <a:xfrm>
              <a:off x="-6667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53" name="Google Shape;45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4" name="Google Shape;45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設立、稅籍+CTP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55" name="Google Shape;455;p27"/>
            <p:cNvGrpSpPr/>
            <p:nvPr/>
          </p:nvGrpSpPr>
          <p:grpSpPr>
            <a:xfrm>
              <a:off x="9334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58" name="Google Shape;45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9" name="Google Shape;45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首次營業稅(403)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0" name="Google Shape;460;p27"/>
            <p:cNvGrpSpPr/>
            <p:nvPr/>
          </p:nvGrpSpPr>
          <p:grpSpPr>
            <a:xfrm>
              <a:off x="25336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63" name="Google Shape;46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4" name="Google Shape;46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5-11月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雙月報營業稅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5" name="Google Shape;465;p27"/>
            <p:cNvGrpSpPr/>
            <p:nvPr/>
          </p:nvGrpSpPr>
          <p:grpSpPr>
            <a:xfrm>
              <a:off x="41338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68" name="Google Shape;46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9" name="Google Shape;46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9月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首年免暫繳</a:t>
                </a:r>
                <a:endParaRPr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0" name="Google Shape;470;p27"/>
            <p:cNvGrpSpPr/>
            <p:nvPr/>
          </p:nvGrpSpPr>
          <p:grpSpPr>
            <a:xfrm>
              <a:off x="57340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73" name="Google Shape;473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4" name="Google Shape;47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1月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lvl="0" algn="ctr">
                  <a:spcBef>
                    <a:spcPts val="300"/>
                  </a:spcBef>
                </a:pPr>
                <a:r>
                  <a:rPr lang="zh-TW" sz="1050" b="1" dirty="0" smtClean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 </a:t>
                </a: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年底進項調整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5" name="Google Shape;475;p27"/>
            <p:cNvGrpSpPr/>
            <p:nvPr/>
          </p:nvGrpSpPr>
          <p:grpSpPr>
            <a:xfrm>
              <a:off x="7286625" y="-95250"/>
              <a:ext cx="1428900" cy="1286025"/>
              <a:chOff x="-714375" y="-95250"/>
              <a:chExt cx="1428900" cy="1286025"/>
            </a:xfrm>
          </p:grpSpPr>
          <p:pic>
            <p:nvPicPr>
              <p:cNvPr id="478" name="Google Shape;478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9" name="Google Shape;479;p27"/>
              <p:cNvSpPr txBox="1"/>
              <p:nvPr/>
            </p:nvSpPr>
            <p:spPr>
              <a:xfrm>
                <a:off x="-714375" y="523875"/>
                <a:ext cx="14289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5月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首次營所稅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480" name="Google Shape;480;p27"/>
          <p:cNvGrpSpPr/>
          <p:nvPr/>
        </p:nvGrpSpPr>
        <p:grpSpPr>
          <a:xfrm>
            <a:off x="1714500" y="4000500"/>
            <a:ext cx="5715000" cy="476400"/>
            <a:chOff x="0" y="0"/>
            <a:chExt cx="5715000" cy="476400"/>
          </a:xfrm>
        </p:grpSpPr>
        <p:sp>
          <p:nvSpPr>
            <p:cNvPr id="481" name="Google Shape;481;p27"/>
            <p:cNvSpPr/>
            <p:nvPr/>
          </p:nvSpPr>
          <p:spPr>
            <a:xfrm>
              <a:off x="0" y="0"/>
              <a:ext cx="5715000" cy="476400"/>
            </a:xfrm>
            <a:prstGeom prst="roundRect">
              <a:avLst>
                <a:gd name="adj" fmla="val 24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7"/>
            <p:cNvSpPr txBox="1"/>
            <p:nvPr/>
          </p:nvSpPr>
          <p:spPr>
            <a:xfrm>
              <a:off x="0" y="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全程由顧問團隊專業把關，關鍵節點提前提醒 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83" name="Google Shape;483;p2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84" name="Google Shape;484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85" name="Google Shape;485;p2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86" name="Google Shape;486;p2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讓您專心種樹 稅的事交給我們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 → 盈餘。一條龍專業服務，全年稅務無死角。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PresentationFormat>如螢幕大小 (16:9)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Arial</vt:lpstr>
      <vt:lpstr>Noto Sans TC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cp:lastModifiedBy>User</cp:lastModifiedBy>
  <cp:revision>2</cp:revision>
  <dcterms:modified xsi:type="dcterms:W3CDTF">2026-08-25T08:17:53Z</dcterms:modified>
</cp:coreProperties>
</file>