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188720"/>
            <a:ext cx="32004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6348"/>
                </a:solidFill>
                <a:latin typeface="Noto Sans TC"/>
              </a:defRPr>
            </a:pPr>
            <a:r>
              <a:t>大葉園藝有限公司  ✕  稅務顧問團隊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669"/>
              </a:lnSpc>
              <a:defRPr sz="5800" b="1">
                <a:solidFill>
                  <a:srgbClr val="4E3C28"/>
                </a:solidFill>
                <a:latin typeface="Noto Sans TC"/>
              </a:defRPr>
            </a:pPr>
            <a:r>
              <a:t>您的綠色事業</a:t>
            </a:r>
            <a:br/>
            <a:r>
              <a:t>我們來守護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880"/>
              </a:lnSpc>
              <a:defRPr sz="1800" b="0">
                <a:solidFill>
                  <a:srgbClr val="7A6348"/>
                </a:solidFill>
                <a:latin typeface="Noto Sans TC"/>
              </a:defRPr>
            </a:pPr>
            <a:r>
              <a:t>從公司設立到首年稅務規劃</a:t>
            </a:r>
            <a:br/>
            <a:r>
              <a:t>一條龍避坑指南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731520"/>
            <a:ext cx="1645920" cy="1645920"/>
          </a:xfrm>
          <a:prstGeom prst="ellipse">
            <a:avLst/>
          </a:prstGeom>
          <a:solidFill>
            <a:srgbClr val="9A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3200400"/>
            <a:ext cx="1097280" cy="1097280"/>
          </a:xfrm>
          <a:prstGeom prst="ellipse">
            <a:avLst/>
          </a:prstGeom>
          <a:solidFill>
            <a:srgbClr val="E0D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0" y="5029200"/>
            <a:ext cx="731520" cy="731520"/>
          </a:xfrm>
          <a:prstGeom prst="ellipse">
            <a:avLst/>
          </a:prstGeom>
          <a:solidFill>
            <a:srgbClr val="C8B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6348"/>
                </a:solidFill>
                <a:latin typeface="Noto Sans T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4E3C28"/>
                </a:solidFill>
                <a:latin typeface="Noto Sans TC"/>
              </a:defRPr>
            </a:pPr>
            <a:r>
              <a:t>今天要帶您走完的路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74320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🏢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4E3C28"/>
                </a:solidFill>
                <a:latin typeface="Noto Sans TC"/>
              </a:defRPr>
            </a:pPr>
            <a:r>
              <a:t>公司設立</a:t>
            </a:r>
          </a:p>
          <a:p>
            <a:pPr algn="ctr">
              <a:spcBef>
                <a:spcPts val="400"/>
              </a:spcBef>
              <a:defRPr sz="1100">
                <a:solidFill>
                  <a:srgbClr val="999999"/>
                </a:solidFill>
                <a:latin typeface="Noto Sans TC"/>
              </a:defRPr>
            </a:pPr>
            <a:r>
              <a:t>7 步驟完成開業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600" b="0">
                <a:solidFill>
                  <a:srgbClr val="7A6348"/>
                </a:solidFill>
                <a:latin typeface="Noto Sans TC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274320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🧾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4E3C28"/>
                </a:solidFill>
                <a:latin typeface="Noto Sans TC"/>
              </a:defRPr>
            </a:pPr>
            <a:r>
              <a:t>營業稅申報</a:t>
            </a:r>
          </a:p>
          <a:p>
            <a:pPr algn="ctr">
              <a:spcBef>
                <a:spcPts val="400"/>
              </a:spcBef>
              <a:defRPr sz="1100">
                <a:solidFill>
                  <a:srgbClr val="999999"/>
                </a:solidFill>
                <a:latin typeface="Noto Sans TC"/>
              </a:defRPr>
            </a:pPr>
            <a:r>
              <a:t>401 / 403 搞懂它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9788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600" b="0">
                <a:solidFill>
                  <a:srgbClr val="7A6348"/>
                </a:solidFill>
                <a:latin typeface="Noto Sans TC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4320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💰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4E3C28"/>
                </a:solidFill>
                <a:latin typeface="Noto Sans TC"/>
              </a:defRPr>
            </a:pPr>
            <a:r>
              <a:t>營所稅結算</a:t>
            </a:r>
          </a:p>
          <a:p>
            <a:pPr algn="ctr">
              <a:spcBef>
                <a:spcPts val="400"/>
              </a:spcBef>
              <a:defRPr sz="1100">
                <a:solidFill>
                  <a:srgbClr val="999999"/>
                </a:solidFill>
                <a:latin typeface="Noto Sans TC"/>
              </a:defRPr>
            </a:pPr>
            <a:r>
              <a:t>書審省稅策略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356616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600" b="0">
                <a:solidFill>
                  <a:srgbClr val="7A6348"/>
                </a:solidFill>
                <a:latin typeface="Noto Sans TC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39" y="2743200"/>
            <a:ext cx="2194560" cy="2560320"/>
          </a:xfrm>
          <a:prstGeom prst="roundRect">
            <a:avLst>
              <a:gd name="adj" fmla="val 4000"/>
            </a:avLst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/>
            </a:pPr>
            <a:r>
              <a:t>📊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4E3C28"/>
                </a:solidFill>
                <a:latin typeface="Noto Sans TC"/>
              </a:defRPr>
            </a:pPr>
            <a:r>
              <a:t>盈餘分配</a:t>
            </a:r>
          </a:p>
          <a:p>
            <a:pPr algn="ctr">
              <a:spcBef>
                <a:spcPts val="400"/>
              </a:spcBef>
              <a:defRPr sz="1100">
                <a:solidFill>
                  <a:srgbClr val="999999"/>
                </a:solidFill>
                <a:latin typeface="Noto Sans TC"/>
              </a:defRPr>
            </a:pPr>
            <a:r>
              <a:t>合法把錢拿出來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760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55"/>
              </a:lnSpc>
              <a:defRPr sz="1300" b="0">
                <a:solidFill>
                  <a:srgbClr val="999999"/>
                </a:solidFill>
                <a:latin typeface="Noto Sans TC"/>
              </a:defRPr>
            </a:pPr>
            <a:r>
              <a:t>客戶現況：陳老闆經營家族園藝 20 年，要正式轉型為有限公司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oto Sans T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CLIENT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4E3C28"/>
                </a:solidFill>
                <a:latin typeface="Noto Sans TC"/>
              </a:defRPr>
            </a:pPr>
            <a:r>
              <a:t>陳老闆的園藝夢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defRPr sz="1400" b="1">
                <a:solidFill>
                  <a:srgbClr val="6B7D5E"/>
                </a:solidFill>
                <a:latin typeface="Noto Sans TC"/>
              </a:defRPr>
            </a:pPr>
            <a:r>
              <a:t>現況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・家族園藝經營 20 年</a:t>
            </a:r>
          </a:p>
          <a:p>
            <a:pPr algn="l">
              <a:lnSpc>
                <a:spcPts val="225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・業務：花卉批發 + 庭園綠化施工</a:t>
            </a:r>
          </a:p>
          <a:p>
            <a:pPr algn="l">
              <a:lnSpc>
                <a:spcPts val="225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・企業客戶要求開發票</a:t>
            </a:r>
          </a:p>
          <a:p>
            <a:pPr algn="l">
              <a:lnSpc>
                <a:spcPts val="225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・想正式設立有限公司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defRPr sz="1400" b="1">
                <a:solidFill>
                  <a:srgbClr val="BB7265"/>
                </a:solidFill>
                <a:latin typeface="Noto Sans TC"/>
              </a:defRPr>
            </a:pPr>
            <a:r>
              <a:t>痛點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301752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・不知道設立流程要多久</a:t>
            </a:r>
          </a:p>
          <a:p>
            <a:pPr algn="l">
              <a:lnSpc>
                <a:spcPts val="225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・搞不清楚賣花到底要不要繳稅</a:t>
            </a:r>
          </a:p>
          <a:p>
            <a:pPr algn="l">
              <a:lnSpc>
                <a:spcPts val="225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・聽說年底有很多稅要報</a:t>
            </a:r>
          </a:p>
          <a:p>
            <a:pPr algn="l">
              <a:lnSpc>
                <a:spcPts val="225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・公司賺的錢怎麼合法拿出來？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oto Sans T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PART 1 — 公司設立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4E3C28"/>
                </a:solidFill>
                <a:latin typeface="Noto Sans TC"/>
              </a:defRPr>
            </a:pPr>
            <a:r>
              <a:t>7 步驟完成公司設立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Noto Sans TC"/>
              </a:defRPr>
            </a:pPr>
            <a:r>
              <a:t>1</a:t>
            </a:r>
          </a:p>
          <a:p>
            <a:pPr algn="ctr">
              <a:spcBef>
                <a:spcPts val="200"/>
              </a:spcBef>
              <a:defRPr sz="1100">
                <a:solidFill>
                  <a:srgbClr val="FFFFFF"/>
                </a:solidFill>
                <a:latin typeface="Noto Sans TC"/>
              </a:defRPr>
            </a:pPr>
            <a:r>
              <a:t>名稱預查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14600" y="2468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Noto Sans TC"/>
              </a:defRPr>
            </a:pPr>
            <a:r>
              <a:t>2</a:t>
            </a:r>
          </a:p>
          <a:p>
            <a:pPr algn="ctr">
              <a:spcBef>
                <a:spcPts val="200"/>
              </a:spcBef>
              <a:defRPr sz="1100">
                <a:solidFill>
                  <a:srgbClr val="FFFFFF"/>
                </a:solidFill>
                <a:latin typeface="Noto Sans TC"/>
              </a:defRPr>
            </a:pPr>
            <a:r>
              <a:t>確定地址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468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Noto Sans TC"/>
              </a:defRPr>
            </a:pPr>
            <a:r>
              <a:t>3</a:t>
            </a:r>
          </a:p>
          <a:p>
            <a:pPr algn="ctr">
              <a:spcBef>
                <a:spcPts val="200"/>
              </a:spcBef>
              <a:defRPr sz="1100">
                <a:solidFill>
                  <a:srgbClr val="FFFFFF"/>
                </a:solidFill>
                <a:latin typeface="Noto Sans TC"/>
              </a:defRPr>
            </a:pPr>
            <a:r>
              <a:t>銀行籌備戶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49240" y="2468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Noto Sans TC"/>
              </a:defRPr>
            </a:pPr>
            <a:r>
              <a:t>4</a:t>
            </a:r>
          </a:p>
          <a:p>
            <a:pPr algn="ctr">
              <a:spcBef>
                <a:spcPts val="200"/>
              </a:spcBef>
              <a:defRPr sz="1100">
                <a:solidFill>
                  <a:srgbClr val="FFFFFF"/>
                </a:solidFill>
                <a:latin typeface="Noto Sans TC"/>
              </a:defRPr>
            </a:pPr>
            <a:r>
              <a:t>會計師驗資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468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Noto Sans TC"/>
              </a:defRPr>
            </a:pPr>
            <a:r>
              <a:t>5</a:t>
            </a:r>
          </a:p>
          <a:p>
            <a:pPr algn="ctr">
              <a:spcBef>
                <a:spcPts val="200"/>
              </a:spcBef>
              <a:defRPr sz="1100">
                <a:solidFill>
                  <a:srgbClr val="FFFFFF"/>
                </a:solidFill>
                <a:latin typeface="Noto Sans TC"/>
              </a:defRPr>
            </a:pPr>
            <a:r>
              <a:t>設立登記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2468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Noto Sans TC"/>
              </a:defRPr>
            </a:pPr>
            <a:r>
              <a:t>6</a:t>
            </a:r>
          </a:p>
          <a:p>
            <a:pPr algn="ctr">
              <a:spcBef>
                <a:spcPts val="200"/>
              </a:spcBef>
              <a:defRPr sz="1100">
                <a:solidFill>
                  <a:srgbClr val="FFFFFF"/>
                </a:solidFill>
                <a:latin typeface="Noto Sans TC"/>
              </a:defRPr>
            </a:pPr>
            <a:r>
              <a:t>稅籍登記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46888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BB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FFFFFF"/>
                </a:solidFill>
                <a:latin typeface="Noto Sans TC"/>
              </a:defRPr>
            </a:pPr>
            <a:r>
              <a:t>7</a:t>
            </a:r>
          </a:p>
          <a:p>
            <a:pPr algn="ctr">
              <a:spcBef>
                <a:spcPts val="200"/>
              </a:spcBef>
              <a:defRPr sz="1100">
                <a:solidFill>
                  <a:srgbClr val="FFFFFF"/>
                </a:solidFill>
                <a:latin typeface="Noto Sans TC"/>
              </a:defRPr>
            </a:pPr>
            <a:r>
              <a:t>CTP 申報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3840480"/>
            <a:ext cx="4572000" cy="2286000"/>
          </a:xfrm>
          <a:prstGeom prst="roundRect">
            <a:avLst>
              <a:gd name="adj" fmla="val 3000"/>
            </a:avLst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E3C28"/>
                </a:solidFill>
                <a:latin typeface="Noto Sans TC"/>
              </a:defRPr>
            </a:pPr>
            <a:r>
              <a:t>建議資本額：100 萬</a:t>
            </a:r>
          </a:p>
          <a:p>
            <a:br/>
            <a:pPr>
              <a:defRPr sz="1400">
                <a:solidFill>
                  <a:srgbClr val="2C2C2C"/>
                </a:solidFill>
                <a:latin typeface="Noto Sans TC"/>
              </a:defRPr>
            </a:pPr>
            <a:r>
              <a:t>費用估算：NT$6,000 ~ 12,000</a:t>
            </a:r>
          </a:p>
          <a:p>
            <a:pPr>
              <a:defRPr sz="1100">
                <a:solidFill>
                  <a:srgbClr val="999999"/>
                </a:solidFill>
                <a:latin typeface="Noto Sans TC"/>
              </a:defRPr>
            </a:pPr>
            <a:r>
              <a:t>（含規費、會計師驗資）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40480"/>
            <a:ext cx="5029200" cy="2286000"/>
          </a:xfrm>
          <a:prstGeom prst="roundRect">
            <a:avLst>
              <a:gd name="adj" fmla="val 3000"/>
            </a:avLst>
          </a:prstGeom>
          <a:solidFill>
            <a:srgbClr val="F5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BB7265"/>
                </a:solidFill>
                <a:latin typeface="Noto Sans TC"/>
              </a:defRPr>
            </a:pPr>
            <a:r>
              <a:t>⏰ 關鍵期限：15 天</a:t>
            </a:r>
          </a:p>
          <a:p>
            <a:br/>
            <a:pPr>
              <a:defRPr sz="1300">
                <a:solidFill>
                  <a:srgbClr val="2C2C2C"/>
                </a:solidFill>
                <a:latin typeface="Noto Sans TC"/>
              </a:defRPr>
            </a:pPr>
            <a:r>
              <a:t>・驗資後 15 日內 → 送設立登記</a:t>
            </a:r>
          </a:p>
          <a:p>
            <a:pPr>
              <a:defRPr sz="1300">
                <a:solidFill>
                  <a:srgbClr val="2C2C2C"/>
                </a:solidFill>
                <a:latin typeface="Noto Sans TC"/>
              </a:defRPr>
            </a:pPr>
            <a:r>
              <a:t>・設立後 15 日內 → 稅籍登記</a:t>
            </a:r>
          </a:p>
          <a:p>
            <a:pPr>
              <a:defRPr sz="1300">
                <a:solidFill>
                  <a:srgbClr val="2C2C2C"/>
                </a:solidFill>
                <a:latin typeface="Noto Sans TC"/>
              </a:defRPr>
            </a:pPr>
            <a:r>
              <a:t>・設立後 15 日內 → CTP 申報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oto Sans T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3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A5C"/>
                </a:solidFill>
                <a:latin typeface="Noto Sans TC"/>
              </a:defRPr>
            </a:pPr>
            <a:r>
              <a:t>⚠️  DANGER ZONE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130"/>
              </a:lnSpc>
              <a:defRPr sz="3800" b="1">
                <a:solidFill>
                  <a:srgbClr val="FAF7F2"/>
                </a:solidFill>
                <a:latin typeface="Noto Sans TC"/>
              </a:defRPr>
            </a:pPr>
            <a:r>
              <a:t>兩大致命地雷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1828800" cy="25400"/>
          </a:xfrm>
          <a:prstGeom prst="rect">
            <a:avLst/>
          </a:prstGeom>
          <a:solidFill>
            <a:srgbClr val="B8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4754880" cy="3474720"/>
          </a:xfrm>
          <a:prstGeom prst="roundRect">
            <a:avLst>
              <a:gd name="adj" fmla="val 4000"/>
            </a:avLst>
          </a:prstGeom>
          <a:solidFill>
            <a:srgbClr val="6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Noto Sans TC"/>
              </a:defRPr>
            </a:pPr>
            <a:r>
              <a:t>💣 驗資過水</a:t>
            </a:r>
          </a:p>
          <a:p>
            <a:br/>
            <a:pPr>
              <a:defRPr sz="1300">
                <a:solidFill>
                  <a:srgbClr val="FAF7F2"/>
                </a:solidFill>
                <a:latin typeface="Noto Sans TC"/>
              </a:defRPr>
            </a:pPr>
            <a:r>
              <a:t>驗資完就把錢抽走</a:t>
            </a:r>
          </a:p>
          <a:p>
            <a:pPr>
              <a:defRPr sz="1300">
                <a:solidFill>
                  <a:srgbClr val="FAF7F2"/>
                </a:solidFill>
                <a:latin typeface="Noto Sans TC"/>
              </a:defRPr>
            </a:pPr>
            <a:r>
              <a:t>等於虛設資本</a:t>
            </a:r>
          </a:p>
          <a:p>
            <a:pPr>
              <a:defRPr sz="1300">
                <a:solidFill>
                  <a:srgbClr val="FAF7F2"/>
                </a:solidFill>
                <a:latin typeface="Noto Sans TC"/>
              </a:defRPr>
            </a:pPr>
          </a:p>
          <a:p>
            <a:pPr>
              <a:defRPr sz="1300">
                <a:solidFill>
                  <a:srgbClr val="FAF7F2"/>
                </a:solidFill>
                <a:latin typeface="Noto Sans TC"/>
              </a:defRPr>
            </a:pPr>
            <a:r>
              <a:t>公司法 §9</a:t>
            </a:r>
          </a:p>
          <a:p>
            <a:br/>
            <a:pPr>
              <a:defRPr sz="2600" b="1">
                <a:solidFill>
                  <a:srgbClr val="BB7265"/>
                </a:solidFill>
                <a:latin typeface="Noto Sans TC"/>
              </a:defRPr>
            </a:pPr>
            <a:r>
              <a:t>最重刑責 5 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560320"/>
            <a:ext cx="4754880" cy="3474720"/>
          </a:xfrm>
          <a:prstGeom prst="roundRect">
            <a:avLst>
              <a:gd name="adj" fmla="val 4000"/>
            </a:avLst>
          </a:prstGeom>
          <a:solidFill>
            <a:srgbClr val="6A4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Noto Sans TC"/>
              </a:defRPr>
            </a:pPr>
            <a:r>
              <a:t>💣 漏報 CTP</a:t>
            </a:r>
          </a:p>
          <a:p>
            <a:br/>
            <a:pPr>
              <a:defRPr sz="1300">
                <a:solidFill>
                  <a:srgbClr val="FAF7F2"/>
                </a:solidFill>
                <a:latin typeface="Noto Sans TC"/>
              </a:defRPr>
            </a:pPr>
            <a:r>
              <a:t>公司法 §22-1</a:t>
            </a:r>
          </a:p>
          <a:p>
            <a:pPr>
              <a:defRPr sz="1300">
                <a:solidFill>
                  <a:srgbClr val="FAF7F2"/>
                </a:solidFill>
                <a:latin typeface="Noto Sans TC"/>
              </a:defRPr>
            </a:pPr>
            <a:r>
              <a:t>主要股東資訊申報</a:t>
            </a:r>
          </a:p>
          <a:p>
            <a:pPr>
              <a:defRPr sz="1300">
                <a:solidFill>
                  <a:srgbClr val="FAF7F2"/>
                </a:solidFill>
                <a:latin typeface="Noto Sans TC"/>
              </a:defRPr>
            </a:pPr>
          </a:p>
          <a:p>
            <a:pPr>
              <a:defRPr sz="1300">
                <a:solidFill>
                  <a:srgbClr val="FAF7F2"/>
                </a:solidFill>
                <a:latin typeface="Noto Sans TC"/>
              </a:defRPr>
            </a:pPr>
            <a:r>
              <a:t>忘記 15 日內申報</a:t>
            </a:r>
          </a:p>
          <a:p>
            <a:br/>
            <a:pPr>
              <a:defRPr sz="2600" b="1">
                <a:solidFill>
                  <a:srgbClr val="BB7265"/>
                </a:solidFill>
                <a:latin typeface="Noto Sans TC"/>
              </a:defRPr>
            </a:pPr>
            <a:r>
              <a:t>罰 5 萬 ~ 500 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88A5C"/>
                </a:solidFill>
                <a:latin typeface="Noto Sans T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PART 2 — 收入分類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4E3C28"/>
                </a:solidFill>
                <a:latin typeface="Noto Sans TC"/>
              </a:defRPr>
            </a:pPr>
            <a:r>
              <a:t>免稅 vs 應稅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營業稅法 §8 第1項第19款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40280"/>
            <a:ext cx="18288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E8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97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defRPr sz="1600" b="1">
                <a:solidFill>
                  <a:srgbClr val="6B8F5E"/>
                </a:solidFill>
                <a:latin typeface="Noto Sans TC"/>
              </a:defRPr>
            </a:pPr>
            <a:r>
              <a:t>✅ 免稅（未加工）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200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切花（直接採收販售）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盆栽（塑膠/素燒陶土/木材容器）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花卉批發（原始產物）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種苗販售（種子、球根）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網路賣原始花卉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F5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6974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defRPr sz="1600" b="1">
                <a:solidFill>
                  <a:srgbClr val="BB7265"/>
                </a:solidFill>
                <a:latin typeface="Noto Sans TC"/>
              </a:defRPr>
            </a:pPr>
            <a:r>
              <a:t>❌ 應稅（加工 / 勞務）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乾燥花（改變原始性質）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花藝禮盒（包裝設計）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園藝維護服務（除草、修剪）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景觀設計施工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高級瓷器/玻璃盆栽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oto Sans T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PART 2 — 申報書選用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130"/>
              </a:lnSpc>
              <a:defRPr sz="3800" b="1">
                <a:solidFill>
                  <a:srgbClr val="4E3C28"/>
                </a:solidFill>
                <a:latin typeface="Noto Sans TC"/>
              </a:defRPr>
            </a:pPr>
            <a:r>
              <a:t>401 vs 403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164592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Noto Sans TC"/>
              </a:defRPr>
            </a:pPr>
            <a:r>
              <a:t>類型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468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Noto Sans TC"/>
              </a:defRPr>
            </a:pPr>
            <a:r>
              <a:t>說明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468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99999"/>
                </a:solidFill>
                <a:latin typeface="Noto Sans TC"/>
              </a:defRPr>
            </a:pPr>
            <a:r>
              <a:t>申報書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788920"/>
            <a:ext cx="9966960" cy="12700"/>
          </a:xfrm>
          <a:prstGeom prst="rect">
            <a:avLst/>
          </a:prstGeom>
          <a:solidFill>
            <a:srgbClr val="E0D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3C28"/>
                </a:solidFill>
                <a:latin typeface="Noto Sans TC"/>
              </a:defRPr>
            </a:pPr>
            <a:r>
              <a:t>專營應稅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260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Noto Sans TC"/>
              </a:defRPr>
            </a:pPr>
            <a:r>
              <a:t>所有收入都是應稅（如餐廳、科技公司）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926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99999"/>
                </a:solidFill>
                <a:latin typeface="Noto Sans TC"/>
              </a:defRPr>
            </a:pPr>
            <a:r>
              <a:t>401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474720"/>
            <a:ext cx="9966960" cy="12700"/>
          </a:xfrm>
          <a:prstGeom prst="rect">
            <a:avLst/>
          </a:prstGeom>
          <a:solidFill>
            <a:srgbClr val="E0D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E3C28"/>
                </a:solidFill>
                <a:latin typeface="Noto Sans TC"/>
              </a:defRPr>
            </a:pPr>
            <a:r>
              <a:t>專營免稅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6118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Noto Sans TC"/>
              </a:defRPr>
            </a:pPr>
            <a:r>
              <a:t>所有收入都是免稅（如農會）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6118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999999"/>
                </a:solidFill>
                <a:latin typeface="Noto Sans TC"/>
              </a:defRPr>
            </a:pPr>
            <a:r>
              <a:t>401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160520"/>
            <a:ext cx="9966960" cy="12700"/>
          </a:xfrm>
          <a:prstGeom prst="rect">
            <a:avLst/>
          </a:prstGeom>
          <a:solidFill>
            <a:srgbClr val="E0D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9768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A6348"/>
                </a:solidFill>
                <a:latin typeface="Noto Sans TC"/>
              </a:defRPr>
            </a:pPr>
            <a:r>
              <a:t>⭐ 兼營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976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2C2C"/>
                </a:solidFill>
                <a:latin typeface="Noto Sans TC"/>
              </a:defRPr>
            </a:pPr>
            <a:r>
              <a:t>同時有應稅＋免稅收入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2976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7A6348"/>
                </a:solidFill>
                <a:latin typeface="Noto Sans TC"/>
              </a:defRPr>
            </a:pPr>
            <a:r>
              <a:t>403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5029200"/>
            <a:ext cx="9966960" cy="1097280"/>
          </a:xfrm>
          <a:prstGeom prst="roundRect">
            <a:avLst>
              <a:gd name="adj" fmla="val 3000"/>
            </a:avLst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  <a:latin typeface="Noto Sans TC"/>
              </a:defRPr>
            </a:pPr>
            <a:r>
              <a:t>💡 口訣：「專營四零一，兼營四零三」</a:t>
            </a:r>
          </a:p>
          <a:p>
            <a:pPr algn="ctr">
              <a:defRPr sz="1300">
                <a:solidFill>
                  <a:srgbClr val="FAF7F2"/>
                </a:solidFill>
                <a:latin typeface="Noto Sans TC"/>
              </a:defRPr>
            </a:pPr>
            <a:r>
              <a:t>大葉園藝賣花（免稅）又做工程（應稅）→ 兼營 → 403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6348"/>
                </a:solidFill>
                <a:latin typeface="Noto Sans T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PART 2 — 進項稅額分攤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4E3C28"/>
                </a:solidFill>
                <a:latin typeface="Noto Sans TC"/>
              </a:defRPr>
            </a:pPr>
            <a:r>
              <a:t>年底大魔王：進項比例調整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4754880" cy="3474720"/>
          </a:xfrm>
          <a:prstGeom prst="roundRect">
            <a:avLst>
              <a:gd name="adj" fmla="val 3000"/>
            </a:avLst>
          </a:prstGeom>
          <a:solidFill>
            <a:srgbClr val="F0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6B7D5E"/>
                </a:solidFill>
                <a:latin typeface="Noto Sans TC"/>
              </a:defRPr>
            </a:pPr>
            <a:r>
              <a:t>📋 平時（每 2 個月）</a:t>
            </a:r>
          </a:p>
          <a:p>
            <a:br/>
            <a:pPr>
              <a:defRPr sz="1300">
                <a:solidFill>
                  <a:srgbClr val="2C2C2C"/>
                </a:solidFill>
                <a:latin typeface="Noto Sans TC"/>
              </a:defRPr>
            </a:pPr>
            <a:r>
              <a:t>依當期免稅/應稅銷售額比例</a:t>
            </a:r>
          </a:p>
          <a:p>
            <a:pPr>
              <a:defRPr sz="1300">
                <a:solidFill>
                  <a:srgbClr val="2C2C2C"/>
                </a:solidFill>
                <a:latin typeface="Noto Sans TC"/>
              </a:defRPr>
            </a:pPr>
            <a:r>
              <a:t>計算不可扣抵的進項稅額</a:t>
            </a:r>
          </a:p>
          <a:p>
            <a:pPr>
              <a:defRPr sz="1300">
                <a:solidFill>
                  <a:srgbClr val="2C2C2C"/>
                </a:solidFill>
                <a:latin typeface="Noto Sans TC"/>
              </a:defRPr>
            </a:pPr>
          </a:p>
          <a:p>
            <a:pPr>
              <a:defRPr sz="1300" b="1">
                <a:solidFill>
                  <a:srgbClr val="2C2C2C"/>
                </a:solidFill>
                <a:latin typeface="Noto Sans TC"/>
              </a:defRPr>
            </a:pPr>
            <a:r>
              <a:t>申報期限：單數月 15 日前</a:t>
            </a:r>
          </a:p>
          <a:p>
            <a:pPr>
              <a:defRPr sz="1300" b="1">
                <a:solidFill>
                  <a:srgbClr val="2C2C2C"/>
                </a:solidFill>
                <a:latin typeface="Noto Sans TC"/>
              </a:defRPr>
            </a:pPr>
            <a:r>
              <a:t>稅率：5%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468880"/>
            <a:ext cx="4754880" cy="3474720"/>
          </a:xfrm>
          <a:prstGeom prst="roundRect">
            <a:avLst>
              <a:gd name="adj" fmla="val 3000"/>
            </a:avLst>
          </a:prstGeom>
          <a:solidFill>
            <a:srgbClr val="BB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Noto Sans TC"/>
              </a:defRPr>
            </a:pPr>
            <a:r>
              <a:t>⚠️ 年底（最後一期）</a:t>
            </a:r>
          </a:p>
          <a:p>
            <a:br/>
            <a:pPr>
              <a:defRPr sz="1300">
                <a:solidFill>
                  <a:srgbClr val="FFFFFF"/>
                </a:solidFill>
                <a:latin typeface="Noto Sans TC"/>
              </a:defRPr>
            </a:pPr>
            <a:r>
              <a:t>11-12 月期（隔年 1/15 前申報）</a:t>
            </a: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  <a:r>
              <a:t>必須把全年銷售額加總</a:t>
            </a: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  <a:r>
              <a:t>重新精算「全年度不得扣抵比例」</a:t>
            </a: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  <a:r>
              <a:t>忘記做 → 虛報進項</a:t>
            </a:r>
          </a:p>
          <a:p>
            <a:pPr>
              <a:defRPr sz="1600" b="1">
                <a:solidFill>
                  <a:srgbClr val="FFFFFF"/>
                </a:solidFill>
                <a:latin typeface="Noto Sans TC"/>
              </a:defRPr>
            </a:pPr>
            <a:r>
              <a:t>→ 連補帶罰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oto Sans T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PART 3 — 營所稅策略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4E3C28"/>
                </a:solidFill>
                <a:latin typeface="Noto Sans TC"/>
              </a:defRPr>
            </a:pPr>
            <a:r>
              <a:t>三種申報方式比較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468880"/>
            <a:ext cx="3108960" cy="3657600"/>
          </a:xfrm>
          <a:prstGeom prst="roundRect">
            <a:avLst>
              <a:gd name="adj" fmla="val 4000"/>
            </a:avLst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468880"/>
            <a:ext cx="3108960" cy="457200"/>
          </a:xfrm>
          <a:prstGeom prst="roundRect">
            <a:avLst>
              <a:gd name="adj" fmla="val 4000"/>
            </a:avLst>
          </a:prstGeom>
          <a:solidFill>
            <a:srgbClr val="6B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487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TC"/>
              </a:defRPr>
            </a:pPr>
            <a:r>
              <a:t>擴大書審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營收 &lt; 3,000 萬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純益率 ~4%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查帳風險：極低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</a:p>
          <a:p>
            <a:pPr algn="l">
              <a:lnSpc>
                <a:spcPts val="1950"/>
              </a:lnSpc>
              <a:spcBef>
                <a:spcPts val="300"/>
              </a:spcBef>
              <a:defRPr sz="1300" b="1">
                <a:solidFill>
                  <a:srgbClr val="6B8F5E"/>
                </a:solidFill>
                <a:latin typeface="Noto Sans TC"/>
              </a:defRPr>
            </a:pPr>
            <a:r>
              <a:t>✅ 推薦首年使用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468880"/>
            <a:ext cx="3108960" cy="3657600"/>
          </a:xfrm>
          <a:prstGeom prst="roundRect">
            <a:avLst>
              <a:gd name="adj" fmla="val 4000"/>
            </a:avLst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26280" y="2468880"/>
            <a:ext cx="3108960" cy="457200"/>
          </a:xfrm>
          <a:prstGeom prst="roundRect">
            <a:avLst>
              <a:gd name="adj" fmla="val 4000"/>
            </a:avLst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487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TC"/>
              </a:defRPr>
            </a:pPr>
            <a:r>
              <a:t>所得額標準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31089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無營收限制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淨利率 10%~11%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查帳風險：中等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帳務較完整時可選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2468880"/>
            <a:ext cx="3108960" cy="3657600"/>
          </a:xfrm>
          <a:prstGeom prst="roundRect">
            <a:avLst>
              <a:gd name="adj" fmla="val 4000"/>
            </a:avLst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2468880"/>
            <a:ext cx="3108960" cy="457200"/>
          </a:xfrm>
          <a:prstGeom prst="roundRect">
            <a:avLst>
              <a:gd name="adj" fmla="val 4000"/>
            </a:avLst>
          </a:prstGeom>
          <a:solidFill>
            <a:srgbClr val="BB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24871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Noto Sans TC"/>
              </a:defRPr>
            </a:pPr>
            <a:r>
              <a:t>同業利潤標準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108960"/>
            <a:ext cx="2560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無營收限制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利潤率 &gt;15%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  <a:r>
              <a:t>國稅局直接核定</a:t>
            </a:r>
          </a:p>
          <a:p>
            <a:pPr algn="l">
              <a:lnSpc>
                <a:spcPts val="1950"/>
              </a:lnSpc>
              <a:spcBef>
                <a:spcPts val="300"/>
              </a:spcBef>
              <a:defRPr sz="1300" b="0">
                <a:solidFill>
                  <a:srgbClr val="2C2C2C"/>
                </a:solidFill>
                <a:latin typeface="Noto Sans TC"/>
              </a:defRPr>
            </a:pPr>
          </a:p>
          <a:p>
            <a:pPr algn="l">
              <a:lnSpc>
                <a:spcPts val="1950"/>
              </a:lnSpc>
              <a:spcBef>
                <a:spcPts val="300"/>
              </a:spcBef>
              <a:defRPr sz="1300" b="1">
                <a:solidFill>
                  <a:srgbClr val="BB7265"/>
                </a:solidFill>
                <a:latin typeface="Noto Sans TC"/>
              </a:defRPr>
            </a:pPr>
            <a:r>
              <a:t>⚠️ 被動適用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6348"/>
                </a:solidFill>
                <a:latin typeface="Noto Sans T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3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A5C"/>
                </a:solidFill>
                <a:latin typeface="Noto Sans TC"/>
              </a:defRPr>
            </a:pPr>
            <a:r>
              <a:t>⚠️  TRAP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FAF7F2"/>
                </a:solidFill>
                <a:latin typeface="Noto Sans TC"/>
              </a:defRPr>
            </a:pPr>
            <a:r>
              <a:t>全年化地雷：只賺 5 萬也要繳稅？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1828800" cy="25400"/>
          </a:xfrm>
          <a:prstGeom prst="rect">
            <a:avLst/>
          </a:prstGeom>
          <a:solidFill>
            <a:srgbClr val="B8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85"/>
              </a:lnSpc>
              <a:defRPr sz="1100" b="0">
                <a:solidFill>
                  <a:srgbClr val="B88A5C"/>
                </a:solidFill>
                <a:latin typeface="Noto Sans TC"/>
              </a:defRPr>
            </a:pPr>
            <a:r>
              <a:t>三大公式：≤12 萬免稅  |  12~20 萬減半  |  &gt;20 萬 ×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4754880" cy="3017520"/>
          </a:xfrm>
          <a:prstGeom prst="roundRect">
            <a:avLst>
              <a:gd name="adj" fmla="val 3000"/>
            </a:avLst>
          </a:prstGeom>
          <a:solidFill>
            <a:srgbClr val="5A3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BB7265"/>
                </a:solidFill>
                <a:latin typeface="Noto Sans TC"/>
              </a:defRPr>
            </a:pPr>
            <a:r>
              <a:t>❌ 常見錯誤</a:t>
            </a:r>
          </a:p>
          <a:p>
            <a:br/>
            <a:pPr>
              <a:defRPr sz="1400">
                <a:solidFill>
                  <a:srgbClr val="FAF7F2"/>
                </a:solidFill>
                <a:latin typeface="Noto Sans TC"/>
              </a:defRPr>
            </a:pPr>
            <a:r>
              <a:t>11 月設立，營業 2 個月</a:t>
            </a:r>
          </a:p>
          <a:p>
            <a:pPr>
              <a:defRPr sz="1400">
                <a:solidFill>
                  <a:srgbClr val="FAF7F2"/>
                </a:solidFill>
                <a:latin typeface="Noto Sans TC"/>
              </a:defRPr>
            </a:pPr>
            <a:r>
              <a:t>實際只賺 5 萬</a:t>
            </a:r>
          </a:p>
          <a:p>
            <a:pPr>
              <a:defRPr sz="1400">
                <a:solidFill>
                  <a:srgbClr val="FAF7F2"/>
                </a:solidFill>
                <a:latin typeface="Noto Sans TC"/>
              </a:defRPr>
            </a:pPr>
          </a:p>
          <a:p>
            <a:pPr>
              <a:defRPr sz="1400">
                <a:solidFill>
                  <a:srgbClr val="FAF7F2"/>
                </a:solidFill>
                <a:latin typeface="Noto Sans TC"/>
              </a:defRPr>
            </a:pPr>
            <a:r>
              <a:t>「5 萬 &lt; 12 萬 → 免稅！」</a:t>
            </a:r>
          </a:p>
          <a:p>
            <a:br/>
            <a:pPr>
              <a:defRPr sz="2200" b="1">
                <a:solidFill>
                  <a:srgbClr val="BB7265"/>
                </a:solidFill>
                <a:latin typeface="Noto Sans TC"/>
              </a:defRPr>
            </a:pPr>
            <a:r>
              <a:t>→ 大錯特錯！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4754880" cy="3017520"/>
          </a:xfrm>
          <a:prstGeom prst="roundRect">
            <a:avLst>
              <a:gd name="adj" fmla="val 3000"/>
            </a:avLst>
          </a:prstGeom>
          <a:solidFill>
            <a:srgbClr val="3A4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6B8F5E"/>
                </a:solidFill>
                <a:latin typeface="Noto Sans TC"/>
              </a:defRPr>
            </a:pPr>
            <a:r>
              <a:t>✅ 正確算法</a:t>
            </a:r>
          </a:p>
          <a:p>
            <a:br/>
            <a:pPr>
              <a:defRPr sz="1400">
                <a:solidFill>
                  <a:srgbClr val="FAF7F2"/>
                </a:solidFill>
                <a:latin typeface="Noto Sans TC"/>
              </a:defRPr>
            </a:pPr>
            <a:r>
              <a:t>① 放大：5萬 × 12÷2 = 30 萬</a:t>
            </a:r>
          </a:p>
          <a:p>
            <a:pPr>
              <a:defRPr sz="1400">
                <a:solidFill>
                  <a:srgbClr val="FAF7F2"/>
                </a:solidFill>
                <a:latin typeface="Noto Sans TC"/>
              </a:defRPr>
            </a:pPr>
            <a:r>
              <a:t>② 套公式：30萬 × 20% = 6 萬</a:t>
            </a:r>
          </a:p>
          <a:p>
            <a:pPr>
              <a:defRPr sz="1400">
                <a:solidFill>
                  <a:srgbClr val="FAF7F2"/>
                </a:solidFill>
                <a:latin typeface="Noto Sans TC"/>
              </a:defRPr>
            </a:pPr>
            <a:r>
              <a:t>③ 縮回：6萬 × 2÷12 =</a:t>
            </a:r>
          </a:p>
          <a:p>
            <a:br/>
            <a:pPr>
              <a:defRPr sz="3000" b="1">
                <a:solidFill>
                  <a:srgbClr val="FFFFFF"/>
                </a:solidFill>
                <a:latin typeface="Noto Sans TC"/>
              </a:defRPr>
            </a:pPr>
            <a:r>
              <a:t>  NT$10,000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61264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defRPr sz="1600" b="0">
                <a:solidFill>
                  <a:srgbClr val="FAF7F2"/>
                </a:solidFill>
                <a:latin typeface="Noto Sans TC"/>
              </a:defRPr>
            </a:pPr>
            <a:r>
              <a:t>口訣：「放大 → 套 → 縮」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88A5C"/>
                </a:solidFill>
                <a:latin typeface="Noto Sans T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7D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9720"/>
              </a:lnSpc>
              <a:defRPr sz="7200" b="0">
                <a:solidFill>
                  <a:srgbClr val="FFFFFF"/>
                </a:solidFill>
                <a:latin typeface="Noto Sans TC"/>
              </a:defRPr>
            </a:pPr>
            <a:r>
              <a:t>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90"/>
              </a:lnSpc>
              <a:defRPr sz="4600" b="1">
                <a:solidFill>
                  <a:srgbClr val="FFFFFF"/>
                </a:solidFill>
                <a:latin typeface="Noto Sans TC"/>
              </a:defRPr>
            </a:pPr>
            <a:r>
              <a:t>恭喜老闆</a:t>
            </a:r>
            <a:br/>
            <a:r>
              <a:t>首年免暫繳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4297680"/>
            <a:ext cx="210312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572000"/>
            <a:ext cx="7589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25"/>
              </a:lnSpc>
              <a:defRPr sz="1500" b="0">
                <a:solidFill>
                  <a:srgbClr val="FFFFFF"/>
                </a:solidFill>
                <a:latin typeface="Noto Sans TC"/>
              </a:defRPr>
            </a:pPr>
            <a:r>
              <a:t>每年 9 月要預繳上年度稅額的一半</a:t>
            </a:r>
          </a:p>
          <a:p>
            <a:pPr algn="ctr">
              <a:lnSpc>
                <a:spcPts val="2025"/>
              </a:lnSpc>
              <a:spcBef>
                <a:spcPts val="600"/>
              </a:spcBef>
              <a:defRPr sz="1500" b="1">
                <a:solidFill>
                  <a:srgbClr val="FFFFFF"/>
                </a:solidFill>
                <a:latin typeface="Noto Sans TC"/>
              </a:defRPr>
            </a:pPr>
            <a:r>
              <a:t>但第一年免辦理</a:t>
            </a:r>
          </a:p>
          <a:p>
            <a:pPr algn="l">
              <a:lnSpc>
                <a:spcPts val="1620"/>
              </a:lnSpc>
              <a:spcBef>
                <a:spcPts val="1000"/>
              </a:spcBef>
              <a:defRPr sz="1200" b="0">
                <a:solidFill>
                  <a:srgbClr val="2C2C2C"/>
                </a:solidFill>
                <a:latin typeface="Noto Sans TC"/>
              </a:defRPr>
            </a:pPr>
          </a:p>
          <a:p>
            <a:pPr algn="ctr">
              <a:lnSpc>
                <a:spcPts val="1755"/>
              </a:lnSpc>
              <a:spcBef>
                <a:spcPts val="0"/>
              </a:spcBef>
              <a:defRPr sz="1300" b="0">
                <a:solidFill>
                  <a:srgbClr val="9AAA8B"/>
                </a:solidFill>
                <a:latin typeface="Noto Sans TC"/>
              </a:defRPr>
            </a:pPr>
            <a:r>
              <a:t>⚠️ 第二年 9 月起就要準備了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AAA8B"/>
                </a:solidFill>
                <a:latin typeface="Noto Sans T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PART 4 — 盈餘分配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4E3C28"/>
                </a:solidFill>
                <a:latin typeface="Noto Sans TC"/>
              </a:defRPr>
            </a:pPr>
            <a:r>
              <a:t>公司的錢 ≠ 老闆的錢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97280" y="2560320"/>
            <a:ext cx="4754880" cy="3474720"/>
          </a:xfrm>
          <a:prstGeom prst="roundRect">
            <a:avLst>
              <a:gd name="adj" fmla="val 3000"/>
            </a:avLst>
          </a:prstGeom>
          <a:solidFill>
            <a:srgbClr val="E8F0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743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95"/>
              </a:lnSpc>
              <a:defRPr sz="1700" b="1">
                <a:solidFill>
                  <a:srgbClr val="6B8F5E"/>
                </a:solidFill>
                <a:latin typeface="Noto Sans TC"/>
              </a:defRPr>
            </a:pPr>
            <a:r>
              <a:t>✅ 合法拿錢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2004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700"/>
              </a:lnSpc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・發薪水給自己</a:t>
            </a:r>
          </a:p>
          <a:p>
            <a:pPr algn="l">
              <a:lnSpc>
                <a:spcPts val="270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・年底盈餘分配</a:t>
            </a:r>
          </a:p>
          <a:p>
            <a:pPr algn="l">
              <a:lnSpc>
                <a:spcPts val="270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・車馬費（依規定）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38404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970"/>
              </a:lnSpc>
              <a:defRPr sz="2200" b="1">
                <a:solidFill>
                  <a:srgbClr val="7A6348"/>
                </a:solidFill>
                <a:latin typeface="Noto Sans TC"/>
              </a:defRPr>
            </a:pPr>
            <a:r>
              <a:t>vs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560320"/>
            <a:ext cx="4754880" cy="3474720"/>
          </a:xfrm>
          <a:prstGeom prst="roundRect">
            <a:avLst>
              <a:gd name="adj" fmla="val 3000"/>
            </a:avLst>
          </a:prstGeom>
          <a:solidFill>
            <a:srgbClr val="F5E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95"/>
              </a:lnSpc>
              <a:defRPr sz="1700" b="1">
                <a:solidFill>
                  <a:srgbClr val="BB7265"/>
                </a:solidFill>
                <a:latin typeface="Noto Sans TC"/>
              </a:defRPr>
            </a:pPr>
            <a:r>
              <a:t>❌ 違法拿錢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389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・直接從公司帳戶領走</a:t>
            </a:r>
          </a:p>
          <a:p>
            <a:pPr algn="l">
              <a:lnSpc>
                <a:spcPts val="2400"/>
              </a:lnSpc>
              <a:spcBef>
                <a:spcPts val="400"/>
              </a:spcBef>
              <a:defRPr sz="1500" b="0">
                <a:solidFill>
                  <a:srgbClr val="BB7265"/>
                </a:solidFill>
                <a:latin typeface="Noto Sans TC"/>
              </a:defRPr>
            </a:pPr>
            <a:r>
              <a:t>  → 股東往來</a:t>
            </a:r>
          </a:p>
          <a:p>
            <a:pPr algn="l">
              <a:lnSpc>
                <a:spcPts val="2400"/>
              </a:lnSpc>
              <a:spcBef>
                <a:spcPts val="200"/>
              </a:spcBef>
              <a:defRPr sz="1500" b="0">
                <a:solidFill>
                  <a:srgbClr val="BB7265"/>
                </a:solidFill>
                <a:latin typeface="Noto Sans TC"/>
              </a:defRPr>
            </a:pPr>
            <a:r>
              <a:t>  → 設算利息收入</a:t>
            </a:r>
          </a:p>
          <a:p>
            <a:pPr algn="l">
              <a:lnSpc>
                <a:spcPts val="2400"/>
              </a:lnSpc>
              <a:spcBef>
                <a:spcPts val="200"/>
              </a:spcBef>
              <a:defRPr sz="1500" b="1">
                <a:solidFill>
                  <a:srgbClr val="BB7265"/>
                </a:solidFill>
                <a:latin typeface="Noto Sans TC"/>
              </a:defRPr>
            </a:pPr>
            <a:r>
              <a:t>  → 甚至涉及侵占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99999"/>
                </a:solidFill>
                <a:latin typeface="Noto Sans T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99999"/>
                </a:solidFill>
                <a:latin typeface="Noto Sans TC"/>
              </a:defRPr>
            </a:pPr>
            <a:r>
              <a:t>PART 4 — 未分配盈餘稅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4E3C28"/>
                </a:solidFill>
                <a:latin typeface="Noto Sans TC"/>
              </a:defRPr>
            </a:pPr>
            <a:r>
              <a:t>不分配就加徵 5%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011680"/>
            <a:ext cx="22860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90"/>
              </a:lnSpc>
              <a:defRPr sz="1400" b="1">
                <a:solidFill>
                  <a:srgbClr val="7A6348"/>
                </a:solidFill>
                <a:latin typeface="Noto Sans TC"/>
              </a:defRPr>
            </a:pPr>
            <a:r>
              <a:t>分配順序：「補、提、分」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50"/>
              </a:lnSpc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① 彌補以往年度虧損</a:t>
            </a:r>
          </a:p>
          <a:p>
            <a:pPr algn="l">
              <a:lnSpc>
                <a:spcPts val="255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② 提列 10% 法定公積</a:t>
            </a:r>
          </a:p>
          <a:p>
            <a:pPr algn="l">
              <a:lnSpc>
                <a:spcPts val="2550"/>
              </a:lnSpc>
              <a:spcBef>
                <a:spcPts val="400"/>
              </a:spcBef>
              <a:defRPr sz="1500" b="0">
                <a:solidFill>
                  <a:srgbClr val="2C2C2C"/>
                </a:solidFill>
                <a:latin typeface="Noto Sans TC"/>
              </a:defRPr>
            </a:pPr>
            <a:r>
              <a:t>③ 股息或紅利</a:t>
            </a:r>
          </a:p>
          <a:p>
            <a:pPr algn="l">
              <a:lnSpc>
                <a:spcPts val="1620"/>
              </a:lnSpc>
              <a:spcBef>
                <a:spcPts val="1000"/>
              </a:spcBef>
              <a:defRPr sz="1200" b="0">
                <a:solidFill>
                  <a:srgbClr val="2C2C2C"/>
                </a:solidFill>
                <a:latin typeface="Noto Sans TC"/>
              </a:defRPr>
            </a:pPr>
          </a:p>
          <a:p>
            <a:pPr algn="l">
              <a:lnSpc>
                <a:spcPts val="1755"/>
              </a:lnSpc>
              <a:spcBef>
                <a:spcPts val="400"/>
              </a:spcBef>
              <a:defRPr sz="1300" b="0">
                <a:solidFill>
                  <a:srgbClr val="999999"/>
                </a:solidFill>
                <a:latin typeface="Noto Sans TC"/>
              </a:defRPr>
            </a:pPr>
            <a:r>
              <a:t>如果到隔年底前沒有分配</a:t>
            </a:r>
          </a:p>
          <a:p>
            <a:pPr algn="l">
              <a:lnSpc>
                <a:spcPts val="1890"/>
              </a:lnSpc>
              <a:spcBef>
                <a:spcPts val="200"/>
              </a:spcBef>
              <a:defRPr sz="1400" b="1">
                <a:solidFill>
                  <a:srgbClr val="BB7265"/>
                </a:solidFill>
                <a:latin typeface="Noto Sans TC"/>
              </a:defRPr>
            </a:pPr>
            <a:r>
              <a:t>→ 加徵 5% 未分配盈餘稅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68880"/>
            <a:ext cx="4754880" cy="3657600"/>
          </a:xfrm>
          <a:prstGeom prst="roundRect">
            <a:avLst>
              <a:gd name="adj" fmla="val 3000"/>
            </a:avLst>
          </a:prstGeom>
          <a:solidFill>
            <a:srgbClr val="6B8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Noto Sans TC"/>
              </a:defRPr>
            </a:pPr>
            <a:r>
              <a:t>💡 節稅解法</a:t>
            </a:r>
          </a:p>
          <a:p>
            <a:br/>
            <a:pPr>
              <a:defRPr sz="2000" b="1">
                <a:solidFill>
                  <a:srgbClr val="FFFFFF"/>
                </a:solidFill>
                <a:latin typeface="Noto Sans TC"/>
              </a:defRPr>
            </a:pPr>
            <a:r>
              <a:t>實質投資</a:t>
            </a: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  <a:r>
              <a:t>買設備、蓋溫室、買貨車…</a:t>
            </a: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  <a:r>
              <a:t>符合產業創新條例 §23-3</a:t>
            </a:r>
          </a:p>
          <a:p>
            <a:pPr>
              <a:defRPr sz="1500" b="1">
                <a:solidFill>
                  <a:srgbClr val="FFFFFF"/>
                </a:solidFill>
                <a:latin typeface="Noto Sans TC"/>
              </a:defRPr>
            </a:pPr>
            <a:r>
              <a:t>→ 該金額免徵 5%！</a:t>
            </a: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  <a:r>
              <a:t>「老闆，有擴建計畫</a:t>
            </a:r>
          </a:p>
          <a:p>
            <a:pPr>
              <a:defRPr sz="1300">
                <a:solidFill>
                  <a:srgbClr val="FFFFFF"/>
                </a:solidFill>
                <a:latin typeface="Noto Sans TC"/>
              </a:defRPr>
            </a:pPr>
            <a:r>
              <a:t>  這筆稅就能省下來！」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6348"/>
                </a:solidFill>
                <a:latin typeface="Noto Sans T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E3C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822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88A5C"/>
                </a:solidFill>
                <a:latin typeface="Noto Sans TC"/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590"/>
              </a:lnSpc>
              <a:defRPr sz="3400" b="1">
                <a:solidFill>
                  <a:srgbClr val="FAF7F2"/>
                </a:solidFill>
                <a:latin typeface="Noto Sans TC"/>
              </a:defRPr>
            </a:pPr>
            <a:r>
              <a:t>第一年稅務行事曆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defRPr sz="1000" b="0">
                <a:solidFill>
                  <a:srgbClr val="B88A5C"/>
                </a:solidFill>
                <a:latin typeface="Noto Sans TC"/>
              </a:defRPr>
            </a:pPr>
            <a:r>
              <a:t>以 2 月設立為例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1828800" cy="25400"/>
          </a:xfrm>
          <a:prstGeom prst="rect">
            <a:avLst/>
          </a:prstGeom>
          <a:solidFill>
            <a:srgbClr val="B8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3657600"/>
            <a:ext cx="1033272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34440" y="3520440"/>
            <a:ext cx="201168" cy="201168"/>
          </a:xfrm>
          <a:prstGeom prst="ellipse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7F2"/>
                </a:solidFill>
                <a:latin typeface="Noto Sans TC"/>
              </a:defRPr>
            </a:pPr>
            <a:r>
              <a:t>2月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設立登記</a:t>
            </a:r>
            <a:br/>
            <a:r>
              <a:t>稅籍+CTP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3520440"/>
            <a:ext cx="201168" cy="201168"/>
          </a:xfrm>
          <a:prstGeom prst="ellipse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4028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7F2"/>
                </a:solidFill>
                <a:latin typeface="Noto Sans TC"/>
              </a:defRPr>
            </a:pPr>
            <a:r>
              <a:t>3月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42976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首次營業稅</a:t>
            </a:r>
            <a:br/>
            <a:r>
              <a:t>(403)</a:t>
            </a:r>
          </a:p>
        </p:txBody>
      </p:sp>
      <p:sp>
        <p:nvSpPr>
          <p:cNvPr id="13" name="Oval 12"/>
          <p:cNvSpPr/>
          <p:nvPr/>
        </p:nvSpPr>
        <p:spPr>
          <a:xfrm>
            <a:off x="3886200" y="3520440"/>
            <a:ext cx="201168" cy="201168"/>
          </a:xfrm>
          <a:prstGeom prst="ellipse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7F2"/>
                </a:solidFill>
                <a:latin typeface="Noto Sans TC"/>
              </a:defRPr>
            </a:pPr>
            <a:r>
              <a:t>5月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2976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3-4月</a:t>
            </a:r>
            <a:br/>
            <a:r>
              <a:t>營業稅</a:t>
            </a:r>
          </a:p>
        </p:txBody>
      </p:sp>
      <p:sp>
        <p:nvSpPr>
          <p:cNvPr id="16" name="Oval 15"/>
          <p:cNvSpPr/>
          <p:nvPr/>
        </p:nvSpPr>
        <p:spPr>
          <a:xfrm>
            <a:off x="5212080" y="3520440"/>
            <a:ext cx="201168" cy="201168"/>
          </a:xfrm>
          <a:prstGeom prst="ellipse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7F2"/>
                </a:solidFill>
                <a:latin typeface="Noto Sans TC"/>
              </a:defRPr>
            </a:pPr>
            <a:r>
              <a:t>7月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42976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5-6月</a:t>
            </a:r>
            <a:br/>
            <a:r>
              <a:t>營業稅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3520440"/>
            <a:ext cx="201168" cy="201168"/>
          </a:xfrm>
          <a:prstGeom prst="ellipse">
            <a:avLst/>
          </a:prstGeom>
          <a:solidFill>
            <a:srgbClr val="B8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A5C"/>
                </a:solidFill>
                <a:latin typeface="Noto Sans TC"/>
              </a:defRPr>
            </a:pPr>
            <a:r>
              <a:t>9月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2976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⭐ 首年</a:t>
            </a:r>
            <a:br/>
            <a:r>
              <a:t>免暫繳</a:t>
            </a:r>
          </a:p>
        </p:txBody>
      </p:sp>
      <p:sp>
        <p:nvSpPr>
          <p:cNvPr id="22" name="Oval 21"/>
          <p:cNvSpPr/>
          <p:nvPr/>
        </p:nvSpPr>
        <p:spPr>
          <a:xfrm>
            <a:off x="7863840" y="3520440"/>
            <a:ext cx="201168" cy="201168"/>
          </a:xfrm>
          <a:prstGeom prst="ellipse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4380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AF7F2"/>
                </a:solidFill>
                <a:latin typeface="Noto Sans TC"/>
              </a:defRPr>
            </a:pPr>
            <a:r>
              <a:t>11月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2976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9-10月</a:t>
            </a:r>
            <a:br/>
            <a:r>
              <a:t>營業稅</a:t>
            </a:r>
          </a:p>
        </p:txBody>
      </p:sp>
      <p:sp>
        <p:nvSpPr>
          <p:cNvPr id="25" name="Oval 24"/>
          <p:cNvSpPr/>
          <p:nvPr/>
        </p:nvSpPr>
        <p:spPr>
          <a:xfrm>
            <a:off x="9189720" y="3520440"/>
            <a:ext cx="201168" cy="201168"/>
          </a:xfrm>
          <a:prstGeom prst="ellipse">
            <a:avLst/>
          </a:prstGeom>
          <a:solidFill>
            <a:srgbClr val="B8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A5C"/>
                </a:solidFill>
                <a:latin typeface="Noto Sans TC"/>
              </a:defRPr>
            </a:pPr>
            <a:r>
              <a:t>隔年1月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2976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⚠️ 年底</a:t>
            </a:r>
            <a:br/>
            <a:r>
              <a:t>進項調整</a:t>
            </a:r>
          </a:p>
        </p:txBody>
      </p:sp>
      <p:sp>
        <p:nvSpPr>
          <p:cNvPr id="28" name="Oval 27"/>
          <p:cNvSpPr/>
          <p:nvPr/>
        </p:nvSpPr>
        <p:spPr>
          <a:xfrm>
            <a:off x="10515600" y="3520440"/>
            <a:ext cx="201168" cy="201168"/>
          </a:xfrm>
          <a:prstGeom prst="ellipse">
            <a:avLst/>
          </a:prstGeom>
          <a:solidFill>
            <a:srgbClr val="B88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3977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A5C"/>
                </a:solidFill>
                <a:latin typeface="Noto Sans TC"/>
              </a:defRPr>
            </a:pPr>
            <a:r>
              <a:t>隔年5月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4297680"/>
            <a:ext cx="1188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0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⚠️ 首次</a:t>
            </a:r>
            <a:br/>
            <a:r>
              <a:t>營所稅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585216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90"/>
              </a:lnSpc>
              <a:defRPr sz="1400" b="0">
                <a:solidFill>
                  <a:srgbClr val="FAF7F2"/>
                </a:solidFill>
                <a:latin typeface="Noto Sans TC"/>
              </a:defRPr>
            </a:pPr>
            <a:r>
              <a:t>全程由我們事務所把關，每個節點提前提醒 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B88A5C"/>
                </a:solidFill>
                <a:latin typeface="Noto Sans T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BE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371600"/>
            <a:ext cx="3200400" cy="25400"/>
          </a:xfrm>
          <a:prstGeom prst="rect">
            <a:avLst/>
          </a:prstGeom>
          <a:solidFill>
            <a:srgbClr val="7A6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A6348"/>
                </a:solidFill>
                <a:latin typeface="Noto Sans TC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980"/>
              </a:lnSpc>
              <a:defRPr sz="5200" b="1">
                <a:solidFill>
                  <a:srgbClr val="4E3C28"/>
                </a:solidFill>
                <a:latin typeface="Noto Sans TC"/>
              </a:defRPr>
            </a:pPr>
            <a:r>
              <a:t>讓您專心種樹</a:t>
            </a:r>
            <a:br/>
            <a:r>
              <a:t>稅的事交給我們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60"/>
              </a:lnSpc>
              <a:defRPr sz="1600" b="0">
                <a:solidFill>
                  <a:srgbClr val="7A6348"/>
                </a:solidFill>
                <a:latin typeface="Noto Sans TC"/>
              </a:defRPr>
            </a:pPr>
            <a:r>
              <a:t>設立 → 營業 → 報稅 → 盈餘</a:t>
            </a:r>
            <a:br/>
            <a:r>
              <a:t>一條龍服務，全年稅務無死角</a:t>
            </a:r>
          </a:p>
        </p:txBody>
      </p:sp>
      <p:sp>
        <p:nvSpPr>
          <p:cNvPr id="6" name="Oval 5"/>
          <p:cNvSpPr/>
          <p:nvPr/>
        </p:nvSpPr>
        <p:spPr>
          <a:xfrm>
            <a:off x="9601200" y="731520"/>
            <a:ext cx="1645920" cy="1645920"/>
          </a:xfrm>
          <a:prstGeom prst="ellipse">
            <a:avLst/>
          </a:prstGeom>
          <a:solidFill>
            <a:srgbClr val="9A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3200400"/>
            <a:ext cx="1097280" cy="1097280"/>
          </a:xfrm>
          <a:prstGeom prst="ellipse">
            <a:avLst/>
          </a:prstGeom>
          <a:solidFill>
            <a:srgbClr val="E0D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961120" y="5029200"/>
            <a:ext cx="731520" cy="731520"/>
          </a:xfrm>
          <a:prstGeom prst="ellipse">
            <a:avLst/>
          </a:prstGeom>
          <a:solidFill>
            <a:srgbClr val="C8BE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50"/>
              </a:lnSpc>
              <a:defRPr sz="1000" b="0">
                <a:solidFill>
                  <a:srgbClr val="999999"/>
                </a:solidFill>
                <a:latin typeface="Noto Sans TC"/>
              </a:defRPr>
            </a:pPr>
            <a:r>
              <a:t>大葉園藝有限公司  ✕  稅務顧問團隊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3550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7A6348"/>
                </a:solidFill>
                <a:latin typeface="Noto Sans T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