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7"/>
  </p:notesMasterIdLst>
  <p:sldIdLst>
    <p:sldId id="256" r:id="rId2"/>
    <p:sldId id="271" r:id="rId3"/>
    <p:sldId id="259" r:id="rId4"/>
    <p:sldId id="260" r:id="rId5"/>
    <p:sldId id="272" r:id="rId6"/>
    <p:sldId id="273" r:id="rId7"/>
    <p:sldId id="274" r:id="rId8"/>
    <p:sldId id="275" r:id="rId9"/>
    <p:sldId id="276" r:id="rId10"/>
    <p:sldId id="277" r:id="rId11"/>
    <p:sldId id="278" r:id="rId12"/>
    <p:sldId id="261" r:id="rId13"/>
    <p:sldId id="262" r:id="rId14"/>
    <p:sldId id="264" r:id="rId15"/>
    <p:sldId id="270" r:id="rId16"/>
  </p:sldIdLst>
  <p:sldSz cx="9144000" cy="5143500" type="screen16x9"/>
  <p:notesSz cx="6858000" cy="9144000"/>
  <p:embeddedFontLst>
    <p:embeddedFont>
      <p:font typeface="Noto Sans TC" panose="020B0200000000000000" pitchFamily="34" charset="-120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3" d="100"/>
          <a:sy n="143" d="100"/>
        </p:scale>
        <p:origin x="684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8579f0009_1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f8579f0009_1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8579f0009_1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8579f0009_1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f8579f0009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f8579f0009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f8579f0009_1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f8579f0009_1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f8579f0009_1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f8579f0009_1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f8579f0009_8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f8579f0009_8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f8579f0009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" name="Google Shape;489;g3f8579f0009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f8579f0009_1_0)">
  <p:cSld name="Generated (g3f8579f0009_1_0)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4"/>
          <p:cNvGrpSpPr/>
          <p:nvPr/>
        </p:nvGrpSpPr>
        <p:grpSpPr>
          <a:xfrm>
            <a:off x="-1428750" y="-1428750"/>
            <a:ext cx="12287250" cy="7429500"/>
            <a:chOff x="-1428750" y="-1428750"/>
            <a:chExt cx="12287250" cy="7429500"/>
          </a:xfrm>
        </p:grpSpPr>
        <p:sp>
          <p:nvSpPr>
            <p:cNvPr id="56" name="Google Shape;56;p14"/>
            <p:cNvSpPr/>
            <p:nvPr/>
          </p:nvSpPr>
          <p:spPr>
            <a:xfrm>
              <a:off x="6477000" y="476250"/>
              <a:ext cx="4191000" cy="4191000"/>
            </a:xfrm>
            <a:prstGeom prst="ellipse">
              <a:avLst/>
            </a:prstGeom>
            <a:solidFill>
              <a:srgbClr val="7C9878">
                <a:alpha val="6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4"/>
            <p:cNvSpPr/>
            <p:nvPr/>
          </p:nvSpPr>
          <p:spPr>
            <a:xfrm>
              <a:off x="7429500" y="2571750"/>
              <a:ext cx="3429000" cy="3429000"/>
            </a:xfrm>
            <a:prstGeom prst="ellipse">
              <a:avLst/>
            </a:prstGeom>
            <a:solidFill>
              <a:srgbClr val="5A7557">
                <a:alpha val="8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4"/>
            <p:cNvSpPr/>
            <p:nvPr/>
          </p:nvSpPr>
          <p:spPr>
            <a:xfrm>
              <a:off x="7524750" y="381000"/>
              <a:ext cx="1143000" cy="1143000"/>
            </a:xfrm>
            <a:prstGeom prst="ellipse">
              <a:avLst/>
            </a:prstGeom>
            <a:solidFill>
              <a:srgbClr val="5A7557">
                <a:alpha val="4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4"/>
            <p:cNvSpPr/>
            <p:nvPr/>
          </p:nvSpPr>
          <p:spPr>
            <a:xfrm>
              <a:off x="-1428750" y="-1428750"/>
              <a:ext cx="2857500" cy="2857500"/>
            </a:xfrm>
            <a:prstGeom prst="ellipse">
              <a:avLst/>
            </a:prstGeom>
            <a:solidFill>
              <a:srgbClr val="7C9878">
                <a:alpha val="3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" name="Google Shape;60;p14"/>
          <p:cNvGrpSpPr/>
          <p:nvPr/>
        </p:nvGrpSpPr>
        <p:grpSpPr>
          <a:xfrm>
            <a:off x="571500" y="381000"/>
            <a:ext cx="4305300" cy="438150"/>
            <a:chOff x="0" y="0"/>
            <a:chExt cx="4305300" cy="438150"/>
          </a:xfrm>
        </p:grpSpPr>
        <p:sp>
          <p:nvSpPr>
            <p:cNvPr id="63" name="Google Shape;63;p14"/>
            <p:cNvSpPr txBox="1"/>
            <p:nvPr/>
          </p:nvSpPr>
          <p:spPr>
            <a:xfrm>
              <a:off x="495300" y="57150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</a:t>
              </a:r>
              <a:r>
                <a:rPr lang="en-US" altLang="zh-TW" sz="1200" b="1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</a:t>
              </a:r>
              <a:r>
                <a:rPr lang="zh-TW" altLang="en-US" sz="1200" b="1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拾穗聯合會計事務所</a:t>
              </a:r>
              <a:endParaRPr sz="12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64" name="Google Shape;64;p14"/>
          <p:cNvSpPr txBox="1"/>
          <p:nvPr/>
        </p:nvSpPr>
        <p:spPr>
          <a:xfrm>
            <a:off x="571500" y="1905000"/>
            <a:ext cx="76200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50" b="1" dirty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您的綠色事業 我們來守護</a:t>
            </a:r>
            <a:endParaRPr sz="1650" b="1" dirty="0">
              <a:solidFill>
                <a:srgbClr val="5A7557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從公司設立到</a:t>
            </a:r>
            <a:r>
              <a:rPr lang="zh-TW" altLang="en-US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年度</a:t>
            </a: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稅務規劃</a:t>
            </a:r>
            <a:endParaRPr sz="3600" b="1" dirty="0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一條龍避坑指南</a:t>
            </a:r>
            <a:endParaRPr sz="3600" b="1" dirty="0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zh-TW" sz="1200" b="0" dirty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rPr>
              <a:t>專為大葉園藝量身打造的轉型策略與合規藍圖</a:t>
            </a:r>
            <a:endParaRPr sz="1200" b="0" dirty="0">
              <a:solidFill>
                <a:srgbClr val="7C9878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grpSp>
        <p:nvGrpSpPr>
          <p:cNvPr id="65" name="Google Shape;65;p14"/>
          <p:cNvGrpSpPr/>
          <p:nvPr/>
        </p:nvGrpSpPr>
        <p:grpSpPr>
          <a:xfrm>
            <a:off x="571500" y="4667250"/>
            <a:ext cx="8001000" cy="323850"/>
            <a:chOff x="0" y="0"/>
            <a:chExt cx="8001000" cy="323850"/>
          </a:xfrm>
        </p:grpSpPr>
        <p:cxnSp>
          <p:nvCxnSpPr>
            <p:cNvPr id="66" name="Google Shape;66;p14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67" name="Google Shape;67;p14"/>
            <p:cNvSpPr txBox="1"/>
            <p:nvPr/>
          </p:nvSpPr>
          <p:spPr>
            <a:xfrm>
              <a:off x="0" y="95250"/>
              <a:ext cx="4762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 dirty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</a:t>
              </a:r>
              <a:r>
                <a:rPr lang="zh-TW" altLang="en-US" sz="750" dirty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公司設立及稅務申報</a:t>
              </a:r>
              <a:endParaRPr sz="750" b="0" dirty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68" name="Google Shape;68;p14"/>
            <p:cNvSpPr txBox="1"/>
            <p:nvPr/>
          </p:nvSpPr>
          <p:spPr>
            <a:xfrm>
              <a:off x="7048500" y="95250"/>
              <a:ext cx="952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Noto Sans TC"/>
              </a:rPr>
              <a:t>成員介紹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1565633"/>
              </p:ext>
            </p:extLst>
          </p:nvPr>
        </p:nvGraphicFramePr>
        <p:xfrm>
          <a:off x="914400" y="13716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2000" b="1" dirty="0" err="1">
                          <a:latin typeface="Noto Sans TC"/>
                        </a:rPr>
                        <a:t>學號與名字</a:t>
                      </a:r>
                      <a:endParaRPr sz="2000" b="1" dirty="0">
                        <a:latin typeface="Noto Sans TC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latin typeface="Noto Sans TC"/>
                        </a:rPr>
                        <a:t>角色定位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latin typeface="Noto Sans TC"/>
                        </a:rPr>
                        <a:t>主講內容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latin typeface="Noto Sans TC"/>
                        </a:rPr>
                        <a:t>18 </a:t>
                      </a:r>
                      <a:r>
                        <a:rPr sz="1800" b="0" dirty="0" err="1">
                          <a:latin typeface="Noto Sans TC"/>
                        </a:rPr>
                        <a:t>素麗</a:t>
                      </a:r>
                      <a:endParaRPr sz="1800" b="0" dirty="0">
                        <a:latin typeface="Noto Sans TC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Noto Sans TC"/>
                        </a:rPr>
                        <a:t>提問客人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Noto Sans TC"/>
                        </a:rPr>
                        <a:t>主要問題提問者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Noto Sans TC"/>
                        </a:rPr>
                        <a:t>2 德詮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Noto Sans TC"/>
                        </a:rPr>
                        <a:t>會計師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Noto Sans TC"/>
                        </a:rPr>
                        <a:t>主要說明公司設立與流程規費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Noto Sans TC"/>
                        </a:rPr>
                        <a:t>13 瓊月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Noto Sans TC"/>
                        </a:rPr>
                        <a:t>專業顧問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 err="1">
                          <a:latin typeface="Noto Sans TC"/>
                        </a:rPr>
                        <a:t>營所稅、營業稅相關稅務問題</a:t>
                      </a:r>
                      <a:endParaRPr sz="1800" b="0" dirty="0">
                        <a:latin typeface="Noto Sans TC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5533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/>
          <p:nvPr/>
        </p:nvSpPr>
        <p:spPr>
          <a:xfrm>
            <a:off x="7715250" y="-1428750"/>
            <a:ext cx="2857500" cy="2857500"/>
          </a:xfrm>
          <a:prstGeom prst="ellipse">
            <a:avLst/>
          </a:prstGeom>
          <a:solidFill>
            <a:srgbClr val="5A7557">
              <a:alpha val="3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" name="Google Shape;133;p17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36" name="Google Shape;136;p17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37" name="Google Shape;137;p17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139" name="Google Shape;139;p17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1 — 公司設立</a:t>
              </a:r>
              <a:endParaRPr sz="1050" b="0" dirty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900"/>
                </a:spcAft>
                <a:buNone/>
              </a:pPr>
              <a:r>
                <a:rPr lang="zh-TW" altLang="en-US" sz="2100" b="1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公司設立步驟</a:t>
              </a:r>
              <a:endParaRPr sz="21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40" name="Google Shape;140;p17"/>
          <p:cNvGrpSpPr/>
          <p:nvPr/>
        </p:nvGrpSpPr>
        <p:grpSpPr>
          <a:xfrm>
            <a:off x="152400" y="2095500"/>
            <a:ext cx="8001000" cy="895500"/>
            <a:chOff x="-419100" y="0"/>
            <a:chExt cx="8001000" cy="895500"/>
          </a:xfrm>
        </p:grpSpPr>
        <p:grpSp>
          <p:nvGrpSpPr>
            <p:cNvPr id="141" name="Google Shape;141;p17"/>
            <p:cNvGrpSpPr/>
            <p:nvPr/>
          </p:nvGrpSpPr>
          <p:grpSpPr>
            <a:xfrm>
              <a:off x="-419100" y="0"/>
              <a:ext cx="1143000" cy="895500"/>
              <a:chOff x="-419100" y="0"/>
              <a:chExt cx="1143000" cy="895500"/>
            </a:xfrm>
          </p:grpSpPr>
          <p:sp>
            <p:nvSpPr>
              <p:cNvPr id="143" name="Google Shape;14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1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44" name="Google Shape;14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名稱預查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46" name="Google Shape;146;p17"/>
            <p:cNvGrpSpPr/>
            <p:nvPr/>
          </p:nvGrpSpPr>
          <p:grpSpPr>
            <a:xfrm>
              <a:off x="723900" y="0"/>
              <a:ext cx="1143000" cy="895500"/>
              <a:chOff x="-419100" y="0"/>
              <a:chExt cx="1143000" cy="895500"/>
            </a:xfrm>
          </p:grpSpPr>
          <p:sp>
            <p:nvSpPr>
              <p:cNvPr id="148" name="Google Shape;14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2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49" name="Google Shape;14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確定地址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51" name="Google Shape;151;p17"/>
            <p:cNvGrpSpPr/>
            <p:nvPr/>
          </p:nvGrpSpPr>
          <p:grpSpPr>
            <a:xfrm>
              <a:off x="1866900" y="0"/>
              <a:ext cx="1143000" cy="895500"/>
              <a:chOff x="-419100" y="0"/>
              <a:chExt cx="1143000" cy="895500"/>
            </a:xfrm>
          </p:grpSpPr>
          <p:sp>
            <p:nvSpPr>
              <p:cNvPr id="153" name="Google Shape;15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3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54" name="Google Shape;15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銀行籌備戶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56" name="Google Shape;156;p17"/>
            <p:cNvGrpSpPr/>
            <p:nvPr/>
          </p:nvGrpSpPr>
          <p:grpSpPr>
            <a:xfrm>
              <a:off x="3009900" y="0"/>
              <a:ext cx="1143000" cy="895500"/>
              <a:chOff x="-419100" y="0"/>
              <a:chExt cx="1143000" cy="895500"/>
            </a:xfrm>
          </p:grpSpPr>
          <p:sp>
            <p:nvSpPr>
              <p:cNvPr id="158" name="Google Shape;15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4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59" name="Google Shape;15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會計師驗資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61" name="Google Shape;161;p17"/>
            <p:cNvGrpSpPr/>
            <p:nvPr/>
          </p:nvGrpSpPr>
          <p:grpSpPr>
            <a:xfrm>
              <a:off x="4152900" y="0"/>
              <a:ext cx="1143000" cy="895500"/>
              <a:chOff x="-419100" y="0"/>
              <a:chExt cx="1143000" cy="895500"/>
            </a:xfrm>
          </p:grpSpPr>
          <p:sp>
            <p:nvSpPr>
              <p:cNvPr id="163" name="Google Shape;16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5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64" name="Google Shape;16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設立登記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66" name="Google Shape;166;p17"/>
            <p:cNvGrpSpPr/>
            <p:nvPr/>
          </p:nvGrpSpPr>
          <p:grpSpPr>
            <a:xfrm>
              <a:off x="5295900" y="0"/>
              <a:ext cx="1143000" cy="895500"/>
              <a:chOff x="-419100" y="0"/>
              <a:chExt cx="1143000" cy="895500"/>
            </a:xfrm>
          </p:grpSpPr>
          <p:sp>
            <p:nvSpPr>
              <p:cNvPr id="168" name="Google Shape;16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6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69" name="Google Shape;16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稅籍登記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71" name="Google Shape;171;p17"/>
            <p:cNvGrpSpPr/>
            <p:nvPr/>
          </p:nvGrpSpPr>
          <p:grpSpPr>
            <a:xfrm>
              <a:off x="6438900" y="0"/>
              <a:ext cx="1143000" cy="895500"/>
              <a:chOff x="-419100" y="0"/>
              <a:chExt cx="1143000" cy="895500"/>
            </a:xfrm>
          </p:grpSpPr>
          <p:sp>
            <p:nvSpPr>
              <p:cNvPr id="173" name="Google Shape;17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7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74" name="Google Shape;17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CTP 申報</a:t>
                </a:r>
                <a:br>
                  <a:rPr lang="en-US" altLang="zh-TW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</a:br>
                <a:r>
                  <a:rPr lang="zh-TW" altLang="en-US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自行申報</a:t>
                </a:r>
                <a:r>
                  <a:rPr lang="en-US" altLang="zh-TW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&amp;</a:t>
                </a:r>
                <a:r>
                  <a:rPr lang="zh-TW" altLang="en-US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事務所代理</a:t>
                </a:r>
                <a:endParaRPr sz="1050" b="1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175" name="Google Shape;175;p17"/>
          <p:cNvGrpSpPr/>
          <p:nvPr/>
        </p:nvGrpSpPr>
        <p:grpSpPr>
          <a:xfrm>
            <a:off x="571500" y="3238500"/>
            <a:ext cx="8001000" cy="1047900"/>
            <a:chOff x="0" y="0"/>
            <a:chExt cx="8001000" cy="1047900"/>
          </a:xfrm>
        </p:grpSpPr>
        <p:sp>
          <p:nvSpPr>
            <p:cNvPr id="176" name="Google Shape;176;p17"/>
            <p:cNvSpPr/>
            <p:nvPr/>
          </p:nvSpPr>
          <p:spPr>
            <a:xfrm>
              <a:off x="0" y="0"/>
              <a:ext cx="8001000" cy="1047900"/>
            </a:xfrm>
            <a:prstGeom prst="roundRect">
              <a:avLst>
                <a:gd name="adj" fmla="val 14545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7"/>
            <p:cNvSpPr txBox="1"/>
            <p:nvPr/>
          </p:nvSpPr>
          <p:spPr>
            <a:xfrm>
              <a:off x="381000" y="238125"/>
              <a:ext cx="72390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建議資本額：</a:t>
              </a:r>
              <a:r>
                <a:rPr lang="en-US" altLang="zh-TW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500 </a:t>
              </a:r>
              <a:r>
                <a:rPr lang="zh-TW" altLang="en-US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萬</a:t>
              </a:r>
              <a:r>
                <a:rPr lang="zh-TW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/ 費用估算：NT$</a:t>
              </a:r>
              <a:r>
                <a:rPr lang="en-US" altLang="zh-TW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15,000~20,000</a:t>
              </a:r>
              <a:endParaRPr sz="1050" b="1" dirty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關鍵期限：</a:t>
              </a:r>
              <a:r>
                <a:rPr lang="zh-TW" sz="1050" b="1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15 天</a:t>
              </a:r>
              <a:r>
                <a:rPr lang="zh-TW" sz="105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（驗資後 15 日內送件、設立後 15 日內辦理稅籍及 CTP）</a:t>
              </a:r>
              <a:endParaRPr sz="1050" b="0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78" name="Google Shape;178;p17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179" name="Google Shape;179;p17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80" name="Google Shape;180;p17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81" name="Google Shape;181;p17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B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8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91" name="Google Shape;191;p18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92" name="Google Shape;192;p18"/>
          <p:cNvGrpSpPr/>
          <p:nvPr/>
        </p:nvGrpSpPr>
        <p:grpSpPr>
          <a:xfrm>
            <a:off x="571500" y="952500"/>
            <a:ext cx="4914900" cy="952500"/>
            <a:chOff x="0" y="0"/>
            <a:chExt cx="4914900" cy="952500"/>
          </a:xfrm>
        </p:grpSpPr>
        <p:sp>
          <p:nvSpPr>
            <p:cNvPr id="193" name="Google Shape;193;p18"/>
            <p:cNvSpPr/>
            <p:nvPr/>
          </p:nvSpPr>
          <p:spPr>
            <a:xfrm>
              <a:off x="0" y="0"/>
              <a:ext cx="1143000" cy="266700"/>
            </a:xfrm>
            <a:prstGeom prst="roundRect">
              <a:avLst>
                <a:gd name="adj" fmla="val 50000"/>
              </a:avLst>
            </a:prstGeom>
            <a:solidFill>
              <a:srgbClr val="C55D4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18"/>
            <p:cNvSpPr txBox="1"/>
            <p:nvPr/>
          </p:nvSpPr>
          <p:spPr>
            <a:xfrm>
              <a:off x="0" y="38100"/>
              <a:ext cx="1143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DANGER ZONE</a:t>
              </a:r>
              <a:endParaRPr sz="900" b="1">
                <a:solidFill>
                  <a:srgbClr val="FFFFFF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96" name="Google Shape;196;p18"/>
            <p:cNvSpPr txBox="1"/>
            <p:nvPr/>
          </p:nvSpPr>
          <p:spPr>
            <a:xfrm>
              <a:off x="152400" y="381000"/>
              <a:ext cx="4762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zh-TW" sz="31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兩大致命地雷</a:t>
              </a:r>
              <a:endParaRPr sz="31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97" name="Google Shape;197;p18"/>
          <p:cNvGrpSpPr/>
          <p:nvPr/>
        </p:nvGrpSpPr>
        <p:grpSpPr>
          <a:xfrm>
            <a:off x="571500" y="2095500"/>
            <a:ext cx="3810000" cy="2286000"/>
            <a:chOff x="0" y="0"/>
            <a:chExt cx="3810000" cy="2286000"/>
          </a:xfrm>
        </p:grpSpPr>
        <p:sp>
          <p:nvSpPr>
            <p:cNvPr id="198" name="Google Shape;198;p18"/>
            <p:cNvSpPr/>
            <p:nvPr/>
          </p:nvSpPr>
          <p:spPr>
            <a:xfrm>
              <a:off x="0" y="0"/>
              <a:ext cx="3810000" cy="2286000"/>
            </a:xfrm>
            <a:prstGeom prst="roundRect">
              <a:avLst>
                <a:gd name="adj" fmla="val 6666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18"/>
            <p:cNvSpPr txBox="1"/>
            <p:nvPr/>
          </p:nvSpPr>
          <p:spPr>
            <a:xfrm>
              <a:off x="285750" y="285750"/>
              <a:ext cx="3238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驗資過水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驗資完抽走資金等於虛設資本</a:t>
              </a:r>
              <a:b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</a:b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（公司法 §9）</a:t>
              </a:r>
              <a:endParaRPr sz="1200" b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240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最重刑責 5 年</a:t>
              </a:r>
              <a:endParaRPr sz="240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01" name="Google Shape;201;p18"/>
          <p:cNvGrpSpPr/>
          <p:nvPr/>
        </p:nvGrpSpPr>
        <p:grpSpPr>
          <a:xfrm>
            <a:off x="4762500" y="2095500"/>
            <a:ext cx="3810000" cy="2286000"/>
            <a:chOff x="0" y="0"/>
            <a:chExt cx="3810000" cy="2286000"/>
          </a:xfrm>
        </p:grpSpPr>
        <p:sp>
          <p:nvSpPr>
            <p:cNvPr id="202" name="Google Shape;202;p18"/>
            <p:cNvSpPr/>
            <p:nvPr/>
          </p:nvSpPr>
          <p:spPr>
            <a:xfrm>
              <a:off x="0" y="0"/>
              <a:ext cx="3810000" cy="2286000"/>
            </a:xfrm>
            <a:prstGeom prst="roundRect">
              <a:avLst>
                <a:gd name="adj" fmla="val 6666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8"/>
            <p:cNvSpPr txBox="1"/>
            <p:nvPr/>
          </p:nvSpPr>
          <p:spPr>
            <a:xfrm>
              <a:off x="285750" y="285750"/>
              <a:ext cx="3238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漏報 CTP</a:t>
              </a:r>
              <a:endParaRPr sz="1650" b="1" dirty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20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公司法 §22-1 主要股東資訊申報</a:t>
              </a:r>
              <a:br>
                <a:rPr lang="zh-TW" sz="120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</a:br>
              <a:r>
                <a:rPr lang="zh-TW" sz="120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忘記 15 日內申報</a:t>
              </a:r>
              <a:endParaRPr sz="1200" b="0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240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罰 5 萬 ~ 500 萬</a:t>
              </a:r>
              <a:endParaRPr sz="2400" b="1" dirty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05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06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07" name="Google Shape;207;p18"/>
            <p:cNvSpPr txBox="1"/>
            <p:nvPr/>
          </p:nvSpPr>
          <p:spPr>
            <a:xfrm>
              <a:off x="0" y="95250"/>
              <a:ext cx="476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08" name="Google Shape;208;p18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04BE41-2DD9-3EF6-1C3D-1AC4CD8D4F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286000"/>
            <a:ext cx="7315200" cy="1828800"/>
          </a:xfrm>
        </p:spPr>
        <p:txBody>
          <a:bodyPr/>
          <a:lstStyle/>
          <a:p>
            <a:pPr algn="ctr"/>
            <a:r>
              <a:rPr sz="4000" b="1">
                <a:solidFill>
                  <a:srgbClr val="283C28"/>
                </a:solidFill>
                <a:latin typeface="Noto Sans TC"/>
              </a:rPr>
              <a:t>QA問答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6235A7A-D3C0-1568-3BAA-B460A570AF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  <p:grpSp>
        <p:nvGrpSpPr>
          <p:cNvPr id="504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05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2215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35F3965-63DC-EA82-5BB1-479E98E16A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286000"/>
            <a:ext cx="7315200" cy="1828800"/>
          </a:xfrm>
        </p:spPr>
        <p:txBody>
          <a:bodyPr/>
          <a:lstStyle/>
          <a:p>
            <a:pPr algn="ctr"/>
            <a:r>
              <a:rPr sz="4000" b="1">
                <a:solidFill>
                  <a:srgbClr val="283C28"/>
                </a:solidFill>
                <a:latin typeface="Noto Sans TC"/>
              </a:rPr>
              <a:t>Q1：如何開立發票(三聯式、二聯式)</a:t>
            </a:r>
            <a:br/>
            <a:endParaRPr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36DA5C7-1FE3-B342-373D-CDE24597BD4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  <p:grpSp>
        <p:nvGrpSpPr>
          <p:cNvPr id="506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07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2859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033F1D-63C5-1BB4-EEB2-196D5FE30B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286000"/>
            <a:ext cx="7315200" cy="1828800"/>
          </a:xfrm>
        </p:spPr>
        <p:txBody>
          <a:bodyPr/>
          <a:lstStyle/>
          <a:p>
            <a:pPr algn="ctr"/>
            <a:r>
              <a:rPr sz="4000" b="1">
                <a:solidFill>
                  <a:srgbClr val="283C28"/>
                </a:solidFill>
                <a:latin typeface="Noto Sans TC"/>
              </a:rPr>
              <a:t>Q2:進貨發票及收據我要注意什麼?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66B50CC-0CDE-8E7F-A6D6-634F368FFC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  <p:grpSp>
        <p:nvGrpSpPr>
          <p:cNvPr id="508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09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32721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033F1D-63C5-1BB4-EEB2-196D5FE30B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286000"/>
            <a:ext cx="7315200" cy="1828800"/>
          </a:xfrm>
        </p:spPr>
        <p:txBody>
          <a:bodyPr/>
          <a:lstStyle/>
          <a:p>
            <a:pPr algn="ctr"/>
            <a:r>
              <a:rPr sz="4000" b="1">
                <a:solidFill>
                  <a:srgbClr val="283C28"/>
                </a:solidFill>
                <a:latin typeface="Noto Sans TC"/>
              </a:rPr>
              <a:t>Q3:營業稅申報，需要準備什麼資料給會計師事務所?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66B50CC-0CDE-8E7F-A6D6-634F368FFC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  <p:grpSp>
        <p:nvGrpSpPr>
          <p:cNvPr id="510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11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859802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32CDD3-60F5-D64A-8757-12AFCE876A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286000"/>
            <a:ext cx="7315200" cy="1828800"/>
          </a:xfrm>
        </p:spPr>
        <p:txBody>
          <a:bodyPr/>
          <a:lstStyle/>
          <a:p>
            <a:pPr algn="ctr"/>
            <a:r>
              <a:rPr sz="4000" b="1">
                <a:solidFill>
                  <a:srgbClr val="283C28"/>
                </a:solidFill>
                <a:latin typeface="Noto Sans TC"/>
              </a:rPr>
              <a:t>Q4：營業稅如何計算？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0752175-0C2A-AC2C-2648-35158C751B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 dirty="0"/>
          </a:p>
        </p:txBody>
      </p:sp>
      <p:grpSp>
        <p:nvGrpSpPr>
          <p:cNvPr id="512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13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22441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32CDD3-60F5-D64A-8757-12AFCE876A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286000"/>
            <a:ext cx="7315200" cy="1828800"/>
          </a:xfrm>
        </p:spPr>
        <p:txBody>
          <a:bodyPr/>
          <a:lstStyle/>
          <a:p>
            <a:pPr algn="ctr"/>
            <a:r>
              <a:rPr sz="4000" b="1">
                <a:solidFill>
                  <a:srgbClr val="283C28"/>
                </a:solidFill>
                <a:latin typeface="Noto Sans TC"/>
              </a:rPr>
              <a:t>Q5-1：年底營所稅，我要繳多少稅?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0752175-0C2A-AC2C-2648-35158C751B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 dirty="0"/>
          </a:p>
        </p:txBody>
      </p:sp>
      <p:grpSp>
        <p:nvGrpSpPr>
          <p:cNvPr id="514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15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49260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32CDD3-60F5-D64A-8757-12AFCE876A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286000"/>
            <a:ext cx="7315200" cy="1828800"/>
          </a:xfrm>
        </p:spPr>
        <p:txBody>
          <a:bodyPr/>
          <a:lstStyle/>
          <a:p>
            <a:pPr algn="ctr"/>
            <a:r>
              <a:rPr sz="4000" b="1">
                <a:solidFill>
                  <a:srgbClr val="283C28"/>
                </a:solidFill>
                <a:latin typeface="Noto Sans TC"/>
              </a:rPr>
              <a:t>Q5-2：年底營所稅，我要如何節稅?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0752175-0C2A-AC2C-2648-35158C751B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 dirty="0"/>
          </a:p>
        </p:txBody>
      </p:sp>
      <p:grpSp>
        <p:nvGrpSpPr>
          <p:cNvPr id="516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17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78045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9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4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18" name="Google Shape;218;p19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220" name="Google Shape;220;p19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免稅 vs 應稅</a:t>
              </a:r>
              <a:endParaRPr sz="2100" b="1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900" b="0" dirty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法規依據：營業稅法 §8 第 1 項第 19 款</a:t>
              </a:r>
              <a:endParaRPr sz="900" b="0" dirty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21" name="Google Shape;221;p19"/>
          <p:cNvGrpSpPr/>
          <p:nvPr/>
        </p:nvGrpSpPr>
        <p:grpSpPr>
          <a:xfrm>
            <a:off x="571500" y="1905000"/>
            <a:ext cx="3619500" cy="2476500"/>
            <a:chOff x="0" y="0"/>
            <a:chExt cx="3619500" cy="2476500"/>
          </a:xfrm>
        </p:grpSpPr>
        <p:sp>
          <p:nvSpPr>
            <p:cNvPr id="222" name="Google Shape;222;p19"/>
            <p:cNvSpPr/>
            <p:nvPr/>
          </p:nvSpPr>
          <p:spPr>
            <a:xfrm>
              <a:off x="0" y="0"/>
              <a:ext cx="36195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14300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19"/>
            <p:cNvSpPr txBox="1"/>
            <p:nvPr/>
          </p:nvSpPr>
          <p:spPr>
            <a:xfrm>
              <a:off x="571500" y="209550"/>
              <a:ext cx="28575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免稅（未加工）</a:t>
              </a:r>
              <a:endParaRPr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2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切花、盆栽（塑膠/素燒陶土/木材容器）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花卉批發、種苗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網路販售原始花卉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900" b="0" i="1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符合農業產銷定義之原始型態產品</a:t>
              </a:r>
              <a:endParaRPr sz="900" b="0" i="1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26" name="Google Shape;226;p19"/>
          <p:cNvGrpSpPr/>
          <p:nvPr/>
        </p:nvGrpSpPr>
        <p:grpSpPr>
          <a:xfrm>
            <a:off x="4762500" y="1905000"/>
            <a:ext cx="3619500" cy="2476500"/>
            <a:chOff x="0" y="0"/>
            <a:chExt cx="3619500" cy="2476500"/>
          </a:xfrm>
        </p:grpSpPr>
        <p:sp>
          <p:nvSpPr>
            <p:cNvPr id="227" name="Google Shape;227;p19"/>
            <p:cNvSpPr/>
            <p:nvPr/>
          </p:nvSpPr>
          <p:spPr>
            <a:xfrm>
              <a:off x="0" y="0"/>
              <a:ext cx="3619500" cy="2476500"/>
            </a:xfrm>
            <a:prstGeom prst="roundRect">
              <a:avLst>
                <a:gd name="adj" fmla="val 6153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19"/>
            <p:cNvSpPr txBox="1"/>
            <p:nvPr/>
          </p:nvSpPr>
          <p:spPr>
            <a:xfrm>
              <a:off x="571500" y="209550"/>
              <a:ext cx="28575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應稅（加工 / 勞務）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2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乾燥花、花藝禮盒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園藝維護服務、景觀設計施工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高級瓷器 / 玻璃盆栽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900" b="0" i="1">
                  <a:solidFill>
                    <a:srgbClr val="D87A6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涉及人工裝飾、加工或純勞務提供</a:t>
              </a:r>
              <a:endParaRPr sz="900" b="0" i="1">
                <a:solidFill>
                  <a:srgbClr val="D87A6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31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9" name="Google Shape;239;p20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42" name="Google Shape;242;p20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43" name="Google Shape;243;p20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245" name="Google Shape;245;p20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401 vs 403</a:t>
              </a:r>
              <a:endParaRPr sz="2100" b="1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46" name="Google Shape;246;p20"/>
          <p:cNvGrpSpPr/>
          <p:nvPr/>
        </p:nvGrpSpPr>
        <p:grpSpPr>
          <a:xfrm>
            <a:off x="571500" y="1809750"/>
            <a:ext cx="8001000" cy="1714500"/>
            <a:chOff x="0" y="0"/>
            <a:chExt cx="8001000" cy="1714500"/>
          </a:xfrm>
        </p:grpSpPr>
        <p:sp>
          <p:nvSpPr>
            <p:cNvPr id="247" name="Google Shape;247;p20"/>
            <p:cNvSpPr/>
            <p:nvPr/>
          </p:nvSpPr>
          <p:spPr>
            <a:xfrm>
              <a:off x="0" y="0"/>
              <a:ext cx="8001000" cy="1714500"/>
            </a:xfrm>
            <a:prstGeom prst="roundRect">
              <a:avLst>
                <a:gd name="adj" fmla="val 6666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48" name="Google Shape;248;p20"/>
            <p:cNvCxnSpPr/>
            <p:nvPr/>
          </p:nvCxnSpPr>
          <p:spPr>
            <a:xfrm>
              <a:off x="190500" y="428625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9" name="Google Shape;249;p20"/>
            <p:cNvCxnSpPr/>
            <p:nvPr/>
          </p:nvCxnSpPr>
          <p:spPr>
            <a:xfrm>
              <a:off x="190500" y="857250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50" name="Google Shape;250;p20"/>
            <p:cNvCxnSpPr/>
            <p:nvPr/>
          </p:nvCxnSpPr>
          <p:spPr>
            <a:xfrm>
              <a:off x="190500" y="1285875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pic>
          <p:nvPicPr>
            <p:cNvPr id="251" name="Google Shape;251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5" y="1295400"/>
              <a:ext cx="7982100" cy="409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2" name="Google Shape;252;p20"/>
            <p:cNvSpPr txBox="1"/>
            <p:nvPr/>
          </p:nvSpPr>
          <p:spPr>
            <a:xfrm>
              <a:off x="228600" y="95250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業務類型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3" name="Google Shape;253;p20"/>
            <p:cNvSpPr txBox="1"/>
            <p:nvPr/>
          </p:nvSpPr>
          <p:spPr>
            <a:xfrm>
              <a:off x="1905000" y="95250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收入性質說明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4" name="Google Shape;254;p20"/>
            <p:cNvSpPr txBox="1"/>
            <p:nvPr/>
          </p:nvSpPr>
          <p:spPr>
            <a:xfrm>
              <a:off x="5905500" y="952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適用申報書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5" name="Google Shape;255;p20"/>
            <p:cNvSpPr txBox="1"/>
            <p:nvPr/>
          </p:nvSpPr>
          <p:spPr>
            <a:xfrm>
              <a:off x="228600" y="523875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專營應稅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6" name="Google Shape;256;p20"/>
            <p:cNvSpPr txBox="1"/>
            <p:nvPr/>
          </p:nvSpPr>
          <p:spPr>
            <a:xfrm>
              <a:off x="1905000" y="523875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所有收入皆為應稅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7" name="Google Shape;257;p20"/>
            <p:cNvSpPr txBox="1"/>
            <p:nvPr/>
          </p:nvSpPr>
          <p:spPr>
            <a:xfrm>
              <a:off x="5905500" y="523875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401 申報書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8" name="Google Shape;258;p20"/>
            <p:cNvSpPr txBox="1"/>
            <p:nvPr/>
          </p:nvSpPr>
          <p:spPr>
            <a:xfrm>
              <a:off x="228600" y="952500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專營免稅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9" name="Google Shape;259;p20"/>
            <p:cNvSpPr txBox="1"/>
            <p:nvPr/>
          </p:nvSpPr>
          <p:spPr>
            <a:xfrm>
              <a:off x="1905000" y="952500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所有收入皆為免稅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0" name="Google Shape;260;p20"/>
            <p:cNvSpPr txBox="1"/>
            <p:nvPr/>
          </p:nvSpPr>
          <p:spPr>
            <a:xfrm>
              <a:off x="5905500" y="95250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403</a:t>
              </a: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申報書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1" name="Google Shape;261;p20"/>
            <p:cNvSpPr txBox="1"/>
            <p:nvPr/>
          </p:nvSpPr>
          <p:spPr>
            <a:xfrm>
              <a:off x="228600" y="1381125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3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兼營</a:t>
              </a:r>
              <a:endParaRPr sz="13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2" name="Google Shape;262;p20"/>
            <p:cNvSpPr txBox="1"/>
            <p:nvPr/>
          </p:nvSpPr>
          <p:spPr>
            <a:xfrm>
              <a:off x="1905000" y="1381125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同時有應稅＋免稅收入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3" name="Google Shape;263;p20"/>
            <p:cNvSpPr txBox="1"/>
            <p:nvPr/>
          </p:nvSpPr>
          <p:spPr>
            <a:xfrm>
              <a:off x="5905500" y="1381125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403 申報書</a:t>
              </a:r>
              <a:endParaRPr sz="16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64" name="Google Shape;264;p20"/>
          <p:cNvGrpSpPr/>
          <p:nvPr/>
        </p:nvGrpSpPr>
        <p:grpSpPr>
          <a:xfrm>
            <a:off x="571500" y="3714750"/>
            <a:ext cx="8001000" cy="809700"/>
            <a:chOff x="0" y="0"/>
            <a:chExt cx="8001000" cy="809700"/>
          </a:xfrm>
        </p:grpSpPr>
        <p:sp>
          <p:nvSpPr>
            <p:cNvPr id="265" name="Google Shape;265;p20"/>
            <p:cNvSpPr/>
            <p:nvPr/>
          </p:nvSpPr>
          <p:spPr>
            <a:xfrm>
              <a:off x="0" y="0"/>
              <a:ext cx="8001000" cy="809700"/>
            </a:xfrm>
            <a:prstGeom prst="roundRect">
              <a:avLst>
                <a:gd name="adj" fmla="val 18823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0"/>
            <p:cNvSpPr txBox="1"/>
            <p:nvPr/>
          </p:nvSpPr>
          <p:spPr>
            <a:xfrm>
              <a:off x="285750" y="142875"/>
              <a:ext cx="7429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口訣：「</a:t>
              </a:r>
              <a:r>
                <a:rPr lang="zh-TW" altLang="en-US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專營應稅四零一，其餘皆四零三</a:t>
              </a: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」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大葉園藝賣花（免稅）又做工程（應稅）＝ 兼營 ＝ </a:t>
              </a: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403</a:t>
              </a: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。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67" name="Google Shape;267;p20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68" name="Google Shape;268;p20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9" name="Google Shape;269;p20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70" name="Google Shape;270;p20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271" name="Google Shape;271;p20"/>
          <p:cNvSpPr/>
          <p:nvPr/>
        </p:nvSpPr>
        <p:spPr>
          <a:xfrm>
            <a:off x="7810500" y="-666750"/>
            <a:ext cx="2286000" cy="2286000"/>
          </a:xfrm>
          <a:prstGeom prst="ellipse">
            <a:avLst/>
          </a:prstGeom>
          <a:solidFill>
            <a:srgbClr val="7C9878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05500" y="2095500"/>
            <a:ext cx="5334000" cy="533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476250" y="-1047750"/>
            <a:ext cx="2857500" cy="2857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1" name="Google Shape;301;p22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304" name="Google Shape;304;p22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05" name="Google Shape;305;p22"/>
          <p:cNvGrpSpPr/>
          <p:nvPr/>
        </p:nvGrpSpPr>
        <p:grpSpPr>
          <a:xfrm>
            <a:off x="571500" y="952500"/>
            <a:ext cx="8153400" cy="762000"/>
            <a:chOff x="0" y="0"/>
            <a:chExt cx="8153400" cy="762000"/>
          </a:xfrm>
        </p:grpSpPr>
        <p:sp>
          <p:nvSpPr>
            <p:cNvPr id="307" name="Google Shape;307;p22"/>
            <p:cNvSpPr txBox="1"/>
            <p:nvPr/>
          </p:nvSpPr>
          <p:spPr>
            <a:xfrm>
              <a:off x="152400" y="0"/>
              <a:ext cx="8001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三種申報方式比較</a:t>
              </a:r>
              <a:endParaRPr sz="2100" b="1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altLang="en-US" sz="900" b="0" dirty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</a:t>
              </a:r>
              <a:r>
                <a:rPr lang="zh-TW" sz="900" b="0" dirty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營所稅策略</a:t>
              </a:r>
              <a:endParaRPr sz="900" b="0" dirty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08" name="Google Shape;308;p22"/>
          <p:cNvGrpSpPr/>
          <p:nvPr/>
        </p:nvGrpSpPr>
        <p:grpSpPr>
          <a:xfrm>
            <a:off x="571500" y="1905000"/>
            <a:ext cx="2571900" cy="2476500"/>
            <a:chOff x="0" y="0"/>
            <a:chExt cx="2571900" cy="2476500"/>
          </a:xfrm>
        </p:grpSpPr>
        <p:sp>
          <p:nvSpPr>
            <p:cNvPr id="309" name="Google Shape;309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A755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擴大書審</a:t>
              </a:r>
              <a:endParaRPr sz="1500" b="1" dirty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淨</a:t>
              </a: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營收 &lt; 3,000 萬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元</a:t>
              </a:r>
              <a:endParaRPr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淨利率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4%</a:t>
              </a:r>
            </a:p>
            <a:p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缺憑證</a:t>
              </a:r>
              <a:endParaRPr sz="1050"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擴大書審及所得額標準二者合計被抽查機率為</a:t>
              </a:r>
              <a:r>
                <a:rPr lang="en-US" altLang="zh-TW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1/10</a:t>
              </a:r>
              <a:endParaRPr dirty="0"/>
            </a:p>
          </p:txBody>
        </p:sp>
      </p:grpSp>
      <p:grpSp>
        <p:nvGrpSpPr>
          <p:cNvPr id="312" name="Google Shape;312;p22"/>
          <p:cNvGrpSpPr/>
          <p:nvPr/>
        </p:nvGrpSpPr>
        <p:grpSpPr>
          <a:xfrm>
            <a:off x="3286125" y="1905000"/>
            <a:ext cx="2571900" cy="2476500"/>
            <a:chOff x="0" y="0"/>
            <a:chExt cx="2571900" cy="2476500"/>
          </a:xfrm>
        </p:grpSpPr>
        <p:sp>
          <p:nvSpPr>
            <p:cNvPr id="313" name="Google Shape;313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4A46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 dirty="0">
                  <a:solidFill>
                    <a:srgbClr val="C4A46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所得額標準</a:t>
              </a:r>
              <a:endParaRPr lang="en-US" altLang="zh-TW" sz="1500" b="1" dirty="0">
                <a:solidFill>
                  <a:srgbClr val="C4A46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淨營收 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&gt;3000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萬元</a:t>
              </a:r>
              <a:endParaRPr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淨利率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7%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缺憑證</a:t>
              </a:r>
              <a:endParaRPr lang="en-US" altLang="zh-TW" sz="105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擴大書審及所得額標準二者合計被抽查機率為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1/10</a:t>
              </a:r>
              <a:endParaRPr lang="zh-TW" altLang="en-US" dirty="0"/>
            </a:p>
          </p:txBody>
        </p:sp>
      </p:grpSp>
      <p:grpSp>
        <p:nvGrpSpPr>
          <p:cNvPr id="316" name="Google Shape;316;p22"/>
          <p:cNvGrpSpPr/>
          <p:nvPr/>
        </p:nvGrpSpPr>
        <p:grpSpPr>
          <a:xfrm>
            <a:off x="6000750" y="1905000"/>
            <a:ext cx="2571900" cy="2476500"/>
            <a:chOff x="0" y="0"/>
            <a:chExt cx="2571900" cy="2476500"/>
          </a:xfrm>
        </p:grpSpPr>
        <p:sp>
          <p:nvSpPr>
            <p:cNvPr id="317" name="Google Shape;317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5D4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同業利潤標準</a:t>
              </a:r>
              <a:endParaRPr sz="1500" b="1" dirty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>
                <a:spcBef>
                  <a:spcPts val="1200"/>
                </a:spcBef>
              </a:pP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</a:t>
              </a:r>
              <a:r>
                <a:rPr lang="zh-TW" altLang="en-US" sz="1050" b="1" dirty="0">
                  <a:solidFill>
                    <a:srgbClr val="C55D4D"/>
                  </a:solidFill>
                  <a:latin typeface="Noto Sans TC"/>
                  <a:ea typeface="Noto Sans TC"/>
                  <a:sym typeface="Noto Sans TC"/>
                </a:rPr>
                <a:t>前兩者書審案被抽中查帳時適用</a:t>
              </a:r>
              <a:endParaRPr lang="zh-TW" altLang="en-US" sz="1050"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利潤率 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8%</a:t>
              </a:r>
              <a:endParaRPr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國稅局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逕決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(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直接核定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)</a:t>
              </a:r>
              <a:endParaRPr dirty="0"/>
            </a:p>
          </p:txBody>
        </p:sp>
      </p:grpSp>
      <p:grpSp>
        <p:nvGrpSpPr>
          <p:cNvPr id="320" name="Google Shape;320;p22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321" name="Google Shape;321;p22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22" name="Google Shape;322;p22"/>
            <p:cNvSpPr txBox="1"/>
            <p:nvPr/>
          </p:nvSpPr>
          <p:spPr>
            <a:xfrm>
              <a:off x="0" y="95250"/>
              <a:ext cx="5715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323" name="Google Shape;323;p22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28"/>
          <p:cNvSpPr/>
          <p:nvPr/>
        </p:nvSpPr>
        <p:spPr>
          <a:xfrm>
            <a:off x="5524500" y="1714500"/>
            <a:ext cx="5334000" cy="5334000"/>
          </a:xfrm>
          <a:prstGeom prst="ellipse">
            <a:avLst/>
          </a:prstGeom>
          <a:solidFill>
            <a:srgbClr val="7C9878">
              <a:alpha val="8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28"/>
          <p:cNvSpPr/>
          <p:nvPr/>
        </p:nvSpPr>
        <p:spPr>
          <a:xfrm>
            <a:off x="0" y="-16192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3" name="Google Shape;493;p2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496" name="Google Shape;496;p28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97" name="Google Shape;497;p28"/>
          <p:cNvGrpSpPr/>
          <p:nvPr/>
        </p:nvGrpSpPr>
        <p:grpSpPr>
          <a:xfrm>
            <a:off x="571500" y="1333500"/>
            <a:ext cx="952500" cy="266700"/>
            <a:chOff x="0" y="0"/>
            <a:chExt cx="952500" cy="266700"/>
          </a:xfrm>
        </p:grpSpPr>
        <p:sp>
          <p:nvSpPr>
            <p:cNvPr id="498" name="Google Shape;498;p28"/>
            <p:cNvSpPr/>
            <p:nvPr/>
          </p:nvSpPr>
          <p:spPr>
            <a:xfrm>
              <a:off x="0" y="0"/>
              <a:ext cx="952500" cy="266700"/>
            </a:xfrm>
            <a:prstGeom prst="roundRect">
              <a:avLst>
                <a:gd name="adj" fmla="val 50000"/>
              </a:avLst>
            </a:prstGeom>
            <a:solidFill>
              <a:srgbClr val="000000">
                <a:alpha val="0"/>
              </a:srgbClr>
            </a:solidFill>
            <a:ln w="9525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8"/>
            <p:cNvSpPr txBox="1"/>
            <p:nvPr/>
          </p:nvSpPr>
          <p:spPr>
            <a:xfrm>
              <a:off x="0" y="0"/>
              <a:ext cx="9525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THANK YOU</a:t>
              </a:r>
              <a:endParaRPr sz="90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00" name="Google Shape;500;p28"/>
          <p:cNvSpPr txBox="1"/>
          <p:nvPr/>
        </p:nvSpPr>
        <p:spPr>
          <a:xfrm>
            <a:off x="571500" y="1809750"/>
            <a:ext cx="80010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讓您專心</a:t>
            </a:r>
            <a:r>
              <a:rPr lang="zh-TW" altLang="en-US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經營</a:t>
            </a: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 稅的事交給我們</a:t>
            </a:r>
            <a:endParaRPr sz="3600" b="1" dirty="0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sp>
        <p:nvSpPr>
          <p:cNvPr id="501" name="Google Shape;501;p28"/>
          <p:cNvSpPr txBox="1"/>
          <p:nvPr/>
        </p:nvSpPr>
        <p:spPr>
          <a:xfrm>
            <a:off x="571500" y="2762250"/>
            <a:ext cx="8001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900"/>
              </a:spcAft>
              <a:buNone/>
            </a:pPr>
            <a:r>
              <a:rPr lang="zh-TW" altLang="en-US" sz="1800" b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設立 → 營業 → 報稅。</a:t>
            </a:r>
            <a:r>
              <a:rPr lang="zh-TW" sz="1800" b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一條龍專業服務，全年稅務無死角。</a:t>
            </a:r>
            <a:endParaRPr sz="1800" b="0">
              <a:solidFill>
                <a:srgbClr val="5A7557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sp>
        <p:nvSpPr>
          <p:cNvPr id="502" name="Google Shape;502;p28"/>
          <p:cNvSpPr txBox="1"/>
          <p:nvPr/>
        </p:nvSpPr>
        <p:spPr>
          <a:xfrm>
            <a:off x="571500" y="3429000"/>
            <a:ext cx="8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750"/>
              </a:spcAft>
              <a:buNone/>
            </a:pPr>
            <a:r>
              <a:rPr lang="zh-TW" sz="1350" b="1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rPr>
              <a:t>大葉園藝有限公司 ✕ 稅務顧問團隊</a:t>
            </a:r>
            <a:endParaRPr sz="1350" b="1" dirty="0">
              <a:solidFill>
                <a:srgbClr val="2D4333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grpSp>
        <p:nvGrpSpPr>
          <p:cNvPr id="503" name="Google Shape;503;p2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04" name="Google Shape;504;p2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05" name="Google Shape;505;p28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06" name="Google Shape;506;p28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826</Words>
  <Application>Microsoft Office PowerPoint</Application>
  <PresentationFormat>如螢幕大小 (16:9)</PresentationFormat>
  <Paragraphs>139</Paragraphs>
  <Slides>15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18" baseType="lpstr">
      <vt:lpstr>Noto Sans TC</vt:lpstr>
      <vt:lpstr>Arial</vt:lpstr>
      <vt:lpstr>Simple Light</vt:lpstr>
      <vt:lpstr>PowerPoint 簡報</vt:lpstr>
      <vt:lpstr>PowerPoint 簡報</vt:lpstr>
      <vt:lpstr>PowerPoint 簡報</vt:lpstr>
      <vt:lpstr>PowerPoint 簡報</vt:lpstr>
      <vt:lpstr>QA問答</vt:lpstr>
      <vt:lpstr>Q1：如何開立發票(三聯式、二聯式) </vt:lpstr>
      <vt:lpstr>Q2:進貨發票及收據我要注意什麼?</vt:lpstr>
      <vt:lpstr>Q3:營業稅申報，需要準備什麼資料給會計師事務所?</vt:lpstr>
      <vt:lpstr>Q4：營業稅如何計算？</vt:lpstr>
      <vt:lpstr>Q5-1：年底營所稅，我要繳多少稅?</vt:lpstr>
      <vt:lpstr>Q5-2：年底營所稅，我要如何節稅?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Gary</dc:creator>
  <cp:lastModifiedBy>LI GARY</cp:lastModifiedBy>
  <cp:revision>8</cp:revision>
  <dcterms:modified xsi:type="dcterms:W3CDTF">2026-08-27T14:31:15Z</dcterms:modified>
</cp:coreProperties>
</file>