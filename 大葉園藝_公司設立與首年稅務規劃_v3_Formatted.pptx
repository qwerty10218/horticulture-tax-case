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59" r:id="rId6"/>
    <p:sldId id="26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1" r:id="rId15"/>
    <p:sldId id="262" r:id="rId16"/>
    <p:sldId id="264" r:id="rId17"/>
    <p:sldId id="270" r:id="rId18"/>
  </p:sldIdLst>
  <p:sldSz cx="9144000" cy="5143500" type="screen16x9"/>
  <p:notesSz cx="6858000" cy="9144000"/>
  <p:embeddedFontLst>
    <p:embeddedFont>
      <p:font typeface="標楷體" panose="03000509000000000000" pitchFamily="65" charset="-120"/>
      <p:regular r:id="rId20"/>
    </p:embeddedFont>
    <p:embeddedFont>
      <p:font typeface="Noto Sans TC" panose="020B0200000000000000" pitchFamily="34" charset="-12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495300" y="571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</a:t>
              </a:r>
              <a:r>
                <a:rPr lang="en-US" alt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VS XX</a:t>
              </a:r>
              <a:r>
                <a:rPr lang="zh-TW" altLang="en-US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聯合會計事務所</a:t>
              </a:r>
              <a:endParaRPr sz="12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 dirty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年度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稅務規劃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 dirty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Noto Sans TC"/>
              </a:rPr>
              <a:t>成員介紹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Noto Sans TC"/>
                        </a:rPr>
                        <a:t>學號與名字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Noto Sans TC"/>
                        </a:rPr>
                        <a:t>角色定位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Noto Sans TC"/>
                        </a:rPr>
                        <a:t>主講內容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18 素麗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提問客人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主要問題提問者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2 德詮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會計師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主要說明公司設立與流程規費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13 瓊月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專業顧問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Noto Sans TC"/>
                        </a:rPr>
                        <a:t>營所稅、營業稅相關稅務問題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53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500" y="2000250"/>
            <a:ext cx="8001000" cy="2333775"/>
            <a:chOff x="0" y="0"/>
            <a:chExt cx="8001000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公司設立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德詮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營業稅申報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0" y="1285875"/>
              <a:ext cx="3810000" cy="1047900"/>
              <a:chOff x="0" y="0"/>
              <a:chExt cx="38100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營所稅結算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191000" y="1285875"/>
              <a:ext cx="3810000" cy="1047900"/>
              <a:chOff x="0" y="0"/>
              <a:chExt cx="3810000" cy="10479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發票與稅務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(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與營業稅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營業稅合併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)</a:t>
                </a:r>
                <a:b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666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客戶現況：陳老闆經營家族園藝 20 年，要正式轉型為有限公司 | 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Page 02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</a:t>
              </a:r>
              <a:r>
                <a:rPr lang="zh-TW" altLang="en-US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經營之路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規劃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設立公司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需求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想知道如何設立有限公司</a:t>
              </a:r>
              <a:endParaRPr lang="en-US" altLang="zh-TW"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想了解相關稅務問題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altLang="en-US" sz="21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公司設立步驟</a:t>
              </a:r>
              <a:endParaRPr sz="21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b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自行申報</a:t>
                </a:r>
                <a: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&amp;</a:t>
                </a: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事務所代理</a:t>
                </a:r>
                <a:endParaRPr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建議資本額：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 </a:t>
              </a:r>
              <a:r>
                <a:rPr lang="zh-TW" altLang="en-US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/ 費用估算：NT$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15,000~20,000</a:t>
              </a:r>
              <a:endParaRPr sz="10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關鍵期限：</a:t>
              </a:r>
              <a:r>
                <a:rPr lang="zh-TW"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（驗資後 15 日內送件、設立後 15 日內辦理稅籍及 CTP）</a:t>
              </a:r>
              <a:endParaRPr sz="105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91" name="Google Shape;191;p1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漏報 CTP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萬</a:t>
              </a:r>
              <a:endParaRPr sz="24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4BE41-2DD9-3EF6-1C3D-1AC4CD8D4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QA問答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235A7A-D3C0-1568-3BAA-B460A570A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0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05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221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F3965-63DC-EA82-5BB1-479E98E16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Q1：如何開立發票(三聯式、二聯式)</a:t>
            </a:r>
            <a:br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6DA5C7-1FE3-B342-373D-CDE24597B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06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07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285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Q2:進貨發票及收據我要注意什麼?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08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09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72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Q3:營業稅申報，需要準備什麼資料給會計師事務所?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510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98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Q4：營業稅如何計算？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12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3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224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Q5-1：年底營所稅，我要繳多少稅?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5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926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 algn="ctr"/>
            <a:r>
              <a:rPr sz="4000" b="1">
                <a:solidFill>
                  <a:srgbClr val="283C28"/>
                </a:solidFill>
                <a:latin typeface="Noto Sans TC"/>
              </a:rPr>
              <a:t>Q5-2：年底營所稅，我要如何節稅?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16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7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80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口訣：「</a:t>
              </a:r>
              <a:r>
                <a:rPr lang="zh-TW" altLang="en-US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專營應稅四零一，其餘皆四零三</a:t>
              </a: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」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2095500"/>
            <a:ext cx="53340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50" y="-1047750"/>
            <a:ext cx="28575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2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04" name="Google Shape;304;p22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571500" y="952500"/>
            <a:ext cx="8153400" cy="762000"/>
            <a:chOff x="0" y="0"/>
            <a:chExt cx="8153400" cy="762000"/>
          </a:xfrm>
        </p:grpSpPr>
        <p:sp>
          <p:nvSpPr>
            <p:cNvPr id="307" name="Google Shape;307;p22"/>
            <p:cNvSpPr txBox="1"/>
            <p:nvPr/>
          </p:nvSpPr>
          <p:spPr>
            <a:xfrm>
              <a:off x="1524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三種申報方式比較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altLang="en-US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營所稅策略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571500" y="1905000"/>
            <a:ext cx="2571900" cy="2476500"/>
            <a:chOff x="0" y="0"/>
            <a:chExt cx="2571900" cy="24765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</a:t>
              </a:r>
              <a:endParaRPr sz="150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營收 &lt; 3,000 萬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4%</a:t>
              </a:r>
            </a:p>
            <a:p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擴大書審及所得額標準二者合計被抽查機率為</a:t>
              </a:r>
              <a:r>
                <a:rPr lang="en-US" altLang="zh-TW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dirty="0"/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3286125" y="1905000"/>
            <a:ext cx="2571900" cy="2476500"/>
            <a:chOff x="0" y="0"/>
            <a:chExt cx="2571900" cy="2476500"/>
          </a:xfrm>
        </p:grpSpPr>
        <p:sp>
          <p:nvSpPr>
            <p:cNvPr id="313" name="Google Shape;313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A46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4A46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所得額標準</a:t>
              </a:r>
              <a:endParaRPr lang="en-US" altLang="zh-TW" sz="1500" b="1" dirty="0">
                <a:solidFill>
                  <a:srgbClr val="C4A46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淨營收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&gt;3000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7%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lang="en-US" altLang="zh-TW" sz="105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擴大書審及所得額標準二者合計被抽查機率為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lang="zh-TW" altLang="en-US" dirty="0"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000750" y="1905000"/>
            <a:ext cx="2571900" cy="2476500"/>
            <a:chOff x="0" y="0"/>
            <a:chExt cx="2571900" cy="24765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同業利潤標準</a:t>
              </a:r>
              <a:endParaRPr sz="15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>
                <a:spcBef>
                  <a:spcPts val="1200"/>
                </a:spcBef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altLang="en-US" sz="1050" b="1" dirty="0">
                  <a:solidFill>
                    <a:srgbClr val="C55D4D"/>
                  </a:solidFill>
                  <a:latin typeface="Noto Sans TC"/>
                  <a:ea typeface="Noto Sans TC"/>
                  <a:sym typeface="Noto Sans TC"/>
                </a:rPr>
                <a:t>前兩者書審案被抽中查帳時適用</a:t>
              </a:r>
              <a:endParaRPr lang="zh-TW" altLang="en-US"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利潤率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8%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國稅局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逕決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(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直接核定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)</a:t>
              </a:r>
              <a:endParaRPr dirty="0"/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21" name="Google Shape;321;p22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0" y="9525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5524500" y="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-16192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1333500"/>
            <a:ext cx="952500" cy="266700"/>
            <a:chOff x="0" y="0"/>
            <a:chExt cx="952500" cy="2667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0" y="0"/>
              <a:ext cx="95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THANK YOU</a:t>
              </a:r>
              <a:endParaRPr sz="9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00" name="Google Shape;500;p28"/>
          <p:cNvSpPr txBox="1"/>
          <p:nvPr/>
        </p:nvSpPr>
        <p:spPr>
          <a:xfrm>
            <a:off x="571500" y="18097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讓您專心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經營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 稅的事交給我們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571500" y="2762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zh-TW" altLang="en-US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設立 → 營業 → 報稅。</a:t>
            </a:r>
            <a:r>
              <a:rPr lang="zh-TW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一條龍專業服務，全年稅務無死角。</a:t>
            </a:r>
            <a:endParaRPr sz="1800" b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571500" y="3429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zh-TW" sz="135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rPr>
              <a:t>大葉園藝有限公司 ✕ 稅務顧問團隊</a:t>
            </a:r>
            <a:endParaRPr sz="1350" b="1" dirty="0">
              <a:solidFill>
                <a:srgbClr val="2D4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04" name="Google Shape;504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5" name="Google Shape;505;p2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865</Words>
  <Application>Microsoft Office PowerPoint</Application>
  <PresentationFormat>如螢幕大小 (16:9)</PresentationFormat>
  <Paragraphs>131</Paragraphs>
  <Slides>17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Noto Sans TC</vt:lpstr>
      <vt:lpstr>Arial</vt:lpstr>
      <vt:lpstr>Calibri</vt:lpstr>
      <vt:lpstr>標楷體</vt:lpstr>
      <vt:lpstr>Simple Light</vt:lpstr>
      <vt:lpstr>PowerPoint 簡報</vt:lpstr>
      <vt:lpstr>成員介紹</vt:lpstr>
      <vt:lpstr>PowerPoint 簡報</vt:lpstr>
      <vt:lpstr>PowerPoint 簡報</vt:lpstr>
      <vt:lpstr>PowerPoint 簡報</vt:lpstr>
      <vt:lpstr>PowerPoint 簡報</vt:lpstr>
      <vt:lpstr>QA問答</vt:lpstr>
      <vt:lpstr>Q1：如何開立發票(三聯式、二聯式) </vt:lpstr>
      <vt:lpstr>Q2:進貨發票及收據我要注意什麼?</vt:lpstr>
      <vt:lpstr>Q3:營業稅申報，需要準備什麼資料給會計師事務所?</vt:lpstr>
      <vt:lpstr>Q4：營業稅如何計算？</vt:lpstr>
      <vt:lpstr>Q5-1：年底營所稅，我要繳多少稅?</vt:lpstr>
      <vt:lpstr>Q5-2：年底營所稅，我要如何節稅?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Gary</dc:creator>
  <cp:lastModifiedBy>LI GARY</cp:lastModifiedBy>
  <cp:revision>7</cp:revision>
  <dcterms:modified xsi:type="dcterms:W3CDTF">2026-08-27T14:06:39Z</dcterms:modified>
</cp:coreProperties>
</file>