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9"/>
  </p:notesMasterIdLst>
  <p:sldIdLst>
    <p:sldId id="256" r:id="rId2"/>
    <p:sldId id="271" r:id="rId3"/>
    <p:sldId id="257" r:id="rId4"/>
    <p:sldId id="258" r:id="rId5"/>
    <p:sldId id="259" r:id="rId6"/>
    <p:sldId id="260" r:id="rId7"/>
    <p:sldId id="272" r:id="rId8"/>
    <p:sldId id="273" r:id="rId9"/>
    <p:sldId id="274" r:id="rId10"/>
    <p:sldId id="275" r:id="rId11"/>
    <p:sldId id="276" r:id="rId12"/>
    <p:sldId id="277" r:id="rId13"/>
    <p:sldId id="278" r:id="rId14"/>
    <p:sldId id="261" r:id="rId15"/>
    <p:sldId id="262" r:id="rId16"/>
    <p:sldId id="264" r:id="rId17"/>
    <p:sldId id="270" r:id="rId18"/>
  </p:sldIdLst>
  <p:sldSz cx="9144000" cy="5143500" type="screen16x9"/>
  <p:notesSz cx="6858000" cy="9144000"/>
  <p:embeddedFontLst>
    <p:embeddedFont>
      <p:font typeface="標楷體" panose="03000509000000000000" pitchFamily="65" charset="-120"/>
      <p:regular r:id="rId20"/>
    </p:embeddedFont>
    <p:embeddedFont>
      <p:font typeface="Noto Sans TC" panose="020B0200000000000000" pitchFamily="34" charset="-120"/>
      <p:regular r:id="rId21"/>
      <p:bold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6" d="100"/>
          <a:sy n="146" d="100"/>
        </p:scale>
        <p:origin x="594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f8579f0009_16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f8579f0009_16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f8579f0009_15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f8579f0009_15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8579f0009_1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f8579f0009_1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8579f0009_1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8579f0009_1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f8579f0009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f8579f0009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f8579f0009_1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f8579f0009_1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f8579f0009_1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f8579f0009_1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f8579f0009_8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f8579f0009_8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f8579f0009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3f8579f0009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ted (g3f8579f0009_1_0)">
  <p:cSld name="Generated (g3f8579f0009_1_0)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14"/>
          <p:cNvGrpSpPr/>
          <p:nvPr/>
        </p:nvGrpSpPr>
        <p:grpSpPr>
          <a:xfrm>
            <a:off x="-1428750" y="-1428750"/>
            <a:ext cx="12287250" cy="7429500"/>
            <a:chOff x="-1428750" y="-1428750"/>
            <a:chExt cx="12287250" cy="7429500"/>
          </a:xfrm>
        </p:grpSpPr>
        <p:sp>
          <p:nvSpPr>
            <p:cNvPr id="56" name="Google Shape;56;p14"/>
            <p:cNvSpPr/>
            <p:nvPr/>
          </p:nvSpPr>
          <p:spPr>
            <a:xfrm>
              <a:off x="6477000" y="476250"/>
              <a:ext cx="4191000" cy="4191000"/>
            </a:xfrm>
            <a:prstGeom prst="ellipse">
              <a:avLst/>
            </a:prstGeom>
            <a:solidFill>
              <a:srgbClr val="7C9878">
                <a:alpha val="6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14"/>
            <p:cNvSpPr/>
            <p:nvPr/>
          </p:nvSpPr>
          <p:spPr>
            <a:xfrm>
              <a:off x="7429500" y="2571750"/>
              <a:ext cx="3429000" cy="3429000"/>
            </a:xfrm>
            <a:prstGeom prst="ellipse">
              <a:avLst/>
            </a:prstGeom>
            <a:solidFill>
              <a:srgbClr val="5A7557">
                <a:alpha val="8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14"/>
            <p:cNvSpPr/>
            <p:nvPr/>
          </p:nvSpPr>
          <p:spPr>
            <a:xfrm>
              <a:off x="7524750" y="381000"/>
              <a:ext cx="1143000" cy="1143000"/>
            </a:xfrm>
            <a:prstGeom prst="ellipse">
              <a:avLst/>
            </a:prstGeom>
            <a:solidFill>
              <a:srgbClr val="5A7557">
                <a:alpha val="4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14"/>
            <p:cNvSpPr/>
            <p:nvPr/>
          </p:nvSpPr>
          <p:spPr>
            <a:xfrm>
              <a:off x="-1428750" y="-1428750"/>
              <a:ext cx="2857500" cy="2857500"/>
            </a:xfrm>
            <a:prstGeom prst="ellipse">
              <a:avLst/>
            </a:prstGeom>
            <a:solidFill>
              <a:srgbClr val="7C9878">
                <a:alpha val="3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" name="Google Shape;60;p14"/>
          <p:cNvGrpSpPr/>
          <p:nvPr/>
        </p:nvGrpSpPr>
        <p:grpSpPr>
          <a:xfrm>
            <a:off x="571500" y="381000"/>
            <a:ext cx="4305300" cy="438150"/>
            <a:chOff x="0" y="0"/>
            <a:chExt cx="4305300" cy="438150"/>
          </a:xfrm>
        </p:grpSpPr>
        <p:sp>
          <p:nvSpPr>
            <p:cNvPr id="63" name="Google Shape;63;p14"/>
            <p:cNvSpPr txBox="1"/>
            <p:nvPr/>
          </p:nvSpPr>
          <p:spPr>
            <a:xfrm>
              <a:off x="495300" y="57150"/>
              <a:ext cx="381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200" b="1" dirty="0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大葉園藝有限公司 ✕</a:t>
              </a:r>
              <a:r>
                <a:rPr lang="en-US" altLang="zh-TW" sz="1200" b="1" dirty="0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 VS XX</a:t>
              </a:r>
              <a:r>
                <a:rPr lang="zh-TW" altLang="en-US" sz="1200" b="1" dirty="0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 聯合會計事務所</a:t>
              </a:r>
              <a:endParaRPr sz="1200" b="1" dirty="0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sp>
        <p:nvSpPr>
          <p:cNvPr id="64" name="Google Shape;64;p14"/>
          <p:cNvSpPr txBox="1"/>
          <p:nvPr/>
        </p:nvSpPr>
        <p:spPr>
          <a:xfrm>
            <a:off x="571500" y="1905000"/>
            <a:ext cx="76200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50" b="1" dirty="0">
                <a:solidFill>
                  <a:srgbClr val="5A7557"/>
                </a:solidFill>
                <a:latin typeface="Noto Sans TC"/>
                <a:ea typeface="Noto Sans TC"/>
                <a:cs typeface="Noto Sans TC"/>
                <a:sym typeface="Noto Sans TC"/>
              </a:rPr>
              <a:t>您的綠色事業 我們來守護</a:t>
            </a:r>
            <a:endParaRPr sz="1650" b="1" dirty="0">
              <a:solidFill>
                <a:srgbClr val="5A7557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marL="0" lvl="0" indent="0" algn="l" rtl="0">
              <a:spcBef>
                <a:spcPts val="1800"/>
              </a:spcBef>
              <a:spcAft>
                <a:spcPts val="0"/>
              </a:spcAft>
              <a:buNone/>
            </a:pPr>
            <a:r>
              <a:rPr lang="zh-TW" sz="3600" b="1" dirty="0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rPr>
              <a:t>從公司設立到</a:t>
            </a:r>
            <a:r>
              <a:rPr lang="zh-TW" altLang="en-US" sz="3600" b="1" dirty="0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rPr>
              <a:t>年度</a:t>
            </a:r>
            <a:r>
              <a:rPr lang="zh-TW" sz="3600" b="1" dirty="0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rPr>
              <a:t>稅務規劃</a:t>
            </a:r>
            <a:endParaRPr sz="3600" b="1" dirty="0">
              <a:solidFill>
                <a:srgbClr val="1E2A22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600" b="1" dirty="0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rPr>
              <a:t>一條龍避坑指南</a:t>
            </a:r>
            <a:endParaRPr sz="3600" b="1" dirty="0">
              <a:solidFill>
                <a:srgbClr val="1E2A22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marL="0" lvl="0" indent="0" algn="l" rtl="0">
              <a:spcBef>
                <a:spcPts val="1800"/>
              </a:spcBef>
              <a:spcAft>
                <a:spcPts val="0"/>
              </a:spcAft>
              <a:buNone/>
            </a:pPr>
            <a:r>
              <a:rPr lang="zh-TW" sz="1200" b="0" dirty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rPr>
              <a:t>專為大葉園藝量身打造的轉型策略與合規藍圖</a:t>
            </a:r>
            <a:endParaRPr sz="1200" b="0" dirty="0">
              <a:solidFill>
                <a:srgbClr val="7C9878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grpSp>
        <p:nvGrpSpPr>
          <p:cNvPr id="65" name="Google Shape;65;p14"/>
          <p:cNvGrpSpPr/>
          <p:nvPr/>
        </p:nvGrpSpPr>
        <p:grpSpPr>
          <a:xfrm>
            <a:off x="571500" y="4667250"/>
            <a:ext cx="8001000" cy="323850"/>
            <a:chOff x="0" y="0"/>
            <a:chExt cx="8001000" cy="323850"/>
          </a:xfrm>
        </p:grpSpPr>
        <p:cxnSp>
          <p:nvCxnSpPr>
            <p:cNvPr id="66" name="Google Shape;66;p14"/>
            <p:cNvCxnSpPr/>
            <p:nvPr/>
          </p:nvCxnSpPr>
          <p:spPr>
            <a:xfrm>
              <a:off x="0" y="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67" name="Google Shape;67;p14"/>
            <p:cNvSpPr txBox="1"/>
            <p:nvPr/>
          </p:nvSpPr>
          <p:spPr>
            <a:xfrm>
              <a:off x="0" y="95250"/>
              <a:ext cx="4762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大葉園藝有限公司 ✕ 稅務顧問團隊 | 企業轉型與稅務規劃指南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68" name="Google Shape;68;p14"/>
            <p:cNvSpPr txBox="1"/>
            <p:nvPr/>
          </p:nvSpPr>
          <p:spPr>
            <a:xfrm>
              <a:off x="7048500" y="95250"/>
              <a:ext cx="952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2026.08 Edition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1FBC7B3-AB61-A8FD-7AEA-0662EFAD32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/>
              <a:t>成員介紹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56814B9-245C-63DE-B866-737E02B412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zh-TW" altLang="en-US" dirty="0"/>
              <a:t>三欄</a:t>
            </a:r>
            <a:endParaRPr lang="en-US" altLang="zh-TW" dirty="0"/>
          </a:p>
          <a:p>
            <a:r>
              <a:rPr lang="zh-TW" altLang="en-US" dirty="0"/>
              <a:t>學號 </a:t>
            </a:r>
            <a:r>
              <a:rPr lang="en-US" altLang="zh-TW" dirty="0"/>
              <a:t>18</a:t>
            </a:r>
            <a:r>
              <a:rPr lang="zh-TW" altLang="en-US" dirty="0"/>
              <a:t> </a:t>
            </a:r>
            <a:r>
              <a:rPr lang="en-US" altLang="zh-TW" dirty="0"/>
              <a:t>2</a:t>
            </a:r>
            <a:r>
              <a:rPr lang="zh-TW" altLang="en-US" dirty="0"/>
              <a:t> </a:t>
            </a:r>
            <a:r>
              <a:rPr lang="en-US" altLang="zh-TW" dirty="0"/>
              <a:t>13|</a:t>
            </a:r>
            <a:r>
              <a:rPr lang="zh-TW" altLang="en-US" dirty="0"/>
              <a:t> 名字 </a:t>
            </a:r>
            <a:r>
              <a:rPr lang="en-US" altLang="zh-TW" dirty="0"/>
              <a:t>|</a:t>
            </a:r>
            <a:r>
              <a:rPr lang="zh-TW" altLang="en-US" dirty="0"/>
              <a:t>角色 </a:t>
            </a:r>
            <a:r>
              <a:rPr lang="en-US" altLang="zh-TW" dirty="0"/>
              <a:t>|</a:t>
            </a:r>
            <a:r>
              <a:rPr lang="zh-TW" altLang="en-US" dirty="0"/>
              <a:t>主講內容</a:t>
            </a:r>
          </a:p>
        </p:txBody>
      </p:sp>
    </p:spTree>
    <p:extLst>
      <p:ext uri="{BB962C8B-B14F-4D97-AF65-F5344CB8AC3E}">
        <p14:creationId xmlns:p14="http://schemas.microsoft.com/office/powerpoint/2010/main" val="3345533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/>
          <p:nvPr/>
        </p:nvSpPr>
        <p:spPr>
          <a:xfrm>
            <a:off x="5905500" y="-1714500"/>
            <a:ext cx="5334000" cy="5334000"/>
          </a:xfrm>
          <a:prstGeom prst="ellipse">
            <a:avLst/>
          </a:prstGeom>
          <a:solidFill>
            <a:srgbClr val="7C9878">
              <a:alpha val="8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15"/>
          <p:cNvSpPr/>
          <p:nvPr/>
        </p:nvSpPr>
        <p:spPr>
          <a:xfrm>
            <a:off x="-476250" y="3333750"/>
            <a:ext cx="2857500" cy="2857500"/>
          </a:xfrm>
          <a:prstGeom prst="ellipse">
            <a:avLst/>
          </a:prstGeom>
          <a:solidFill>
            <a:srgbClr val="5A7557">
              <a:alpha val="5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5" name="Google Shape;75;p15"/>
          <p:cNvGrpSpPr/>
          <p:nvPr/>
        </p:nvGrpSpPr>
        <p:grpSpPr>
          <a:xfrm>
            <a:off x="571500" y="381000"/>
            <a:ext cx="7772400" cy="1428750"/>
            <a:chOff x="0" y="0"/>
            <a:chExt cx="7772400" cy="1428750"/>
          </a:xfrm>
        </p:grpSpPr>
        <p:grpSp>
          <p:nvGrpSpPr>
            <p:cNvPr id="76" name="Google Shape;76;p15"/>
            <p:cNvGrpSpPr/>
            <p:nvPr/>
          </p:nvGrpSpPr>
          <p:grpSpPr>
            <a:xfrm>
              <a:off x="0" y="0"/>
              <a:ext cx="2400300" cy="381000"/>
              <a:chOff x="0" y="0"/>
              <a:chExt cx="2400300" cy="381000"/>
            </a:xfrm>
          </p:grpSpPr>
          <p:sp>
            <p:nvSpPr>
              <p:cNvPr id="79" name="Google Shape;79;p15"/>
              <p:cNvSpPr txBox="1"/>
              <p:nvPr/>
            </p:nvSpPr>
            <p:spPr>
              <a:xfrm>
                <a:off x="495300" y="57150"/>
                <a:ext cx="1905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200" b="1">
                    <a:solidFill>
                      <a:srgbClr val="1E2A22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大葉園藝顧問</a:t>
                </a:r>
                <a:endParaRPr sz="120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</p:grpSp>
        <p:grpSp>
          <p:nvGrpSpPr>
            <p:cNvPr id="80" name="Google Shape;80;p15"/>
            <p:cNvGrpSpPr/>
            <p:nvPr/>
          </p:nvGrpSpPr>
          <p:grpSpPr>
            <a:xfrm>
              <a:off x="0" y="666750"/>
              <a:ext cx="7772400" cy="762000"/>
              <a:chOff x="0" y="0"/>
              <a:chExt cx="7772400" cy="762000"/>
            </a:xfrm>
          </p:grpSpPr>
          <p:sp>
            <p:nvSpPr>
              <p:cNvPr id="82" name="Google Shape;82;p15"/>
              <p:cNvSpPr txBox="1"/>
              <p:nvPr/>
            </p:nvSpPr>
            <p:spPr>
              <a:xfrm>
                <a:off x="152400" y="0"/>
                <a:ext cx="76200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900" b="1">
                    <a:solidFill>
                      <a:srgbClr val="7C9878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TODAY'S AGENDA</a:t>
                </a:r>
                <a:endParaRPr sz="900" b="1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300"/>
                  </a:spcAft>
                  <a:buNone/>
                </a:pPr>
                <a:r>
                  <a:rPr lang="zh-TW" sz="2100" b="1">
                    <a:solidFill>
                      <a:srgbClr val="2D4333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今天要帶您走完的路</a:t>
                </a:r>
                <a:endParaRPr sz="2100" b="1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</p:grpSp>
      </p:grpSp>
      <p:grpSp>
        <p:nvGrpSpPr>
          <p:cNvPr id="83" name="Google Shape;83;p15"/>
          <p:cNvGrpSpPr/>
          <p:nvPr/>
        </p:nvGrpSpPr>
        <p:grpSpPr>
          <a:xfrm>
            <a:off x="571500" y="2000250"/>
            <a:ext cx="8001000" cy="2333775"/>
            <a:chOff x="0" y="0"/>
            <a:chExt cx="8001000" cy="2333775"/>
          </a:xfrm>
        </p:grpSpPr>
        <p:grpSp>
          <p:nvGrpSpPr>
            <p:cNvPr id="84" name="Google Shape;84;p15"/>
            <p:cNvGrpSpPr/>
            <p:nvPr/>
          </p:nvGrpSpPr>
          <p:grpSpPr>
            <a:xfrm>
              <a:off x="0" y="0"/>
              <a:ext cx="3810000" cy="1047900"/>
              <a:chOff x="0" y="0"/>
              <a:chExt cx="3810000" cy="1047900"/>
            </a:xfrm>
          </p:grpSpPr>
          <p:sp>
            <p:nvSpPr>
              <p:cNvPr id="85" name="Google Shape;85;p15"/>
              <p:cNvSpPr/>
              <p:nvPr/>
            </p:nvSpPr>
            <p:spPr>
              <a:xfrm>
                <a:off x="0" y="0"/>
                <a:ext cx="3810000" cy="1047900"/>
              </a:xfrm>
              <a:prstGeom prst="roundRect">
                <a:avLst>
                  <a:gd name="adj" fmla="val 14545"/>
                </a:avLst>
              </a:prstGeom>
              <a:solidFill>
                <a:srgbClr val="FFFFFF"/>
              </a:solidFill>
              <a:ln w="9525" cap="flat" cmpd="sng">
                <a:solidFill>
                  <a:srgbClr val="E8E5D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86;p15"/>
              <p:cNvSpPr txBox="1"/>
              <p:nvPr/>
            </p:nvSpPr>
            <p:spPr>
              <a:xfrm>
                <a:off x="228600" y="228600"/>
                <a:ext cx="3352800" cy="59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650" b="1" dirty="0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公司設立</a:t>
                </a:r>
                <a:r>
                  <a:rPr lang="en-US" altLang="zh-TW" sz="1650" b="1" dirty="0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-</a:t>
                </a:r>
                <a:r>
                  <a:rPr lang="zh-TW" altLang="en-US" sz="1650" b="1" dirty="0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德詮</a:t>
                </a:r>
                <a:r>
                  <a:rPr lang="en-US" altLang="zh-TW" sz="1650" b="1" dirty="0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.</a:t>
                </a:r>
                <a:r>
                  <a:rPr lang="zh-TW" altLang="en-US" sz="1650" b="1" dirty="0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素麗</a:t>
                </a:r>
                <a:endParaRPr sz="1650" b="1" dirty="0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</p:grpSp>
        <p:grpSp>
          <p:nvGrpSpPr>
            <p:cNvPr id="87" name="Google Shape;87;p15"/>
            <p:cNvGrpSpPr/>
            <p:nvPr/>
          </p:nvGrpSpPr>
          <p:grpSpPr>
            <a:xfrm>
              <a:off x="4191000" y="0"/>
              <a:ext cx="3810000" cy="1047900"/>
              <a:chOff x="0" y="0"/>
              <a:chExt cx="3810000" cy="1047900"/>
            </a:xfrm>
          </p:grpSpPr>
          <p:sp>
            <p:nvSpPr>
              <p:cNvPr id="88" name="Google Shape;88;p15"/>
              <p:cNvSpPr/>
              <p:nvPr/>
            </p:nvSpPr>
            <p:spPr>
              <a:xfrm>
                <a:off x="0" y="0"/>
                <a:ext cx="3810000" cy="1047900"/>
              </a:xfrm>
              <a:prstGeom prst="roundRect">
                <a:avLst>
                  <a:gd name="adj" fmla="val 14545"/>
                </a:avLst>
              </a:prstGeom>
              <a:solidFill>
                <a:srgbClr val="FFFFFF"/>
              </a:solidFill>
              <a:ln w="9525" cap="flat" cmpd="sng">
                <a:solidFill>
                  <a:srgbClr val="E8E5D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15"/>
              <p:cNvSpPr txBox="1"/>
              <p:nvPr/>
            </p:nvSpPr>
            <p:spPr>
              <a:xfrm>
                <a:off x="228600" y="228600"/>
                <a:ext cx="3352800" cy="59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650" b="1" dirty="0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營業稅申報</a:t>
                </a:r>
                <a:r>
                  <a:rPr lang="en-US" altLang="zh-TW" sz="1650" b="1" dirty="0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-</a:t>
                </a:r>
                <a:r>
                  <a:rPr lang="zh-TW" altLang="en-US" sz="1650" b="1" dirty="0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瓊月</a:t>
                </a:r>
                <a:r>
                  <a:rPr lang="en-US" altLang="zh-TW" sz="1650" b="1" dirty="0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.</a:t>
                </a:r>
                <a:r>
                  <a:rPr lang="zh-TW" altLang="en-US" sz="1650" b="1" dirty="0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素麗</a:t>
                </a:r>
                <a:endParaRPr sz="1650" b="1" dirty="0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</p:grpSp>
        <p:grpSp>
          <p:nvGrpSpPr>
            <p:cNvPr id="90" name="Google Shape;90;p15"/>
            <p:cNvGrpSpPr/>
            <p:nvPr/>
          </p:nvGrpSpPr>
          <p:grpSpPr>
            <a:xfrm>
              <a:off x="0" y="1285875"/>
              <a:ext cx="3810000" cy="1047900"/>
              <a:chOff x="0" y="0"/>
              <a:chExt cx="3810000" cy="1047900"/>
            </a:xfrm>
          </p:grpSpPr>
          <p:sp>
            <p:nvSpPr>
              <p:cNvPr id="91" name="Google Shape;91;p15"/>
              <p:cNvSpPr/>
              <p:nvPr/>
            </p:nvSpPr>
            <p:spPr>
              <a:xfrm>
                <a:off x="0" y="0"/>
                <a:ext cx="3810000" cy="1047900"/>
              </a:xfrm>
              <a:prstGeom prst="roundRect">
                <a:avLst>
                  <a:gd name="adj" fmla="val 14545"/>
                </a:avLst>
              </a:prstGeom>
              <a:solidFill>
                <a:srgbClr val="FFFFFF"/>
              </a:solidFill>
              <a:ln w="9525" cap="flat" cmpd="sng">
                <a:solidFill>
                  <a:srgbClr val="E8E5D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15"/>
              <p:cNvSpPr txBox="1"/>
              <p:nvPr/>
            </p:nvSpPr>
            <p:spPr>
              <a:xfrm>
                <a:off x="228600" y="228600"/>
                <a:ext cx="3352800" cy="59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650" b="1" dirty="0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營所稅結算</a:t>
                </a:r>
                <a:r>
                  <a:rPr lang="en-US" altLang="zh-TW" sz="1650" b="1" dirty="0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-</a:t>
                </a:r>
                <a:r>
                  <a:rPr lang="zh-TW" altLang="en-US" sz="1650" b="1" dirty="0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瓊月</a:t>
                </a:r>
                <a:r>
                  <a:rPr lang="en-US" altLang="zh-TW" sz="1650" b="1" dirty="0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.</a:t>
                </a:r>
                <a:r>
                  <a:rPr lang="zh-TW" altLang="en-US" sz="1650" b="1" dirty="0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素麗</a:t>
                </a:r>
                <a:endParaRPr sz="1650" b="1" dirty="0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</p:grpSp>
        <p:grpSp>
          <p:nvGrpSpPr>
            <p:cNvPr id="93" name="Google Shape;93;p15"/>
            <p:cNvGrpSpPr/>
            <p:nvPr/>
          </p:nvGrpSpPr>
          <p:grpSpPr>
            <a:xfrm>
              <a:off x="4191000" y="1285875"/>
              <a:ext cx="3810000" cy="1047900"/>
              <a:chOff x="0" y="0"/>
              <a:chExt cx="3810000" cy="1047900"/>
            </a:xfrm>
          </p:grpSpPr>
          <p:sp>
            <p:nvSpPr>
              <p:cNvPr id="94" name="Google Shape;94;p15"/>
              <p:cNvSpPr/>
              <p:nvPr/>
            </p:nvSpPr>
            <p:spPr>
              <a:xfrm>
                <a:off x="0" y="0"/>
                <a:ext cx="3810000" cy="1047900"/>
              </a:xfrm>
              <a:prstGeom prst="roundRect">
                <a:avLst>
                  <a:gd name="adj" fmla="val 14545"/>
                </a:avLst>
              </a:prstGeom>
              <a:solidFill>
                <a:srgbClr val="FFFFFF"/>
              </a:solidFill>
              <a:ln w="9525" cap="flat" cmpd="sng">
                <a:solidFill>
                  <a:srgbClr val="E8E5D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15"/>
              <p:cNvSpPr txBox="1"/>
              <p:nvPr/>
            </p:nvSpPr>
            <p:spPr>
              <a:xfrm>
                <a:off x="228600" y="228600"/>
                <a:ext cx="3352800" cy="59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altLang="en-US" sz="1650" b="1" dirty="0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發票與稅務</a:t>
                </a:r>
                <a:r>
                  <a:rPr lang="en-US" altLang="zh-TW" sz="1650" b="1" dirty="0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(</a:t>
                </a:r>
                <a:r>
                  <a:rPr lang="zh-TW" altLang="en-US" sz="1650" b="1" dirty="0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與營業稅</a:t>
                </a:r>
                <a:r>
                  <a:rPr lang="en-US" altLang="zh-TW" sz="1650" b="1" dirty="0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.</a:t>
                </a:r>
                <a:r>
                  <a:rPr lang="zh-TW" altLang="en-US" sz="1650" b="1" dirty="0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營業稅合併</a:t>
                </a:r>
                <a:r>
                  <a:rPr lang="en-US" altLang="zh-TW" sz="1650" b="1" dirty="0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)</a:t>
                </a:r>
                <a:br>
                  <a:rPr lang="en-US" altLang="zh-TW" sz="1650" b="1" dirty="0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</a:br>
                <a:r>
                  <a:rPr lang="en-US" altLang="zh-TW" sz="1650" b="1" dirty="0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-</a:t>
                </a:r>
                <a:r>
                  <a:rPr lang="zh-TW" altLang="en-US" sz="1650" b="1" dirty="0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瓊月</a:t>
                </a:r>
                <a:r>
                  <a:rPr lang="en-US" altLang="zh-TW" sz="1650" b="1" dirty="0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.</a:t>
                </a:r>
                <a:r>
                  <a:rPr lang="zh-TW" altLang="en-US" sz="1650" b="1" dirty="0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素麗</a:t>
                </a:r>
              </a:p>
            </p:txBody>
          </p:sp>
        </p:grpSp>
      </p:grpSp>
      <p:grpSp>
        <p:nvGrpSpPr>
          <p:cNvPr id="96" name="Google Shape;96;p15"/>
          <p:cNvGrpSpPr/>
          <p:nvPr/>
        </p:nvGrpSpPr>
        <p:grpSpPr>
          <a:xfrm>
            <a:off x="571500" y="4667250"/>
            <a:ext cx="8001000" cy="333450"/>
            <a:chOff x="0" y="0"/>
            <a:chExt cx="8001000" cy="333450"/>
          </a:xfrm>
        </p:grpSpPr>
        <p:cxnSp>
          <p:nvCxnSpPr>
            <p:cNvPr id="97" name="Google Shape;97;p15"/>
            <p:cNvCxnSpPr/>
            <p:nvPr/>
          </p:nvCxnSpPr>
          <p:spPr>
            <a:xfrm>
              <a:off x="0" y="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98" name="Google Shape;98;p15"/>
            <p:cNvSpPr txBox="1"/>
            <p:nvPr/>
          </p:nvSpPr>
          <p:spPr>
            <a:xfrm>
              <a:off x="0" y="95250"/>
              <a:ext cx="6667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客戶現況：陳老闆經營家族園藝 20 年，要正式轉型為有限公司 | 2026.08 Edition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99" name="Google Shape;99;p15"/>
            <p:cNvSpPr txBox="1"/>
            <p:nvPr/>
          </p:nvSpPr>
          <p:spPr>
            <a:xfrm>
              <a:off x="7048500" y="95250"/>
              <a:ext cx="952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Page 02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05" name="Google Shape;105;p16"/>
          <p:cNvGrpSpPr/>
          <p:nvPr/>
        </p:nvGrpSpPr>
        <p:grpSpPr>
          <a:xfrm>
            <a:off x="571500" y="381000"/>
            <a:ext cx="2400300" cy="381000"/>
            <a:chOff x="0" y="0"/>
            <a:chExt cx="2400300" cy="381000"/>
          </a:xfrm>
        </p:grpSpPr>
        <p:sp>
          <p:nvSpPr>
            <p:cNvPr id="108" name="Google Shape;108;p16"/>
            <p:cNvSpPr txBox="1"/>
            <p:nvPr/>
          </p:nvSpPr>
          <p:spPr>
            <a:xfrm>
              <a:off x="495300" y="57150"/>
              <a:ext cx="190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20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大葉園藝顧問</a:t>
              </a:r>
              <a:endParaRPr sz="120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sp>
        <p:nvSpPr>
          <p:cNvPr id="109" name="Google Shape;109;p16"/>
          <p:cNvSpPr/>
          <p:nvPr/>
        </p:nvSpPr>
        <p:spPr>
          <a:xfrm>
            <a:off x="7715250" y="3714750"/>
            <a:ext cx="2857500" cy="2857500"/>
          </a:xfrm>
          <a:prstGeom prst="ellipse">
            <a:avLst/>
          </a:prstGeom>
          <a:solidFill>
            <a:srgbClr val="5A7557">
              <a:alpha val="5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0" name="Google Shape;110;p16"/>
          <p:cNvGrpSpPr/>
          <p:nvPr/>
        </p:nvGrpSpPr>
        <p:grpSpPr>
          <a:xfrm>
            <a:off x="571500" y="952500"/>
            <a:ext cx="4914900" cy="762000"/>
            <a:chOff x="0" y="0"/>
            <a:chExt cx="4914900" cy="762000"/>
          </a:xfrm>
        </p:grpSpPr>
        <p:sp>
          <p:nvSpPr>
            <p:cNvPr id="112" name="Google Shape;112;p16"/>
            <p:cNvSpPr txBox="1"/>
            <p:nvPr/>
          </p:nvSpPr>
          <p:spPr>
            <a:xfrm>
              <a:off x="152400" y="0"/>
              <a:ext cx="4762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100" b="1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陳老闆的園藝</a:t>
              </a:r>
              <a:r>
                <a:rPr lang="zh-TW" altLang="en-US" sz="2100" b="1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經營之路</a:t>
              </a:r>
              <a:endParaRPr sz="2100" b="1" dirty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zh-TW" sz="900" b="0" dirty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CLIENT PROFILE</a:t>
              </a:r>
              <a:endParaRPr sz="900" b="0" dirty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113" name="Google Shape;113;p16"/>
          <p:cNvGrpSpPr/>
          <p:nvPr/>
        </p:nvGrpSpPr>
        <p:grpSpPr>
          <a:xfrm>
            <a:off x="571500" y="1762125"/>
            <a:ext cx="3905400" cy="2381400"/>
            <a:chOff x="0" y="0"/>
            <a:chExt cx="3905400" cy="2381400"/>
          </a:xfrm>
        </p:grpSpPr>
        <p:sp>
          <p:nvSpPr>
            <p:cNvPr id="114" name="Google Shape;114;p16"/>
            <p:cNvSpPr/>
            <p:nvPr/>
          </p:nvSpPr>
          <p:spPr>
            <a:xfrm>
              <a:off x="0" y="0"/>
              <a:ext cx="3905400" cy="2381400"/>
            </a:xfrm>
            <a:prstGeom prst="roundRect">
              <a:avLst>
                <a:gd name="adj" fmla="val 6400"/>
              </a:avLst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6"/>
            <p:cNvSpPr txBox="1"/>
            <p:nvPr/>
          </p:nvSpPr>
          <p:spPr>
            <a:xfrm>
              <a:off x="381000" y="228600"/>
              <a:ext cx="32958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650" b="1" dirty="0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現況</a:t>
              </a:r>
              <a:endParaRPr sz="1650" b="1" dirty="0">
                <a:solidFill>
                  <a:srgbClr val="5A7557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457200" lvl="0" indent="-317500" algn="l" rtl="0">
                <a:spcBef>
                  <a:spcPts val="1500"/>
                </a:spcBef>
                <a:spcAft>
                  <a:spcPts val="0"/>
                </a:spcAft>
                <a:buClr>
                  <a:srgbClr val="5A7557"/>
                </a:buClr>
                <a:buSzPts val="1400"/>
                <a:buChar char="●"/>
              </a:pPr>
              <a:r>
                <a:rPr lang="zh-TW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家族園藝經營 20 年</a:t>
              </a:r>
              <a:endParaRPr sz="1050" b="0" dirty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457200" lvl="0" indent="-317500" algn="l" rtl="0">
                <a:spcBef>
                  <a:spcPts val="750"/>
                </a:spcBef>
                <a:spcAft>
                  <a:spcPts val="0"/>
                </a:spcAft>
                <a:buClr>
                  <a:srgbClr val="5A7557"/>
                </a:buClr>
                <a:buSzPts val="1400"/>
                <a:buChar char="●"/>
              </a:pPr>
              <a:r>
                <a:rPr lang="zh-TW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花卉批發 + 庭園綠化施工</a:t>
              </a:r>
              <a:endParaRPr sz="1050" b="0" dirty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457200" lvl="0" indent="-317500" algn="l" rtl="0">
                <a:spcBef>
                  <a:spcPts val="750"/>
                </a:spcBef>
                <a:spcAft>
                  <a:spcPts val="0"/>
                </a:spcAft>
                <a:buClr>
                  <a:srgbClr val="5A7557"/>
                </a:buClr>
                <a:buSzPts val="1400"/>
                <a:buChar char="●"/>
              </a:pPr>
              <a:r>
                <a:rPr lang="zh-TW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企業客戶要求開發票</a:t>
              </a:r>
              <a:endParaRPr sz="1050" b="0" dirty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457200" lvl="0" indent="-317500" algn="l" rtl="0">
                <a:spcBef>
                  <a:spcPts val="750"/>
                </a:spcBef>
                <a:spcAft>
                  <a:spcPts val="750"/>
                </a:spcAft>
                <a:buClr>
                  <a:srgbClr val="5A7557"/>
                </a:buClr>
                <a:buSzPts val="1400"/>
                <a:buChar char="●"/>
              </a:pPr>
              <a:r>
                <a:rPr lang="zh-TW" altLang="en-US" sz="105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規劃</a:t>
              </a:r>
              <a:r>
                <a:rPr lang="zh-TW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設立公司</a:t>
              </a:r>
              <a:endParaRPr sz="1050" b="0" dirty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117" name="Google Shape;117;p16"/>
          <p:cNvGrpSpPr/>
          <p:nvPr/>
        </p:nvGrpSpPr>
        <p:grpSpPr>
          <a:xfrm>
            <a:off x="4667250" y="1762125"/>
            <a:ext cx="3905400" cy="2381400"/>
            <a:chOff x="0" y="0"/>
            <a:chExt cx="3905400" cy="2381400"/>
          </a:xfrm>
        </p:grpSpPr>
        <p:sp>
          <p:nvSpPr>
            <p:cNvPr id="118" name="Google Shape;118;p16"/>
            <p:cNvSpPr/>
            <p:nvPr/>
          </p:nvSpPr>
          <p:spPr>
            <a:xfrm>
              <a:off x="0" y="0"/>
              <a:ext cx="3905400" cy="2381400"/>
            </a:xfrm>
            <a:prstGeom prst="roundRect">
              <a:avLst>
                <a:gd name="adj" fmla="val 6400"/>
              </a:avLst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6"/>
            <p:cNvSpPr txBox="1"/>
            <p:nvPr/>
          </p:nvSpPr>
          <p:spPr>
            <a:xfrm>
              <a:off x="381000" y="228600"/>
              <a:ext cx="32958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altLang="en-US" sz="1650" b="1" dirty="0">
                  <a:solidFill>
                    <a:srgbClr val="C55D4D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需求</a:t>
              </a:r>
              <a:endParaRPr sz="1650" b="1" dirty="0">
                <a:solidFill>
                  <a:srgbClr val="C55D4D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457200" lvl="0" indent="-317500" algn="l" rtl="0">
                <a:spcBef>
                  <a:spcPts val="1500"/>
                </a:spcBef>
                <a:spcAft>
                  <a:spcPts val="0"/>
                </a:spcAft>
                <a:buClr>
                  <a:srgbClr val="C55D4D"/>
                </a:buClr>
                <a:buSzPts val="1400"/>
                <a:buChar char="●"/>
              </a:pPr>
              <a:r>
                <a:rPr lang="zh-TW" altLang="en-US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想知道如何設立有限公司</a:t>
              </a:r>
              <a:endParaRPr lang="en-US" altLang="zh-TW" sz="1050" b="0" dirty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457200" lvl="0" indent="-317500" algn="l" rtl="0">
                <a:spcBef>
                  <a:spcPts val="1500"/>
                </a:spcBef>
                <a:spcAft>
                  <a:spcPts val="0"/>
                </a:spcAft>
                <a:buClr>
                  <a:srgbClr val="C55D4D"/>
                </a:buClr>
                <a:buSzPts val="1400"/>
                <a:buChar char="●"/>
              </a:pPr>
              <a:r>
                <a:rPr lang="zh-TW" altLang="en-US" sz="105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想了解相關稅務問題</a:t>
              </a:r>
              <a:endParaRPr sz="1050" b="0" dirty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121" name="Google Shape;121;p16"/>
          <p:cNvGrpSpPr/>
          <p:nvPr/>
        </p:nvGrpSpPr>
        <p:grpSpPr>
          <a:xfrm>
            <a:off x="571500" y="4238625"/>
            <a:ext cx="8001000" cy="342900"/>
            <a:chOff x="0" y="0"/>
            <a:chExt cx="8001000" cy="342900"/>
          </a:xfrm>
        </p:grpSpPr>
        <p:sp>
          <p:nvSpPr>
            <p:cNvPr id="122" name="Google Shape;122;p16"/>
            <p:cNvSpPr/>
            <p:nvPr/>
          </p:nvSpPr>
          <p:spPr>
            <a:xfrm>
              <a:off x="0" y="0"/>
              <a:ext cx="8001000" cy="342900"/>
            </a:xfrm>
            <a:prstGeom prst="roundRect">
              <a:avLst>
                <a:gd name="adj" fmla="val 22222"/>
              </a:avLst>
            </a:prstGeom>
            <a:solidFill>
              <a:srgbClr val="F4F2E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6"/>
            <p:cNvSpPr txBox="1"/>
            <p:nvPr/>
          </p:nvSpPr>
          <p:spPr>
            <a:xfrm>
              <a:off x="190500" y="76200"/>
              <a:ext cx="762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1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 為了接軌大型企業客戶並完善家族傳承，</a:t>
              </a:r>
              <a:r>
                <a:rPr lang="zh-TW" sz="1050" b="1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合規轉型</a:t>
              </a:r>
              <a:r>
                <a:rPr lang="zh-TW" sz="1050" b="1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是園藝夢壯大的必經之路。</a:t>
              </a:r>
              <a:endParaRPr sz="1050" b="1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124" name="Google Shape;124;p16"/>
          <p:cNvGrpSpPr/>
          <p:nvPr/>
        </p:nvGrpSpPr>
        <p:grpSpPr>
          <a:xfrm>
            <a:off x="571500" y="4667250"/>
            <a:ext cx="8001000" cy="285750"/>
            <a:chOff x="0" y="0"/>
            <a:chExt cx="8001000" cy="285750"/>
          </a:xfrm>
        </p:grpSpPr>
        <p:cxnSp>
          <p:nvCxnSpPr>
            <p:cNvPr id="125" name="Google Shape;125;p16"/>
            <p:cNvCxnSpPr/>
            <p:nvPr/>
          </p:nvCxnSpPr>
          <p:spPr>
            <a:xfrm>
              <a:off x="0" y="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26" name="Google Shape;126;p16"/>
            <p:cNvSpPr txBox="1"/>
            <p:nvPr/>
          </p:nvSpPr>
          <p:spPr>
            <a:xfrm>
              <a:off x="0" y="952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大葉園藝有限公司 ✕ 稅務顧問團隊 | 企業轉型與稅務規劃指南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127" name="Google Shape;127;p16"/>
            <p:cNvSpPr txBox="1"/>
            <p:nvPr/>
          </p:nvSpPr>
          <p:spPr>
            <a:xfrm>
              <a:off x="7048500" y="95250"/>
              <a:ext cx="952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2026.08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7"/>
          <p:cNvSpPr/>
          <p:nvPr/>
        </p:nvSpPr>
        <p:spPr>
          <a:xfrm>
            <a:off x="7715250" y="-1428750"/>
            <a:ext cx="2857500" cy="2857500"/>
          </a:xfrm>
          <a:prstGeom prst="ellipse">
            <a:avLst/>
          </a:prstGeom>
          <a:solidFill>
            <a:srgbClr val="5A7557">
              <a:alpha val="3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3" name="Google Shape;133;p17"/>
          <p:cNvGrpSpPr/>
          <p:nvPr/>
        </p:nvGrpSpPr>
        <p:grpSpPr>
          <a:xfrm>
            <a:off x="571500" y="381000"/>
            <a:ext cx="2400300" cy="381000"/>
            <a:chOff x="0" y="0"/>
            <a:chExt cx="2400300" cy="381000"/>
          </a:xfrm>
        </p:grpSpPr>
        <p:sp>
          <p:nvSpPr>
            <p:cNvPr id="136" name="Google Shape;136;p17"/>
            <p:cNvSpPr txBox="1"/>
            <p:nvPr/>
          </p:nvSpPr>
          <p:spPr>
            <a:xfrm>
              <a:off x="495300" y="57150"/>
              <a:ext cx="190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20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大葉園藝顧問</a:t>
              </a:r>
              <a:endParaRPr sz="120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137" name="Google Shape;137;p17"/>
          <p:cNvGrpSpPr/>
          <p:nvPr/>
        </p:nvGrpSpPr>
        <p:grpSpPr>
          <a:xfrm>
            <a:off x="571500" y="952500"/>
            <a:ext cx="7772400" cy="762000"/>
            <a:chOff x="0" y="0"/>
            <a:chExt cx="7772400" cy="762000"/>
          </a:xfrm>
        </p:grpSpPr>
        <p:sp>
          <p:nvSpPr>
            <p:cNvPr id="139" name="Google Shape;139;p17"/>
            <p:cNvSpPr txBox="1"/>
            <p:nvPr/>
          </p:nvSpPr>
          <p:spPr>
            <a:xfrm>
              <a:off x="152400" y="0"/>
              <a:ext cx="7620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0" dirty="0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PART 1 — 公司設立</a:t>
              </a:r>
              <a:endParaRPr sz="1050" b="0" dirty="0">
                <a:solidFill>
                  <a:srgbClr val="5A7557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900"/>
                </a:spcAft>
                <a:buNone/>
              </a:pPr>
              <a:r>
                <a:rPr lang="zh-TW" altLang="en-US" sz="2100" b="1" dirty="0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公司設立步驟</a:t>
              </a:r>
              <a:endParaRPr sz="2100" b="1" dirty="0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140" name="Google Shape;140;p17"/>
          <p:cNvGrpSpPr/>
          <p:nvPr/>
        </p:nvGrpSpPr>
        <p:grpSpPr>
          <a:xfrm>
            <a:off x="152400" y="2095500"/>
            <a:ext cx="8001000" cy="895500"/>
            <a:chOff x="-419100" y="0"/>
            <a:chExt cx="8001000" cy="895500"/>
          </a:xfrm>
        </p:grpSpPr>
        <p:grpSp>
          <p:nvGrpSpPr>
            <p:cNvPr id="141" name="Google Shape;141;p17"/>
            <p:cNvGrpSpPr/>
            <p:nvPr/>
          </p:nvGrpSpPr>
          <p:grpSpPr>
            <a:xfrm>
              <a:off x="-419100" y="0"/>
              <a:ext cx="1143000" cy="895500"/>
              <a:chOff x="-419100" y="0"/>
              <a:chExt cx="1143000" cy="895500"/>
            </a:xfrm>
          </p:grpSpPr>
          <p:sp>
            <p:nvSpPr>
              <p:cNvPr id="143" name="Google Shape;143;p17"/>
              <p:cNvSpPr txBox="1"/>
              <p:nvPr/>
            </p:nvSpPr>
            <p:spPr>
              <a:xfrm>
                <a:off x="0" y="0"/>
                <a:ext cx="3048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050" b="1">
                    <a:solidFill>
                      <a:srgbClr val="3C5A3C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1</a:t>
                </a:r>
                <a:endParaRPr sz="1050" b="1">
                  <a:solidFill>
                    <a:srgbClr val="FFFFFF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  <p:sp>
            <p:nvSpPr>
              <p:cNvPr id="144" name="Google Shape;144;p17"/>
              <p:cNvSpPr txBox="1"/>
              <p:nvPr/>
            </p:nvSpPr>
            <p:spPr>
              <a:xfrm>
                <a:off x="-419100" y="419100"/>
                <a:ext cx="1143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050" b="1">
                    <a:solidFill>
                      <a:srgbClr val="1E2A22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名稱預查</a:t>
                </a:r>
                <a:endParaRPr sz="105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</p:grpSp>
        <p:grpSp>
          <p:nvGrpSpPr>
            <p:cNvPr id="146" name="Google Shape;146;p17"/>
            <p:cNvGrpSpPr/>
            <p:nvPr/>
          </p:nvGrpSpPr>
          <p:grpSpPr>
            <a:xfrm>
              <a:off x="723900" y="0"/>
              <a:ext cx="1143000" cy="895500"/>
              <a:chOff x="-419100" y="0"/>
              <a:chExt cx="1143000" cy="895500"/>
            </a:xfrm>
          </p:grpSpPr>
          <p:sp>
            <p:nvSpPr>
              <p:cNvPr id="148" name="Google Shape;148;p17"/>
              <p:cNvSpPr txBox="1"/>
              <p:nvPr/>
            </p:nvSpPr>
            <p:spPr>
              <a:xfrm>
                <a:off x="0" y="0"/>
                <a:ext cx="3048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050" b="1">
                    <a:solidFill>
                      <a:srgbClr val="3C5A3C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2</a:t>
                </a:r>
                <a:endParaRPr sz="1050" b="1">
                  <a:solidFill>
                    <a:srgbClr val="FFFFFF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  <p:sp>
            <p:nvSpPr>
              <p:cNvPr id="149" name="Google Shape;149;p17"/>
              <p:cNvSpPr txBox="1"/>
              <p:nvPr/>
            </p:nvSpPr>
            <p:spPr>
              <a:xfrm>
                <a:off x="-419100" y="419100"/>
                <a:ext cx="1143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050" b="1">
                    <a:solidFill>
                      <a:srgbClr val="1E2A22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確定地址</a:t>
                </a:r>
                <a:endParaRPr sz="105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</p:grpSp>
        <p:grpSp>
          <p:nvGrpSpPr>
            <p:cNvPr id="151" name="Google Shape;151;p17"/>
            <p:cNvGrpSpPr/>
            <p:nvPr/>
          </p:nvGrpSpPr>
          <p:grpSpPr>
            <a:xfrm>
              <a:off x="1866900" y="0"/>
              <a:ext cx="1143000" cy="895500"/>
              <a:chOff x="-419100" y="0"/>
              <a:chExt cx="1143000" cy="895500"/>
            </a:xfrm>
          </p:grpSpPr>
          <p:sp>
            <p:nvSpPr>
              <p:cNvPr id="153" name="Google Shape;153;p17"/>
              <p:cNvSpPr txBox="1"/>
              <p:nvPr/>
            </p:nvSpPr>
            <p:spPr>
              <a:xfrm>
                <a:off x="0" y="0"/>
                <a:ext cx="3048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050" b="1">
                    <a:solidFill>
                      <a:srgbClr val="3C5A3C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3</a:t>
                </a:r>
                <a:endParaRPr sz="1050" b="1">
                  <a:solidFill>
                    <a:srgbClr val="FFFFFF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  <p:sp>
            <p:nvSpPr>
              <p:cNvPr id="154" name="Google Shape;154;p17"/>
              <p:cNvSpPr txBox="1"/>
              <p:nvPr/>
            </p:nvSpPr>
            <p:spPr>
              <a:xfrm>
                <a:off x="-419100" y="419100"/>
                <a:ext cx="1143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050" b="1">
                    <a:solidFill>
                      <a:srgbClr val="1E2A22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銀行籌備戶</a:t>
                </a:r>
                <a:endParaRPr sz="105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</p:grpSp>
        <p:grpSp>
          <p:nvGrpSpPr>
            <p:cNvPr id="156" name="Google Shape;156;p17"/>
            <p:cNvGrpSpPr/>
            <p:nvPr/>
          </p:nvGrpSpPr>
          <p:grpSpPr>
            <a:xfrm>
              <a:off x="3009900" y="0"/>
              <a:ext cx="1143000" cy="895500"/>
              <a:chOff x="-419100" y="0"/>
              <a:chExt cx="1143000" cy="895500"/>
            </a:xfrm>
          </p:grpSpPr>
          <p:sp>
            <p:nvSpPr>
              <p:cNvPr id="158" name="Google Shape;158;p17"/>
              <p:cNvSpPr txBox="1"/>
              <p:nvPr/>
            </p:nvSpPr>
            <p:spPr>
              <a:xfrm>
                <a:off x="0" y="0"/>
                <a:ext cx="3048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050" b="1">
                    <a:solidFill>
                      <a:srgbClr val="3C5A3C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4</a:t>
                </a:r>
                <a:endParaRPr sz="1050" b="1">
                  <a:solidFill>
                    <a:srgbClr val="FFFFFF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  <p:sp>
            <p:nvSpPr>
              <p:cNvPr id="159" name="Google Shape;159;p17"/>
              <p:cNvSpPr txBox="1"/>
              <p:nvPr/>
            </p:nvSpPr>
            <p:spPr>
              <a:xfrm>
                <a:off x="-419100" y="419100"/>
                <a:ext cx="1143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050" b="1">
                    <a:solidFill>
                      <a:srgbClr val="1E2A22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會計師驗資</a:t>
                </a:r>
                <a:endParaRPr sz="105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</p:grpSp>
        <p:grpSp>
          <p:nvGrpSpPr>
            <p:cNvPr id="161" name="Google Shape;161;p17"/>
            <p:cNvGrpSpPr/>
            <p:nvPr/>
          </p:nvGrpSpPr>
          <p:grpSpPr>
            <a:xfrm>
              <a:off x="4152900" y="0"/>
              <a:ext cx="1143000" cy="895500"/>
              <a:chOff x="-419100" y="0"/>
              <a:chExt cx="1143000" cy="895500"/>
            </a:xfrm>
          </p:grpSpPr>
          <p:sp>
            <p:nvSpPr>
              <p:cNvPr id="163" name="Google Shape;163;p17"/>
              <p:cNvSpPr txBox="1"/>
              <p:nvPr/>
            </p:nvSpPr>
            <p:spPr>
              <a:xfrm>
                <a:off x="0" y="0"/>
                <a:ext cx="3048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050" b="1">
                    <a:solidFill>
                      <a:srgbClr val="3C5A3C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5</a:t>
                </a:r>
                <a:endParaRPr sz="1050" b="1">
                  <a:solidFill>
                    <a:srgbClr val="FFFFFF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  <p:sp>
            <p:nvSpPr>
              <p:cNvPr id="164" name="Google Shape;164;p17"/>
              <p:cNvSpPr txBox="1"/>
              <p:nvPr/>
            </p:nvSpPr>
            <p:spPr>
              <a:xfrm>
                <a:off x="-419100" y="419100"/>
                <a:ext cx="1143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050" b="1">
                    <a:solidFill>
                      <a:srgbClr val="1E2A22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設立登記</a:t>
                </a:r>
                <a:endParaRPr sz="105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</p:grpSp>
        <p:grpSp>
          <p:nvGrpSpPr>
            <p:cNvPr id="166" name="Google Shape;166;p17"/>
            <p:cNvGrpSpPr/>
            <p:nvPr/>
          </p:nvGrpSpPr>
          <p:grpSpPr>
            <a:xfrm>
              <a:off x="5295900" y="0"/>
              <a:ext cx="1143000" cy="895500"/>
              <a:chOff x="-419100" y="0"/>
              <a:chExt cx="1143000" cy="895500"/>
            </a:xfrm>
          </p:grpSpPr>
          <p:sp>
            <p:nvSpPr>
              <p:cNvPr id="168" name="Google Shape;168;p17"/>
              <p:cNvSpPr txBox="1"/>
              <p:nvPr/>
            </p:nvSpPr>
            <p:spPr>
              <a:xfrm>
                <a:off x="0" y="0"/>
                <a:ext cx="3048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050" b="1">
                    <a:solidFill>
                      <a:srgbClr val="3C5A3C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6</a:t>
                </a:r>
                <a:endParaRPr sz="1050" b="1">
                  <a:solidFill>
                    <a:srgbClr val="FFFFFF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  <p:sp>
            <p:nvSpPr>
              <p:cNvPr id="169" name="Google Shape;169;p17"/>
              <p:cNvSpPr txBox="1"/>
              <p:nvPr/>
            </p:nvSpPr>
            <p:spPr>
              <a:xfrm>
                <a:off x="-419100" y="419100"/>
                <a:ext cx="1143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050" b="1">
                    <a:solidFill>
                      <a:srgbClr val="1E2A22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稅籍登記</a:t>
                </a:r>
                <a:endParaRPr sz="105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</p:grpSp>
        <p:grpSp>
          <p:nvGrpSpPr>
            <p:cNvPr id="171" name="Google Shape;171;p17"/>
            <p:cNvGrpSpPr/>
            <p:nvPr/>
          </p:nvGrpSpPr>
          <p:grpSpPr>
            <a:xfrm>
              <a:off x="6438900" y="0"/>
              <a:ext cx="1143000" cy="895500"/>
              <a:chOff x="-419100" y="0"/>
              <a:chExt cx="1143000" cy="895500"/>
            </a:xfrm>
          </p:grpSpPr>
          <p:sp>
            <p:nvSpPr>
              <p:cNvPr id="173" name="Google Shape;173;p17"/>
              <p:cNvSpPr txBox="1"/>
              <p:nvPr/>
            </p:nvSpPr>
            <p:spPr>
              <a:xfrm>
                <a:off x="0" y="0"/>
                <a:ext cx="3048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050" b="1">
                    <a:solidFill>
                      <a:srgbClr val="3C5A3C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7</a:t>
                </a:r>
                <a:endParaRPr sz="1050" b="1">
                  <a:solidFill>
                    <a:srgbClr val="FFFFFF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  <p:sp>
            <p:nvSpPr>
              <p:cNvPr id="174" name="Google Shape;174;p17"/>
              <p:cNvSpPr txBox="1"/>
              <p:nvPr/>
            </p:nvSpPr>
            <p:spPr>
              <a:xfrm>
                <a:off x="-419100" y="419100"/>
                <a:ext cx="1143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050" b="1" dirty="0">
                    <a:solidFill>
                      <a:srgbClr val="1E2A22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CTP 申報</a:t>
                </a:r>
                <a:br>
                  <a:rPr lang="en-US" altLang="zh-TW" sz="1050" b="1" dirty="0">
                    <a:solidFill>
                      <a:srgbClr val="1E2A22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</a:br>
                <a:r>
                  <a:rPr lang="zh-TW" altLang="en-US" sz="1050" b="1" dirty="0">
                    <a:solidFill>
                      <a:srgbClr val="1E2A22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自行申報</a:t>
                </a:r>
                <a:r>
                  <a:rPr lang="en-US" altLang="zh-TW" sz="1050" b="1" dirty="0">
                    <a:solidFill>
                      <a:srgbClr val="1E2A22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&amp;</a:t>
                </a:r>
                <a:r>
                  <a:rPr lang="zh-TW" altLang="en-US" sz="1050" b="1" dirty="0">
                    <a:solidFill>
                      <a:srgbClr val="1E2A22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事務所代理</a:t>
                </a:r>
                <a:endParaRPr sz="1050" b="1" dirty="0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</p:grpSp>
      </p:grpSp>
      <p:grpSp>
        <p:nvGrpSpPr>
          <p:cNvPr id="175" name="Google Shape;175;p17"/>
          <p:cNvGrpSpPr/>
          <p:nvPr/>
        </p:nvGrpSpPr>
        <p:grpSpPr>
          <a:xfrm>
            <a:off x="571500" y="3238500"/>
            <a:ext cx="8001000" cy="1047900"/>
            <a:chOff x="0" y="0"/>
            <a:chExt cx="8001000" cy="1047900"/>
          </a:xfrm>
        </p:grpSpPr>
        <p:sp>
          <p:nvSpPr>
            <p:cNvPr id="176" name="Google Shape;176;p17"/>
            <p:cNvSpPr/>
            <p:nvPr/>
          </p:nvSpPr>
          <p:spPr>
            <a:xfrm>
              <a:off x="0" y="0"/>
              <a:ext cx="8001000" cy="1047900"/>
            </a:xfrm>
            <a:prstGeom prst="roundRect">
              <a:avLst>
                <a:gd name="adj" fmla="val 14545"/>
              </a:avLst>
            </a:prstGeom>
            <a:solidFill>
              <a:srgbClr val="F4F2E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17"/>
            <p:cNvSpPr txBox="1"/>
            <p:nvPr/>
          </p:nvSpPr>
          <p:spPr>
            <a:xfrm>
              <a:off x="381000" y="238125"/>
              <a:ext cx="7239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1" dirty="0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建議資本額：</a:t>
              </a:r>
              <a:r>
                <a:rPr lang="en-US" altLang="zh-TW" sz="1050" b="1" dirty="0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500 </a:t>
              </a:r>
              <a:r>
                <a:rPr lang="zh-TW" altLang="en-US" sz="1050" b="1" dirty="0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萬</a:t>
              </a:r>
              <a:r>
                <a:rPr lang="zh-TW" sz="1050" b="1" dirty="0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 / 費用估算：NT$</a:t>
              </a:r>
              <a:r>
                <a:rPr lang="en-US" altLang="zh-TW" sz="1050" b="1" dirty="0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15,000~20,000</a:t>
              </a:r>
              <a:endParaRPr sz="1050" b="1" dirty="0">
                <a:solidFill>
                  <a:srgbClr val="5A7557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zh-TW" sz="1050" b="0" dirty="0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關鍵期限：</a:t>
              </a:r>
              <a:r>
                <a:rPr lang="zh-TW" sz="1050" b="1" dirty="0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15 天</a:t>
              </a:r>
              <a:r>
                <a:rPr lang="zh-TW" sz="1050" b="0" dirty="0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（驗資後 15 日內送件、設立後 15 日內辦理稅籍及 CTP）</a:t>
              </a:r>
              <a:endParaRPr sz="1050" b="0" dirty="0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178" name="Google Shape;178;p17"/>
          <p:cNvGrpSpPr/>
          <p:nvPr/>
        </p:nvGrpSpPr>
        <p:grpSpPr>
          <a:xfrm>
            <a:off x="571500" y="4667250"/>
            <a:ext cx="8001000" cy="285750"/>
            <a:chOff x="0" y="0"/>
            <a:chExt cx="8001000" cy="285750"/>
          </a:xfrm>
        </p:grpSpPr>
        <p:cxnSp>
          <p:nvCxnSpPr>
            <p:cNvPr id="179" name="Google Shape;179;p17"/>
            <p:cNvCxnSpPr/>
            <p:nvPr/>
          </p:nvCxnSpPr>
          <p:spPr>
            <a:xfrm>
              <a:off x="0" y="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80" name="Google Shape;180;p17"/>
            <p:cNvSpPr txBox="1"/>
            <p:nvPr/>
          </p:nvSpPr>
          <p:spPr>
            <a:xfrm>
              <a:off x="0" y="952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大葉園藝有限公司 ✕ 稅務顧問團隊 | 企業轉型與稅務規劃指南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181" name="Google Shape;181;p17"/>
            <p:cNvSpPr txBox="1"/>
            <p:nvPr/>
          </p:nvSpPr>
          <p:spPr>
            <a:xfrm>
              <a:off x="7048500" y="95250"/>
              <a:ext cx="952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2026.08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B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8"/>
          <p:cNvSpPr/>
          <p:nvPr/>
        </p:nvSpPr>
        <p:spPr>
          <a:xfrm>
            <a:off x="7715250" y="3714750"/>
            <a:ext cx="2857500" cy="2857500"/>
          </a:xfrm>
          <a:prstGeom prst="ellipse">
            <a:avLst/>
          </a:prstGeom>
          <a:solidFill>
            <a:srgbClr val="5A7557">
              <a:alpha val="5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18"/>
          <p:cNvSpPr/>
          <p:nvPr/>
        </p:nvSpPr>
        <p:spPr>
          <a:xfrm>
            <a:off x="4953000" y="-1714500"/>
            <a:ext cx="5334000" cy="5334000"/>
          </a:xfrm>
          <a:prstGeom prst="ellipse">
            <a:avLst/>
          </a:prstGeom>
          <a:solidFill>
            <a:srgbClr val="7C9878">
              <a:alpha val="4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8" name="Google Shape;188;p18"/>
          <p:cNvGrpSpPr/>
          <p:nvPr/>
        </p:nvGrpSpPr>
        <p:grpSpPr>
          <a:xfrm>
            <a:off x="571500" y="381000"/>
            <a:ext cx="2400300" cy="381000"/>
            <a:chOff x="0" y="0"/>
            <a:chExt cx="2400300" cy="381000"/>
          </a:xfrm>
        </p:grpSpPr>
        <p:sp>
          <p:nvSpPr>
            <p:cNvPr id="191" name="Google Shape;191;p18"/>
            <p:cNvSpPr txBox="1"/>
            <p:nvPr/>
          </p:nvSpPr>
          <p:spPr>
            <a:xfrm>
              <a:off x="495300" y="57150"/>
              <a:ext cx="190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20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大葉園藝顧問</a:t>
              </a:r>
              <a:endParaRPr sz="120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192" name="Google Shape;192;p18"/>
          <p:cNvGrpSpPr/>
          <p:nvPr/>
        </p:nvGrpSpPr>
        <p:grpSpPr>
          <a:xfrm>
            <a:off x="571500" y="952500"/>
            <a:ext cx="4914900" cy="952500"/>
            <a:chOff x="0" y="0"/>
            <a:chExt cx="4914900" cy="952500"/>
          </a:xfrm>
        </p:grpSpPr>
        <p:sp>
          <p:nvSpPr>
            <p:cNvPr id="193" name="Google Shape;193;p18"/>
            <p:cNvSpPr/>
            <p:nvPr/>
          </p:nvSpPr>
          <p:spPr>
            <a:xfrm>
              <a:off x="0" y="0"/>
              <a:ext cx="1143000" cy="266700"/>
            </a:xfrm>
            <a:prstGeom prst="roundRect">
              <a:avLst>
                <a:gd name="adj" fmla="val 50000"/>
              </a:avLst>
            </a:prstGeom>
            <a:solidFill>
              <a:srgbClr val="C55D4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18"/>
            <p:cNvSpPr txBox="1"/>
            <p:nvPr/>
          </p:nvSpPr>
          <p:spPr>
            <a:xfrm>
              <a:off x="0" y="38100"/>
              <a:ext cx="1143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900" b="1">
                  <a:solidFill>
                    <a:srgbClr val="FFFFFF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DANGER ZONE</a:t>
              </a:r>
              <a:endParaRPr sz="900" b="1">
                <a:solidFill>
                  <a:srgbClr val="FFFFFF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196" name="Google Shape;196;p18"/>
            <p:cNvSpPr txBox="1"/>
            <p:nvPr/>
          </p:nvSpPr>
          <p:spPr>
            <a:xfrm>
              <a:off x="152400" y="381000"/>
              <a:ext cx="4762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zh-TW" sz="315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兩大致命地雷</a:t>
              </a:r>
              <a:endParaRPr sz="315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197" name="Google Shape;197;p18"/>
          <p:cNvGrpSpPr/>
          <p:nvPr/>
        </p:nvGrpSpPr>
        <p:grpSpPr>
          <a:xfrm>
            <a:off x="571500" y="2095500"/>
            <a:ext cx="3810000" cy="2286000"/>
            <a:chOff x="0" y="0"/>
            <a:chExt cx="3810000" cy="2286000"/>
          </a:xfrm>
        </p:grpSpPr>
        <p:sp>
          <p:nvSpPr>
            <p:cNvPr id="198" name="Google Shape;198;p18"/>
            <p:cNvSpPr/>
            <p:nvPr/>
          </p:nvSpPr>
          <p:spPr>
            <a:xfrm>
              <a:off x="0" y="0"/>
              <a:ext cx="3810000" cy="2286000"/>
            </a:xfrm>
            <a:prstGeom prst="roundRect">
              <a:avLst>
                <a:gd name="adj" fmla="val 6666"/>
              </a:avLst>
            </a:prstGeom>
            <a:solidFill>
              <a:srgbClr val="FDF2F0"/>
            </a:solidFill>
            <a:ln w="14300" cap="flat" cmpd="sng">
              <a:solidFill>
                <a:srgbClr val="C55D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8"/>
            <p:cNvSpPr txBox="1"/>
            <p:nvPr/>
          </p:nvSpPr>
          <p:spPr>
            <a:xfrm>
              <a:off x="285750" y="285750"/>
              <a:ext cx="32385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650" b="1">
                  <a:solidFill>
                    <a:srgbClr val="C55D4D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驗資過水</a:t>
              </a:r>
              <a:endParaRPr sz="1650" b="1">
                <a:solidFill>
                  <a:srgbClr val="C55D4D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zh-TW" sz="1200" b="0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驗資完抽走資金等於虛設資本</a:t>
              </a:r>
              <a:br>
                <a:rPr lang="zh-TW" sz="1200" b="0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</a:br>
              <a:r>
                <a:rPr lang="zh-TW" sz="1200" b="0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（公司法 §9）</a:t>
              </a:r>
              <a:endParaRPr sz="1200" b="0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zh-TW" sz="2400" b="1">
                  <a:solidFill>
                    <a:srgbClr val="C55D4D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最重刑責 5 年</a:t>
              </a:r>
              <a:endParaRPr sz="2400" b="1">
                <a:solidFill>
                  <a:srgbClr val="C55D4D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201" name="Google Shape;201;p18"/>
          <p:cNvGrpSpPr/>
          <p:nvPr/>
        </p:nvGrpSpPr>
        <p:grpSpPr>
          <a:xfrm>
            <a:off x="4762500" y="2095500"/>
            <a:ext cx="3810000" cy="2286000"/>
            <a:chOff x="0" y="0"/>
            <a:chExt cx="3810000" cy="2286000"/>
          </a:xfrm>
        </p:grpSpPr>
        <p:sp>
          <p:nvSpPr>
            <p:cNvPr id="202" name="Google Shape;202;p18"/>
            <p:cNvSpPr/>
            <p:nvPr/>
          </p:nvSpPr>
          <p:spPr>
            <a:xfrm>
              <a:off x="0" y="0"/>
              <a:ext cx="3810000" cy="2286000"/>
            </a:xfrm>
            <a:prstGeom prst="roundRect">
              <a:avLst>
                <a:gd name="adj" fmla="val 6666"/>
              </a:avLst>
            </a:prstGeom>
            <a:solidFill>
              <a:srgbClr val="FDF2F0"/>
            </a:solidFill>
            <a:ln w="14300" cap="flat" cmpd="sng">
              <a:solidFill>
                <a:srgbClr val="C55D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8"/>
            <p:cNvSpPr txBox="1"/>
            <p:nvPr/>
          </p:nvSpPr>
          <p:spPr>
            <a:xfrm>
              <a:off x="285750" y="285750"/>
              <a:ext cx="32385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650" b="1" dirty="0">
                  <a:solidFill>
                    <a:srgbClr val="C55D4D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漏報 CTP</a:t>
              </a:r>
              <a:endParaRPr sz="1650" b="1" dirty="0">
                <a:solidFill>
                  <a:srgbClr val="C55D4D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zh-TW" sz="1200" b="0" dirty="0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公司法 §22-1 主要股東資訊申報</a:t>
              </a:r>
              <a:br>
                <a:rPr lang="zh-TW" sz="1200" b="0" dirty="0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</a:br>
              <a:r>
                <a:rPr lang="zh-TW" sz="1200" b="0" dirty="0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忘記 15 日內申報</a:t>
              </a:r>
              <a:endParaRPr sz="1200" b="0" dirty="0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zh-TW" sz="2400" b="1" dirty="0">
                  <a:solidFill>
                    <a:srgbClr val="C55D4D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罰 5 萬 ~ 500 萬</a:t>
              </a:r>
              <a:endParaRPr sz="2400" b="1" dirty="0">
                <a:solidFill>
                  <a:srgbClr val="C55D4D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205" name="Google Shape;205;p18"/>
          <p:cNvGrpSpPr/>
          <p:nvPr/>
        </p:nvGrpSpPr>
        <p:grpSpPr>
          <a:xfrm>
            <a:off x="571500" y="4667250"/>
            <a:ext cx="8001000" cy="285750"/>
            <a:chOff x="0" y="0"/>
            <a:chExt cx="8001000" cy="285750"/>
          </a:xfrm>
        </p:grpSpPr>
        <p:cxnSp>
          <p:nvCxnSpPr>
            <p:cNvPr id="206" name="Google Shape;206;p18"/>
            <p:cNvCxnSpPr/>
            <p:nvPr/>
          </p:nvCxnSpPr>
          <p:spPr>
            <a:xfrm>
              <a:off x="0" y="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07" name="Google Shape;207;p18"/>
            <p:cNvSpPr txBox="1"/>
            <p:nvPr/>
          </p:nvSpPr>
          <p:spPr>
            <a:xfrm>
              <a:off x="0" y="95250"/>
              <a:ext cx="4762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大葉園藝有限公司 ✕ 稅務顧問團隊 | 企業轉型與稅務規劃指南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08" name="Google Shape;208;p18"/>
            <p:cNvSpPr txBox="1"/>
            <p:nvPr/>
          </p:nvSpPr>
          <p:spPr>
            <a:xfrm>
              <a:off x="7048500" y="95250"/>
              <a:ext cx="952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2026.08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04BE41-2DD9-3EF6-1C3D-1AC4CD8D4F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QA</a:t>
            </a:r>
            <a:r>
              <a:rPr lang="zh-TW" altLang="en-US"/>
              <a:t>問答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6235A7A-D3C0-1568-3BAA-B460A570AF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022159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5F3965-63DC-EA82-5BB1-479E98E16A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sz="1800" kern="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Q</a:t>
            </a:r>
            <a:r>
              <a:rPr lang="en-US" altLang="zh-TW" sz="1800" dirty="0"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 sz="1800" dirty="0"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如何開立發票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三聯式、二聯式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br>
              <a:rPr lang="zh-TW" altLang="zh-TW" sz="1800" kern="1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36DA5C7-1FE3-B342-373D-CDE24597BD4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828598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033F1D-63C5-1BB4-EEB2-196D5FE30B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Q2: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進貨發票及收據我要注意什麼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?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66B50CC-0CDE-8E7F-A6D6-634F368FFC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327213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033F1D-63C5-1BB4-EEB2-196D5FE30B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Q3:</a:t>
            </a:r>
            <a:r>
              <a:rPr lang="zh-TW" altLang="zh-TW" sz="1800" kern="1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營業稅申報，需要準備什麼資料給會計師事務所</a:t>
            </a:r>
            <a:r>
              <a:rPr lang="en-US" altLang="zh-TW" sz="1800" kern="1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?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66B50CC-0CDE-8E7F-A6D6-634F368FFC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59802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732CDD3-60F5-D64A-8757-12AFCE876A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sz="1800" kern="1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Q4</a:t>
            </a:r>
            <a:r>
              <a:rPr lang="zh-TW" altLang="en-US" sz="1800" kern="1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zh-TW" altLang="zh-TW" sz="1800" kern="1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營業稅如何計算</a:t>
            </a:r>
            <a:r>
              <a:rPr lang="zh-TW" altLang="en-US" sz="1800" kern="1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？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0752175-0C2A-AC2C-2648-35158C751B6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522441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732CDD3-60F5-D64A-8757-12AFCE876A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sz="1800" kern="1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Q5-1</a:t>
            </a:r>
            <a:r>
              <a:rPr lang="zh-TW" altLang="en-US" sz="1800" kern="1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zh-TW" altLang="zh-TW" sz="1800" dirty="0">
                <a:effectLst/>
                <a:ea typeface="標楷體" panose="03000509000000000000" pitchFamily="65" charset="-120"/>
                <a:cs typeface="Times New Roman" panose="02020603050405020304" pitchFamily="18" charset="0"/>
              </a:rPr>
              <a:t>年底營所稅，我要繳多少稅</a:t>
            </a:r>
            <a:r>
              <a:rPr lang="en-US" altLang="zh-TW" sz="1800" dirty="0">
                <a:effectLst/>
                <a:ea typeface="標楷體" panose="03000509000000000000" pitchFamily="65" charset="-120"/>
                <a:cs typeface="Times New Roman" panose="02020603050405020304" pitchFamily="18" charset="0"/>
              </a:rPr>
              <a:t>?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0752175-0C2A-AC2C-2648-35158C751B6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492602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732CDD3-60F5-D64A-8757-12AFCE876A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sz="1800" kern="1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Q5-2</a:t>
            </a:r>
            <a:r>
              <a:rPr lang="zh-TW" altLang="en-US" sz="1800" kern="1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zh-TW" altLang="zh-TW" sz="1800" dirty="0">
                <a:effectLst/>
                <a:ea typeface="標楷體" panose="03000509000000000000" pitchFamily="65" charset="-120"/>
                <a:cs typeface="Times New Roman" panose="02020603050405020304" pitchFamily="18" charset="0"/>
              </a:rPr>
              <a:t>年底營所稅，</a:t>
            </a:r>
            <a:r>
              <a:rPr lang="zh-TW" altLang="en-US" sz="1800" dirty="0">
                <a:effectLst/>
                <a:ea typeface="標楷體" panose="03000509000000000000" pitchFamily="65" charset="-120"/>
                <a:cs typeface="Times New Roman" panose="02020603050405020304" pitchFamily="18" charset="0"/>
              </a:rPr>
              <a:t>我</a:t>
            </a:r>
            <a:r>
              <a:rPr lang="zh-TW" altLang="zh-TW" sz="1800" dirty="0">
                <a:effectLst/>
                <a:ea typeface="標楷體" panose="03000509000000000000" pitchFamily="65" charset="-120"/>
                <a:cs typeface="Times New Roman" panose="02020603050405020304" pitchFamily="18" charset="0"/>
              </a:rPr>
              <a:t>要如何節稅</a:t>
            </a:r>
            <a:r>
              <a:rPr lang="en-US" altLang="zh-TW" sz="1800" dirty="0">
                <a:effectLst/>
                <a:ea typeface="標楷體" panose="03000509000000000000" pitchFamily="65" charset="-120"/>
                <a:cs typeface="Times New Roman" panose="02020603050405020304" pitchFamily="18" charset="0"/>
              </a:rPr>
              <a:t>?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0752175-0C2A-AC2C-2648-35158C751B6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478045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9"/>
          <p:cNvSpPr/>
          <p:nvPr/>
        </p:nvSpPr>
        <p:spPr>
          <a:xfrm>
            <a:off x="7715250" y="3714750"/>
            <a:ext cx="2857500" cy="2857500"/>
          </a:xfrm>
          <a:prstGeom prst="ellipse">
            <a:avLst/>
          </a:prstGeom>
          <a:solidFill>
            <a:srgbClr val="5A7557">
              <a:alpha val="5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4" name="Google Shape;214;p19"/>
          <p:cNvGrpSpPr/>
          <p:nvPr/>
        </p:nvGrpSpPr>
        <p:grpSpPr>
          <a:xfrm>
            <a:off x="571500" y="381000"/>
            <a:ext cx="2400300" cy="381000"/>
            <a:chOff x="0" y="0"/>
            <a:chExt cx="2400300" cy="381000"/>
          </a:xfrm>
        </p:grpSpPr>
        <p:sp>
          <p:nvSpPr>
            <p:cNvPr id="217" name="Google Shape;217;p19"/>
            <p:cNvSpPr txBox="1"/>
            <p:nvPr/>
          </p:nvSpPr>
          <p:spPr>
            <a:xfrm>
              <a:off x="495300" y="57150"/>
              <a:ext cx="190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20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大葉園藝顧問</a:t>
              </a:r>
              <a:endParaRPr sz="120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218" name="Google Shape;218;p19"/>
          <p:cNvGrpSpPr/>
          <p:nvPr/>
        </p:nvGrpSpPr>
        <p:grpSpPr>
          <a:xfrm>
            <a:off x="571500" y="952500"/>
            <a:ext cx="7772400" cy="762000"/>
            <a:chOff x="0" y="0"/>
            <a:chExt cx="7772400" cy="762000"/>
          </a:xfrm>
        </p:grpSpPr>
        <p:sp>
          <p:nvSpPr>
            <p:cNvPr id="220" name="Google Shape;220;p19"/>
            <p:cNvSpPr txBox="1"/>
            <p:nvPr/>
          </p:nvSpPr>
          <p:spPr>
            <a:xfrm>
              <a:off x="152400" y="0"/>
              <a:ext cx="7620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zh-TW" sz="2100" b="1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免稅 vs 應稅</a:t>
              </a:r>
              <a:endParaRPr sz="2100" b="1" dirty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zh-TW" sz="900" b="0" dirty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法規依據：營業稅法 §8 第 1 項第 19 款</a:t>
              </a:r>
              <a:endParaRPr sz="900" b="0" dirty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221" name="Google Shape;221;p19"/>
          <p:cNvGrpSpPr/>
          <p:nvPr/>
        </p:nvGrpSpPr>
        <p:grpSpPr>
          <a:xfrm>
            <a:off x="571500" y="1905000"/>
            <a:ext cx="3619500" cy="2476500"/>
            <a:chOff x="0" y="0"/>
            <a:chExt cx="3619500" cy="2476500"/>
          </a:xfrm>
        </p:grpSpPr>
        <p:sp>
          <p:nvSpPr>
            <p:cNvPr id="222" name="Google Shape;222;p19"/>
            <p:cNvSpPr/>
            <p:nvPr/>
          </p:nvSpPr>
          <p:spPr>
            <a:xfrm>
              <a:off x="0" y="0"/>
              <a:ext cx="3619500" cy="2476500"/>
            </a:xfrm>
            <a:prstGeom prst="roundRect">
              <a:avLst>
                <a:gd name="adj" fmla="val 6153"/>
              </a:avLst>
            </a:prstGeom>
            <a:solidFill>
              <a:srgbClr val="FFFFFF"/>
            </a:solidFill>
            <a:ln w="14300" cap="flat" cmpd="sng">
              <a:solidFill>
                <a:srgbClr val="5A75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19"/>
            <p:cNvSpPr txBox="1"/>
            <p:nvPr/>
          </p:nvSpPr>
          <p:spPr>
            <a:xfrm>
              <a:off x="571500" y="209550"/>
              <a:ext cx="28575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650" b="1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免稅（未加工）</a:t>
              </a:r>
              <a:endParaRPr sz="1650" b="1">
                <a:solidFill>
                  <a:srgbClr val="5A7557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457200" lvl="0" indent="-317500" algn="l" rtl="0">
                <a:spcBef>
                  <a:spcPts val="1200"/>
                </a:spcBef>
                <a:spcAft>
                  <a:spcPts val="0"/>
                </a:spcAft>
                <a:buClr>
                  <a:srgbClr val="5A7557"/>
                </a:buClr>
                <a:buSzPts val="1400"/>
                <a:buChar char="●"/>
              </a:pPr>
              <a:r>
                <a:rPr lang="zh-TW"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切花、盆栽（塑膠/素燒陶土/木材容器）</a:t>
              </a:r>
              <a:endParaRPr sz="1050" b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457200" lvl="0" indent="-317500" algn="l" rtl="0">
                <a:spcBef>
                  <a:spcPts val="600"/>
                </a:spcBef>
                <a:spcAft>
                  <a:spcPts val="0"/>
                </a:spcAft>
                <a:buClr>
                  <a:srgbClr val="5A7557"/>
                </a:buClr>
                <a:buSzPts val="1400"/>
                <a:buChar char="●"/>
              </a:pPr>
              <a:r>
                <a:rPr lang="zh-TW"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花卉批發、種苗</a:t>
              </a:r>
              <a:endParaRPr sz="1050" b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457200" lvl="0" indent="-317500" algn="l" rtl="0">
                <a:spcBef>
                  <a:spcPts val="600"/>
                </a:spcBef>
                <a:spcAft>
                  <a:spcPts val="0"/>
                </a:spcAft>
                <a:buClr>
                  <a:srgbClr val="5A7557"/>
                </a:buClr>
                <a:buSzPts val="1400"/>
                <a:buChar char="●"/>
              </a:pPr>
              <a:r>
                <a:rPr lang="zh-TW"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網路販售原始花卉</a:t>
              </a:r>
              <a:endParaRPr sz="1050" b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zh-TW" sz="900" b="0" i="1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符合農業產銷定義之原始型態產品</a:t>
              </a:r>
              <a:endParaRPr sz="900" b="0" i="1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226" name="Google Shape;226;p19"/>
          <p:cNvGrpSpPr/>
          <p:nvPr/>
        </p:nvGrpSpPr>
        <p:grpSpPr>
          <a:xfrm>
            <a:off x="4762500" y="1905000"/>
            <a:ext cx="3619500" cy="2476500"/>
            <a:chOff x="0" y="0"/>
            <a:chExt cx="3619500" cy="2476500"/>
          </a:xfrm>
        </p:grpSpPr>
        <p:sp>
          <p:nvSpPr>
            <p:cNvPr id="227" name="Google Shape;227;p19"/>
            <p:cNvSpPr/>
            <p:nvPr/>
          </p:nvSpPr>
          <p:spPr>
            <a:xfrm>
              <a:off x="0" y="0"/>
              <a:ext cx="3619500" cy="2476500"/>
            </a:xfrm>
            <a:prstGeom prst="roundRect">
              <a:avLst>
                <a:gd name="adj" fmla="val 6153"/>
              </a:avLst>
            </a:prstGeom>
            <a:solidFill>
              <a:srgbClr val="FDF2F0"/>
            </a:solidFill>
            <a:ln w="14300" cap="flat" cmpd="sng">
              <a:solidFill>
                <a:srgbClr val="C55D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19"/>
            <p:cNvSpPr txBox="1"/>
            <p:nvPr/>
          </p:nvSpPr>
          <p:spPr>
            <a:xfrm>
              <a:off x="571500" y="209550"/>
              <a:ext cx="28575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650" b="1">
                  <a:solidFill>
                    <a:srgbClr val="C55D4D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應稅（加工 / 勞務）</a:t>
              </a:r>
              <a:endParaRPr sz="1650" b="1">
                <a:solidFill>
                  <a:srgbClr val="C55D4D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457200" lvl="0" indent="-317500" algn="l" rtl="0">
                <a:spcBef>
                  <a:spcPts val="1200"/>
                </a:spcBef>
                <a:spcAft>
                  <a:spcPts val="0"/>
                </a:spcAft>
                <a:buClr>
                  <a:srgbClr val="C55D4D"/>
                </a:buClr>
                <a:buSzPts val="1400"/>
                <a:buChar char="●"/>
              </a:pPr>
              <a:r>
                <a:rPr lang="zh-TW"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乾燥花、花藝禮盒</a:t>
              </a:r>
              <a:endParaRPr sz="1050" b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457200" lvl="0" indent="-317500" algn="l" rtl="0">
                <a:spcBef>
                  <a:spcPts val="600"/>
                </a:spcBef>
                <a:spcAft>
                  <a:spcPts val="0"/>
                </a:spcAft>
                <a:buClr>
                  <a:srgbClr val="C55D4D"/>
                </a:buClr>
                <a:buSzPts val="1400"/>
                <a:buChar char="●"/>
              </a:pPr>
              <a:r>
                <a:rPr lang="zh-TW"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園藝維護服務、景觀設計施工</a:t>
              </a:r>
              <a:endParaRPr sz="1050" b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457200" lvl="0" indent="-317500" algn="l" rtl="0">
                <a:spcBef>
                  <a:spcPts val="600"/>
                </a:spcBef>
                <a:spcAft>
                  <a:spcPts val="0"/>
                </a:spcAft>
                <a:buClr>
                  <a:srgbClr val="C55D4D"/>
                </a:buClr>
                <a:buSzPts val="1400"/>
                <a:buChar char="●"/>
              </a:pPr>
              <a:r>
                <a:rPr lang="zh-TW"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高級瓷器 / 玻璃盆栽</a:t>
              </a:r>
              <a:endParaRPr sz="1050" b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zh-TW" sz="900" b="0" i="1">
                  <a:solidFill>
                    <a:srgbClr val="D87A6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涉及人工裝飾、加工或純勞務提供</a:t>
              </a:r>
              <a:endParaRPr sz="900" b="0" i="1">
                <a:solidFill>
                  <a:srgbClr val="D87A6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231" name="Google Shape;231;p19"/>
          <p:cNvGrpSpPr/>
          <p:nvPr/>
        </p:nvGrpSpPr>
        <p:grpSpPr>
          <a:xfrm>
            <a:off x="571500" y="4667250"/>
            <a:ext cx="8001000" cy="285750"/>
            <a:chOff x="0" y="0"/>
            <a:chExt cx="8001000" cy="285750"/>
          </a:xfrm>
        </p:grpSpPr>
        <p:cxnSp>
          <p:nvCxnSpPr>
            <p:cNvPr id="232" name="Google Shape;232;p19"/>
            <p:cNvCxnSpPr/>
            <p:nvPr/>
          </p:nvCxnSpPr>
          <p:spPr>
            <a:xfrm>
              <a:off x="0" y="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33" name="Google Shape;233;p19"/>
            <p:cNvSpPr txBox="1"/>
            <p:nvPr/>
          </p:nvSpPr>
          <p:spPr>
            <a:xfrm>
              <a:off x="0" y="952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大葉園藝有限公司 ✕ 稅務顧問團隊 | 企業轉型與稅務規劃指南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34" name="Google Shape;234;p19"/>
            <p:cNvSpPr txBox="1"/>
            <p:nvPr/>
          </p:nvSpPr>
          <p:spPr>
            <a:xfrm>
              <a:off x="7048500" y="95250"/>
              <a:ext cx="952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2026.08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9" name="Google Shape;239;p20"/>
          <p:cNvGrpSpPr/>
          <p:nvPr/>
        </p:nvGrpSpPr>
        <p:grpSpPr>
          <a:xfrm>
            <a:off x="571500" y="381000"/>
            <a:ext cx="2400300" cy="381000"/>
            <a:chOff x="0" y="0"/>
            <a:chExt cx="2400300" cy="381000"/>
          </a:xfrm>
        </p:grpSpPr>
        <p:sp>
          <p:nvSpPr>
            <p:cNvPr id="242" name="Google Shape;242;p20"/>
            <p:cNvSpPr txBox="1"/>
            <p:nvPr/>
          </p:nvSpPr>
          <p:spPr>
            <a:xfrm>
              <a:off x="495300" y="57150"/>
              <a:ext cx="190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20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大葉園藝顧問</a:t>
              </a:r>
              <a:endParaRPr sz="120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243" name="Google Shape;243;p20"/>
          <p:cNvGrpSpPr/>
          <p:nvPr/>
        </p:nvGrpSpPr>
        <p:grpSpPr>
          <a:xfrm>
            <a:off x="571500" y="952500"/>
            <a:ext cx="7772400" cy="762000"/>
            <a:chOff x="0" y="0"/>
            <a:chExt cx="7772400" cy="762000"/>
          </a:xfrm>
        </p:grpSpPr>
        <p:sp>
          <p:nvSpPr>
            <p:cNvPr id="245" name="Google Shape;245;p20"/>
            <p:cNvSpPr txBox="1"/>
            <p:nvPr/>
          </p:nvSpPr>
          <p:spPr>
            <a:xfrm>
              <a:off x="152400" y="0"/>
              <a:ext cx="7620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100" b="1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401 vs 403</a:t>
              </a:r>
              <a:endParaRPr sz="2100" b="1" dirty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246" name="Google Shape;246;p20"/>
          <p:cNvGrpSpPr/>
          <p:nvPr/>
        </p:nvGrpSpPr>
        <p:grpSpPr>
          <a:xfrm>
            <a:off x="571500" y="1809750"/>
            <a:ext cx="8001000" cy="1714500"/>
            <a:chOff x="0" y="0"/>
            <a:chExt cx="8001000" cy="1714500"/>
          </a:xfrm>
        </p:grpSpPr>
        <p:sp>
          <p:nvSpPr>
            <p:cNvPr id="247" name="Google Shape;247;p20"/>
            <p:cNvSpPr/>
            <p:nvPr/>
          </p:nvSpPr>
          <p:spPr>
            <a:xfrm>
              <a:off x="0" y="0"/>
              <a:ext cx="8001000" cy="1714500"/>
            </a:xfrm>
            <a:prstGeom prst="roundRect">
              <a:avLst>
                <a:gd name="adj" fmla="val 6666"/>
              </a:avLst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48" name="Google Shape;248;p20"/>
            <p:cNvCxnSpPr/>
            <p:nvPr/>
          </p:nvCxnSpPr>
          <p:spPr>
            <a:xfrm>
              <a:off x="190500" y="428625"/>
              <a:ext cx="7620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9" name="Google Shape;249;p20"/>
            <p:cNvCxnSpPr/>
            <p:nvPr/>
          </p:nvCxnSpPr>
          <p:spPr>
            <a:xfrm>
              <a:off x="190500" y="857250"/>
              <a:ext cx="7620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0" name="Google Shape;250;p20"/>
            <p:cNvCxnSpPr/>
            <p:nvPr/>
          </p:nvCxnSpPr>
          <p:spPr>
            <a:xfrm>
              <a:off x="190500" y="1285875"/>
              <a:ext cx="7620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</p:cxnSp>
        <p:pic>
          <p:nvPicPr>
            <p:cNvPr id="251" name="Google Shape;251;p2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525" y="1295400"/>
              <a:ext cx="7982100" cy="409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2" name="Google Shape;252;p20"/>
            <p:cNvSpPr txBox="1"/>
            <p:nvPr/>
          </p:nvSpPr>
          <p:spPr>
            <a:xfrm>
              <a:off x="228600" y="95250"/>
              <a:ext cx="1428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1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業務類型</a:t>
              </a:r>
              <a:endParaRPr sz="1050" b="1">
                <a:solidFill>
                  <a:srgbClr val="5A7557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53" name="Google Shape;253;p20"/>
            <p:cNvSpPr txBox="1"/>
            <p:nvPr/>
          </p:nvSpPr>
          <p:spPr>
            <a:xfrm>
              <a:off x="1905000" y="95250"/>
              <a:ext cx="381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1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收入性質說明</a:t>
              </a:r>
              <a:endParaRPr sz="1050" b="1">
                <a:solidFill>
                  <a:srgbClr val="5A7557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54" name="Google Shape;254;p20"/>
            <p:cNvSpPr txBox="1"/>
            <p:nvPr/>
          </p:nvSpPr>
          <p:spPr>
            <a:xfrm>
              <a:off x="5905500" y="95250"/>
              <a:ext cx="190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1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適用申報書</a:t>
              </a:r>
              <a:endParaRPr sz="1050" b="1">
                <a:solidFill>
                  <a:srgbClr val="5A7557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55" name="Google Shape;255;p20"/>
            <p:cNvSpPr txBox="1"/>
            <p:nvPr/>
          </p:nvSpPr>
          <p:spPr>
            <a:xfrm>
              <a:off x="228600" y="523875"/>
              <a:ext cx="1428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專營應稅</a:t>
              </a:r>
              <a:endParaRPr sz="105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56" name="Google Shape;256;p20"/>
            <p:cNvSpPr txBox="1"/>
            <p:nvPr/>
          </p:nvSpPr>
          <p:spPr>
            <a:xfrm>
              <a:off x="1905000" y="523875"/>
              <a:ext cx="381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所有收入皆為應稅</a:t>
              </a:r>
              <a:endParaRPr sz="1050" b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57" name="Google Shape;257;p20"/>
            <p:cNvSpPr txBox="1"/>
            <p:nvPr/>
          </p:nvSpPr>
          <p:spPr>
            <a:xfrm>
              <a:off x="5905500" y="523875"/>
              <a:ext cx="190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401 申報書</a:t>
              </a:r>
              <a:endParaRPr sz="105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58" name="Google Shape;258;p20"/>
            <p:cNvSpPr txBox="1"/>
            <p:nvPr/>
          </p:nvSpPr>
          <p:spPr>
            <a:xfrm>
              <a:off x="228600" y="952500"/>
              <a:ext cx="1428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專營免稅</a:t>
              </a:r>
              <a:endParaRPr sz="105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59" name="Google Shape;259;p20"/>
            <p:cNvSpPr txBox="1"/>
            <p:nvPr/>
          </p:nvSpPr>
          <p:spPr>
            <a:xfrm>
              <a:off x="1905000" y="952500"/>
              <a:ext cx="381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所有收入皆為免稅</a:t>
              </a:r>
              <a:endParaRPr sz="1050" b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60" name="Google Shape;260;p20"/>
            <p:cNvSpPr txBox="1"/>
            <p:nvPr/>
          </p:nvSpPr>
          <p:spPr>
            <a:xfrm>
              <a:off x="5905500" y="952500"/>
              <a:ext cx="190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TW" sz="105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403</a:t>
              </a:r>
              <a:r>
                <a:rPr lang="zh-TW" sz="105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 申報書</a:t>
              </a:r>
              <a:endParaRPr sz="105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61" name="Google Shape;261;p20"/>
            <p:cNvSpPr txBox="1"/>
            <p:nvPr/>
          </p:nvSpPr>
          <p:spPr>
            <a:xfrm>
              <a:off x="228600" y="1381125"/>
              <a:ext cx="1428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35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兼營</a:t>
              </a:r>
              <a:endParaRPr sz="135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62" name="Google Shape;262;p20"/>
            <p:cNvSpPr txBox="1"/>
            <p:nvPr/>
          </p:nvSpPr>
          <p:spPr>
            <a:xfrm>
              <a:off x="1905000" y="1381125"/>
              <a:ext cx="381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同時有應稅＋免稅收入</a:t>
              </a:r>
              <a:endParaRPr sz="105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63" name="Google Shape;263;p20"/>
            <p:cNvSpPr txBox="1"/>
            <p:nvPr/>
          </p:nvSpPr>
          <p:spPr>
            <a:xfrm>
              <a:off x="5905500" y="1381125"/>
              <a:ext cx="190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65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403 申報書</a:t>
              </a:r>
              <a:endParaRPr sz="165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264" name="Google Shape;264;p20"/>
          <p:cNvGrpSpPr/>
          <p:nvPr/>
        </p:nvGrpSpPr>
        <p:grpSpPr>
          <a:xfrm>
            <a:off x="571500" y="3714750"/>
            <a:ext cx="8001000" cy="809700"/>
            <a:chOff x="0" y="0"/>
            <a:chExt cx="8001000" cy="809700"/>
          </a:xfrm>
        </p:grpSpPr>
        <p:sp>
          <p:nvSpPr>
            <p:cNvPr id="265" name="Google Shape;265;p20"/>
            <p:cNvSpPr/>
            <p:nvPr/>
          </p:nvSpPr>
          <p:spPr>
            <a:xfrm>
              <a:off x="0" y="0"/>
              <a:ext cx="8001000" cy="809700"/>
            </a:xfrm>
            <a:prstGeom prst="roundRect">
              <a:avLst>
                <a:gd name="adj" fmla="val 18823"/>
              </a:avLst>
            </a:prstGeom>
            <a:solidFill>
              <a:srgbClr val="F4F2E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20"/>
            <p:cNvSpPr txBox="1"/>
            <p:nvPr/>
          </p:nvSpPr>
          <p:spPr>
            <a:xfrm>
              <a:off x="285750" y="142875"/>
              <a:ext cx="7429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20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口訣：「</a:t>
              </a:r>
              <a:r>
                <a:rPr lang="zh-TW" altLang="en-US" sz="120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專營應稅四零一，其餘皆四零三</a:t>
              </a:r>
              <a:r>
                <a:rPr lang="zh-TW" sz="120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」</a:t>
              </a:r>
              <a:endParaRPr sz="120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zh-TW"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大葉園藝賣花（免稅）又做工程（應稅）＝ 兼營 ＝ </a:t>
              </a:r>
              <a:r>
                <a:rPr lang="zh-TW" sz="105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403</a:t>
              </a:r>
              <a:r>
                <a:rPr lang="zh-TW"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。</a:t>
              </a:r>
              <a:endParaRPr sz="1050" b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267" name="Google Shape;267;p20"/>
          <p:cNvGrpSpPr/>
          <p:nvPr/>
        </p:nvGrpSpPr>
        <p:grpSpPr>
          <a:xfrm>
            <a:off x="571500" y="4667250"/>
            <a:ext cx="8001000" cy="285750"/>
            <a:chOff x="0" y="0"/>
            <a:chExt cx="8001000" cy="285750"/>
          </a:xfrm>
        </p:grpSpPr>
        <p:cxnSp>
          <p:nvCxnSpPr>
            <p:cNvPr id="268" name="Google Shape;268;p20"/>
            <p:cNvCxnSpPr/>
            <p:nvPr/>
          </p:nvCxnSpPr>
          <p:spPr>
            <a:xfrm>
              <a:off x="0" y="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69" name="Google Shape;269;p20"/>
            <p:cNvSpPr txBox="1"/>
            <p:nvPr/>
          </p:nvSpPr>
          <p:spPr>
            <a:xfrm>
              <a:off x="0" y="952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大葉園藝有限公司 ✕ 稅務顧問團隊 | 企業轉型與稅務規劃指南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70" name="Google Shape;270;p20"/>
            <p:cNvSpPr txBox="1"/>
            <p:nvPr/>
          </p:nvSpPr>
          <p:spPr>
            <a:xfrm>
              <a:off x="7048500" y="95250"/>
              <a:ext cx="952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2026.08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sp>
        <p:nvSpPr>
          <p:cNvPr id="271" name="Google Shape;271;p20"/>
          <p:cNvSpPr/>
          <p:nvPr/>
        </p:nvSpPr>
        <p:spPr>
          <a:xfrm>
            <a:off x="7810500" y="-666750"/>
            <a:ext cx="2286000" cy="2286000"/>
          </a:xfrm>
          <a:prstGeom prst="ellipse">
            <a:avLst/>
          </a:prstGeom>
          <a:solidFill>
            <a:srgbClr val="7C9878">
              <a:alpha val="5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Google Shape;299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05500" y="2095500"/>
            <a:ext cx="5334000" cy="533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476250" y="-1047750"/>
            <a:ext cx="2857500" cy="2857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1" name="Google Shape;301;p22"/>
          <p:cNvGrpSpPr/>
          <p:nvPr/>
        </p:nvGrpSpPr>
        <p:grpSpPr>
          <a:xfrm>
            <a:off x="571500" y="381000"/>
            <a:ext cx="2400300" cy="381000"/>
            <a:chOff x="0" y="0"/>
            <a:chExt cx="2400300" cy="381000"/>
          </a:xfrm>
        </p:grpSpPr>
        <p:sp>
          <p:nvSpPr>
            <p:cNvPr id="304" name="Google Shape;304;p22"/>
            <p:cNvSpPr txBox="1"/>
            <p:nvPr/>
          </p:nvSpPr>
          <p:spPr>
            <a:xfrm>
              <a:off x="495300" y="57150"/>
              <a:ext cx="190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20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大葉園藝顧問</a:t>
              </a:r>
              <a:endParaRPr sz="120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305" name="Google Shape;305;p22"/>
          <p:cNvGrpSpPr/>
          <p:nvPr/>
        </p:nvGrpSpPr>
        <p:grpSpPr>
          <a:xfrm>
            <a:off x="571500" y="952500"/>
            <a:ext cx="8153400" cy="762000"/>
            <a:chOff x="0" y="0"/>
            <a:chExt cx="8153400" cy="762000"/>
          </a:xfrm>
        </p:grpSpPr>
        <p:sp>
          <p:nvSpPr>
            <p:cNvPr id="307" name="Google Shape;307;p22"/>
            <p:cNvSpPr txBox="1"/>
            <p:nvPr/>
          </p:nvSpPr>
          <p:spPr>
            <a:xfrm>
              <a:off x="152400" y="0"/>
              <a:ext cx="8001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100" b="1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三種申報方式比較</a:t>
              </a:r>
              <a:endParaRPr sz="2100" b="1" dirty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zh-TW" altLang="en-US" sz="900" b="0" dirty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 </a:t>
              </a:r>
              <a:r>
                <a:rPr lang="zh-TW" sz="900" b="0" dirty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營所稅策略</a:t>
              </a:r>
              <a:endParaRPr sz="900" b="0" dirty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308" name="Google Shape;308;p22"/>
          <p:cNvGrpSpPr/>
          <p:nvPr/>
        </p:nvGrpSpPr>
        <p:grpSpPr>
          <a:xfrm>
            <a:off x="571500" y="1905000"/>
            <a:ext cx="2571900" cy="2476500"/>
            <a:chOff x="0" y="0"/>
            <a:chExt cx="2571900" cy="2476500"/>
          </a:xfrm>
        </p:grpSpPr>
        <p:sp>
          <p:nvSpPr>
            <p:cNvPr id="309" name="Google Shape;309;p22"/>
            <p:cNvSpPr/>
            <p:nvPr/>
          </p:nvSpPr>
          <p:spPr>
            <a:xfrm>
              <a:off x="0" y="0"/>
              <a:ext cx="2571900" cy="2476500"/>
            </a:xfrm>
            <a:prstGeom prst="roundRect">
              <a:avLst>
                <a:gd name="adj" fmla="val 6153"/>
              </a:avLst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22"/>
            <p:cNvSpPr/>
            <p:nvPr/>
          </p:nvSpPr>
          <p:spPr>
            <a:xfrm>
              <a:off x="152400" y="0"/>
              <a:ext cx="2267100" cy="1143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  <a:lnTo>
                    <a:pt x="120000" y="0"/>
                  </a:lnTo>
                  <a:lnTo>
                    <a:pt x="120000" y="60000"/>
                  </a:lnTo>
                  <a:cubicBezTo>
                    <a:pt x="120000" y="75913"/>
                    <a:pt x="119681" y="91174"/>
                    <a:pt x="119114" y="102426"/>
                  </a:cubicBezTo>
                  <a:cubicBezTo>
                    <a:pt x="118547" y="113679"/>
                    <a:pt x="117777" y="120000"/>
                    <a:pt x="116975" y="120000"/>
                  </a:cubicBezTo>
                  <a:lnTo>
                    <a:pt x="3025" y="120000"/>
                  </a:lnTo>
                  <a:cubicBezTo>
                    <a:pt x="1354" y="119998"/>
                    <a:pt x="0" y="93135"/>
                    <a:pt x="0" y="60000"/>
                  </a:cubicBez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A755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22"/>
            <p:cNvSpPr txBox="1"/>
            <p:nvPr/>
          </p:nvSpPr>
          <p:spPr>
            <a:xfrm>
              <a:off x="228600" y="304800"/>
              <a:ext cx="21147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500" b="1" dirty="0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擴大書審</a:t>
              </a:r>
              <a:endParaRPr sz="1500" b="1" dirty="0">
                <a:solidFill>
                  <a:srgbClr val="5A7557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zh-TW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• </a:t>
              </a:r>
              <a:r>
                <a:rPr lang="zh-TW" altLang="en-US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淨</a:t>
              </a:r>
              <a:r>
                <a:rPr lang="zh-TW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營收 &lt; 3,000 萬</a:t>
              </a:r>
              <a:r>
                <a:rPr lang="zh-TW" altLang="en-US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元</a:t>
              </a:r>
              <a:endParaRPr dirty="0"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• </a:t>
              </a:r>
              <a:r>
                <a:rPr lang="zh-TW" altLang="en-US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淨利率</a:t>
              </a:r>
              <a:r>
                <a:rPr lang="en-US" altLang="zh-TW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4%</a:t>
              </a:r>
            </a:p>
            <a:p>
              <a:r>
                <a:rPr lang="en-US" altLang="zh-TW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• </a:t>
              </a:r>
              <a:r>
                <a:rPr lang="zh-TW" altLang="en-US" sz="105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缺憑證</a:t>
              </a:r>
              <a:endParaRPr sz="1050" dirty="0"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• </a:t>
              </a:r>
              <a:r>
                <a:rPr lang="zh-TW" altLang="en-US" sz="105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擴大書審及所得額標準二者合計被抽查機率為</a:t>
              </a:r>
              <a:r>
                <a:rPr lang="en-US" altLang="zh-TW" sz="105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1/10</a:t>
              </a:r>
              <a:endParaRPr dirty="0"/>
            </a:p>
          </p:txBody>
        </p:sp>
      </p:grpSp>
      <p:grpSp>
        <p:nvGrpSpPr>
          <p:cNvPr id="312" name="Google Shape;312;p22"/>
          <p:cNvGrpSpPr/>
          <p:nvPr/>
        </p:nvGrpSpPr>
        <p:grpSpPr>
          <a:xfrm>
            <a:off x="3286125" y="1905000"/>
            <a:ext cx="2571900" cy="2476500"/>
            <a:chOff x="0" y="0"/>
            <a:chExt cx="2571900" cy="2476500"/>
          </a:xfrm>
        </p:grpSpPr>
        <p:sp>
          <p:nvSpPr>
            <p:cNvPr id="313" name="Google Shape;313;p22"/>
            <p:cNvSpPr/>
            <p:nvPr/>
          </p:nvSpPr>
          <p:spPr>
            <a:xfrm>
              <a:off x="0" y="0"/>
              <a:ext cx="2571900" cy="2476500"/>
            </a:xfrm>
            <a:prstGeom prst="roundRect">
              <a:avLst>
                <a:gd name="adj" fmla="val 6153"/>
              </a:avLst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22"/>
            <p:cNvSpPr/>
            <p:nvPr/>
          </p:nvSpPr>
          <p:spPr>
            <a:xfrm>
              <a:off x="152400" y="0"/>
              <a:ext cx="2267100" cy="1143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  <a:lnTo>
                    <a:pt x="120000" y="0"/>
                  </a:lnTo>
                  <a:lnTo>
                    <a:pt x="120000" y="60000"/>
                  </a:lnTo>
                  <a:cubicBezTo>
                    <a:pt x="120000" y="75913"/>
                    <a:pt x="119681" y="91174"/>
                    <a:pt x="119114" y="102426"/>
                  </a:cubicBezTo>
                  <a:cubicBezTo>
                    <a:pt x="118547" y="113679"/>
                    <a:pt x="117777" y="120000"/>
                    <a:pt x="116975" y="120000"/>
                  </a:cubicBezTo>
                  <a:lnTo>
                    <a:pt x="3025" y="120000"/>
                  </a:lnTo>
                  <a:cubicBezTo>
                    <a:pt x="1354" y="119998"/>
                    <a:pt x="0" y="93135"/>
                    <a:pt x="0" y="60000"/>
                  </a:cubicBez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4A46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22"/>
            <p:cNvSpPr txBox="1"/>
            <p:nvPr/>
          </p:nvSpPr>
          <p:spPr>
            <a:xfrm>
              <a:off x="228600" y="304800"/>
              <a:ext cx="21147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500" b="1" dirty="0">
                  <a:solidFill>
                    <a:srgbClr val="C4A46D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所得額標準</a:t>
              </a:r>
              <a:endParaRPr lang="en-US" altLang="zh-TW" sz="1500" b="1" dirty="0">
                <a:solidFill>
                  <a:srgbClr val="C4A46D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zh-TW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•</a:t>
              </a:r>
              <a:r>
                <a:rPr lang="zh-TW" altLang="en-US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 淨營收 </a:t>
              </a:r>
              <a:r>
                <a:rPr lang="en-US" altLang="zh-TW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&gt;3000</a:t>
              </a:r>
              <a:r>
                <a:rPr lang="zh-TW" altLang="en-US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萬元</a:t>
              </a:r>
              <a:endParaRPr dirty="0"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• </a:t>
              </a:r>
              <a:r>
                <a:rPr lang="zh-TW" altLang="en-US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淨利率</a:t>
              </a:r>
              <a:r>
                <a:rPr lang="en-US" altLang="zh-TW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7%</a:t>
              </a: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TW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• </a:t>
              </a:r>
              <a:r>
                <a:rPr lang="zh-TW" altLang="en-US" sz="105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缺憑證</a:t>
              </a:r>
              <a:endParaRPr lang="en-US" altLang="zh-TW" sz="1050" dirty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TW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•</a:t>
              </a:r>
              <a:r>
                <a:rPr lang="zh-TW" altLang="en-US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 擴大書審及所得額標準二者合計被抽查機率為</a:t>
              </a:r>
              <a:r>
                <a:rPr lang="en-US" altLang="zh-TW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1/10</a:t>
              </a:r>
              <a:endParaRPr lang="zh-TW" altLang="en-US" dirty="0"/>
            </a:p>
          </p:txBody>
        </p:sp>
      </p:grpSp>
      <p:grpSp>
        <p:nvGrpSpPr>
          <p:cNvPr id="316" name="Google Shape;316;p22"/>
          <p:cNvGrpSpPr/>
          <p:nvPr/>
        </p:nvGrpSpPr>
        <p:grpSpPr>
          <a:xfrm>
            <a:off x="6000750" y="1905000"/>
            <a:ext cx="2571900" cy="2476500"/>
            <a:chOff x="0" y="0"/>
            <a:chExt cx="2571900" cy="2476500"/>
          </a:xfrm>
        </p:grpSpPr>
        <p:sp>
          <p:nvSpPr>
            <p:cNvPr id="317" name="Google Shape;317;p22"/>
            <p:cNvSpPr/>
            <p:nvPr/>
          </p:nvSpPr>
          <p:spPr>
            <a:xfrm>
              <a:off x="0" y="0"/>
              <a:ext cx="2571900" cy="2476500"/>
            </a:xfrm>
            <a:prstGeom prst="roundRect">
              <a:avLst>
                <a:gd name="adj" fmla="val 6153"/>
              </a:avLst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22"/>
            <p:cNvSpPr/>
            <p:nvPr/>
          </p:nvSpPr>
          <p:spPr>
            <a:xfrm>
              <a:off x="152400" y="0"/>
              <a:ext cx="2267100" cy="1143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  <a:lnTo>
                    <a:pt x="120000" y="0"/>
                  </a:lnTo>
                  <a:lnTo>
                    <a:pt x="120000" y="60000"/>
                  </a:lnTo>
                  <a:cubicBezTo>
                    <a:pt x="120000" y="75913"/>
                    <a:pt x="119681" y="91174"/>
                    <a:pt x="119114" y="102426"/>
                  </a:cubicBezTo>
                  <a:cubicBezTo>
                    <a:pt x="118547" y="113679"/>
                    <a:pt x="117777" y="120000"/>
                    <a:pt x="116975" y="120000"/>
                  </a:cubicBezTo>
                  <a:lnTo>
                    <a:pt x="3025" y="120000"/>
                  </a:lnTo>
                  <a:cubicBezTo>
                    <a:pt x="1354" y="119998"/>
                    <a:pt x="0" y="93135"/>
                    <a:pt x="0" y="60000"/>
                  </a:cubicBez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55D4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22"/>
            <p:cNvSpPr txBox="1"/>
            <p:nvPr/>
          </p:nvSpPr>
          <p:spPr>
            <a:xfrm>
              <a:off x="228600" y="304800"/>
              <a:ext cx="21147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500" b="1" dirty="0">
                  <a:solidFill>
                    <a:srgbClr val="C55D4D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同業利潤標準</a:t>
              </a:r>
              <a:endParaRPr sz="1500" b="1" dirty="0">
                <a:solidFill>
                  <a:srgbClr val="C55D4D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>
                <a:spcBef>
                  <a:spcPts val="1200"/>
                </a:spcBef>
              </a:pPr>
              <a:r>
                <a:rPr lang="en-US" altLang="zh-TW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•</a:t>
              </a:r>
              <a:r>
                <a:rPr lang="zh-TW" altLang="en-US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 </a:t>
              </a:r>
              <a:r>
                <a:rPr lang="zh-TW" altLang="en-US" sz="1050" b="1" dirty="0">
                  <a:solidFill>
                    <a:srgbClr val="C55D4D"/>
                  </a:solidFill>
                  <a:latin typeface="Noto Sans TC"/>
                  <a:ea typeface="Noto Sans TC"/>
                  <a:sym typeface="Noto Sans TC"/>
                </a:rPr>
                <a:t>前兩者書審案被抽中查帳時適用</a:t>
              </a:r>
              <a:endParaRPr lang="zh-TW" altLang="en-US" sz="1050" dirty="0"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• 利潤率 </a:t>
              </a:r>
              <a:r>
                <a:rPr lang="en-US" altLang="zh-TW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8%</a:t>
              </a:r>
              <a:endParaRPr dirty="0"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• 國稅局</a:t>
              </a:r>
              <a:r>
                <a:rPr lang="zh-TW" altLang="en-US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逕決</a:t>
              </a:r>
              <a:r>
                <a:rPr lang="en-US" altLang="zh-TW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(</a:t>
              </a:r>
              <a:r>
                <a:rPr lang="zh-TW" altLang="en-US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直接核定</a:t>
              </a:r>
              <a:r>
                <a:rPr lang="en-US" altLang="zh-TW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)</a:t>
              </a:r>
              <a:endParaRPr dirty="0"/>
            </a:p>
          </p:txBody>
        </p:sp>
      </p:grpSp>
      <p:grpSp>
        <p:nvGrpSpPr>
          <p:cNvPr id="320" name="Google Shape;320;p22"/>
          <p:cNvGrpSpPr/>
          <p:nvPr/>
        </p:nvGrpSpPr>
        <p:grpSpPr>
          <a:xfrm>
            <a:off x="571500" y="4667250"/>
            <a:ext cx="8001000" cy="285750"/>
            <a:chOff x="0" y="0"/>
            <a:chExt cx="8001000" cy="285750"/>
          </a:xfrm>
        </p:grpSpPr>
        <p:cxnSp>
          <p:nvCxnSpPr>
            <p:cNvPr id="321" name="Google Shape;321;p22"/>
            <p:cNvCxnSpPr/>
            <p:nvPr/>
          </p:nvCxnSpPr>
          <p:spPr>
            <a:xfrm>
              <a:off x="0" y="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22" name="Google Shape;322;p22"/>
            <p:cNvSpPr txBox="1"/>
            <p:nvPr/>
          </p:nvSpPr>
          <p:spPr>
            <a:xfrm>
              <a:off x="0" y="95250"/>
              <a:ext cx="5715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大葉園藝有限公司 ✕ 稅務顧問團隊 | 企業轉型與稅務規劃指南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323" name="Google Shape;323;p22"/>
            <p:cNvSpPr txBox="1"/>
            <p:nvPr/>
          </p:nvSpPr>
          <p:spPr>
            <a:xfrm>
              <a:off x="7048500" y="95250"/>
              <a:ext cx="952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2026.08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28"/>
          <p:cNvSpPr/>
          <p:nvPr/>
        </p:nvSpPr>
        <p:spPr>
          <a:xfrm>
            <a:off x="5524500" y="1714500"/>
            <a:ext cx="5334000" cy="5334000"/>
          </a:xfrm>
          <a:prstGeom prst="ellipse">
            <a:avLst/>
          </a:prstGeom>
          <a:solidFill>
            <a:srgbClr val="7C9878">
              <a:alpha val="8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28"/>
          <p:cNvSpPr/>
          <p:nvPr/>
        </p:nvSpPr>
        <p:spPr>
          <a:xfrm>
            <a:off x="0" y="-1619250"/>
            <a:ext cx="2857500" cy="2857500"/>
          </a:xfrm>
          <a:prstGeom prst="ellipse">
            <a:avLst/>
          </a:prstGeom>
          <a:solidFill>
            <a:srgbClr val="5A7557">
              <a:alpha val="5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3" name="Google Shape;493;p28"/>
          <p:cNvGrpSpPr/>
          <p:nvPr/>
        </p:nvGrpSpPr>
        <p:grpSpPr>
          <a:xfrm>
            <a:off x="571500" y="381000"/>
            <a:ext cx="2400300" cy="381000"/>
            <a:chOff x="0" y="0"/>
            <a:chExt cx="2400300" cy="381000"/>
          </a:xfrm>
        </p:grpSpPr>
        <p:sp>
          <p:nvSpPr>
            <p:cNvPr id="496" name="Google Shape;496;p28"/>
            <p:cNvSpPr txBox="1"/>
            <p:nvPr/>
          </p:nvSpPr>
          <p:spPr>
            <a:xfrm>
              <a:off x="495300" y="57150"/>
              <a:ext cx="190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20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大葉園藝顧問</a:t>
              </a:r>
              <a:endParaRPr sz="120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497" name="Google Shape;497;p28"/>
          <p:cNvGrpSpPr/>
          <p:nvPr/>
        </p:nvGrpSpPr>
        <p:grpSpPr>
          <a:xfrm>
            <a:off x="571500" y="1333500"/>
            <a:ext cx="952500" cy="266700"/>
            <a:chOff x="0" y="0"/>
            <a:chExt cx="952500" cy="266700"/>
          </a:xfrm>
        </p:grpSpPr>
        <p:sp>
          <p:nvSpPr>
            <p:cNvPr id="498" name="Google Shape;498;p28"/>
            <p:cNvSpPr/>
            <p:nvPr/>
          </p:nvSpPr>
          <p:spPr>
            <a:xfrm>
              <a:off x="0" y="0"/>
              <a:ext cx="952500" cy="266700"/>
            </a:xfrm>
            <a:prstGeom prst="roundRect">
              <a:avLst>
                <a:gd name="adj" fmla="val 50000"/>
              </a:avLst>
            </a:prstGeom>
            <a:solidFill>
              <a:srgbClr val="000000">
                <a:alpha val="0"/>
              </a:srgbClr>
            </a:solidFill>
            <a:ln w="9525" cap="flat" cmpd="sng">
              <a:solidFill>
                <a:srgbClr val="5A75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28"/>
            <p:cNvSpPr txBox="1"/>
            <p:nvPr/>
          </p:nvSpPr>
          <p:spPr>
            <a:xfrm>
              <a:off x="0" y="0"/>
              <a:ext cx="9525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900" b="1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THANK YOU</a:t>
              </a:r>
              <a:endParaRPr sz="900" b="1">
                <a:solidFill>
                  <a:srgbClr val="5A7557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sp>
        <p:nvSpPr>
          <p:cNvPr id="500" name="Google Shape;500;p28"/>
          <p:cNvSpPr txBox="1"/>
          <p:nvPr/>
        </p:nvSpPr>
        <p:spPr>
          <a:xfrm>
            <a:off x="571500" y="1809750"/>
            <a:ext cx="80010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3600" b="1" dirty="0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rPr>
              <a:t>讓您專心</a:t>
            </a:r>
            <a:r>
              <a:rPr lang="zh-TW" altLang="en-US" sz="3600" b="1" dirty="0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rPr>
              <a:t>經營</a:t>
            </a:r>
            <a:r>
              <a:rPr lang="zh-TW" sz="3600" b="1" dirty="0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rPr>
              <a:t> 稅的事交給我們</a:t>
            </a:r>
            <a:endParaRPr sz="3600" b="1" dirty="0">
              <a:solidFill>
                <a:srgbClr val="1E2A22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501" name="Google Shape;501;p28"/>
          <p:cNvSpPr txBox="1"/>
          <p:nvPr/>
        </p:nvSpPr>
        <p:spPr>
          <a:xfrm>
            <a:off x="571500" y="2762250"/>
            <a:ext cx="8001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900"/>
              </a:spcAft>
              <a:buNone/>
            </a:pPr>
            <a:r>
              <a:rPr lang="zh-TW" altLang="en-US" sz="1800" b="0">
                <a:solidFill>
                  <a:srgbClr val="5A7557"/>
                </a:solidFill>
                <a:latin typeface="Noto Sans TC"/>
                <a:ea typeface="Noto Sans TC"/>
                <a:cs typeface="Noto Sans TC"/>
                <a:sym typeface="Noto Sans TC"/>
              </a:rPr>
              <a:t>設立 → 營業 → 報稅。</a:t>
            </a:r>
            <a:r>
              <a:rPr lang="zh-TW" sz="1800" b="0">
                <a:solidFill>
                  <a:srgbClr val="5A7557"/>
                </a:solidFill>
                <a:latin typeface="Noto Sans TC"/>
                <a:ea typeface="Noto Sans TC"/>
                <a:cs typeface="Noto Sans TC"/>
                <a:sym typeface="Noto Sans TC"/>
              </a:rPr>
              <a:t>一條龍專業服務，全年稅務無死角。</a:t>
            </a:r>
            <a:endParaRPr sz="1800" b="0">
              <a:solidFill>
                <a:srgbClr val="5A7557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502" name="Google Shape;502;p28"/>
          <p:cNvSpPr txBox="1"/>
          <p:nvPr/>
        </p:nvSpPr>
        <p:spPr>
          <a:xfrm>
            <a:off x="571500" y="3429000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750"/>
              </a:spcAft>
              <a:buNone/>
            </a:pPr>
            <a:r>
              <a:rPr lang="zh-TW" sz="1350" b="1" dirty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rPr>
              <a:t>大葉園藝有限公司 ✕ 稅務顧問團隊</a:t>
            </a:r>
            <a:endParaRPr sz="1350" b="1" dirty="0">
              <a:solidFill>
                <a:srgbClr val="2D4333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grpSp>
        <p:nvGrpSpPr>
          <p:cNvPr id="503" name="Google Shape;503;p28"/>
          <p:cNvGrpSpPr/>
          <p:nvPr/>
        </p:nvGrpSpPr>
        <p:grpSpPr>
          <a:xfrm>
            <a:off x="571500" y="4667250"/>
            <a:ext cx="8001000" cy="285750"/>
            <a:chOff x="0" y="0"/>
            <a:chExt cx="8001000" cy="285750"/>
          </a:xfrm>
        </p:grpSpPr>
        <p:cxnSp>
          <p:nvCxnSpPr>
            <p:cNvPr id="504" name="Google Shape;504;p28"/>
            <p:cNvCxnSpPr/>
            <p:nvPr/>
          </p:nvCxnSpPr>
          <p:spPr>
            <a:xfrm>
              <a:off x="0" y="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505" name="Google Shape;505;p28"/>
            <p:cNvSpPr txBox="1"/>
            <p:nvPr/>
          </p:nvSpPr>
          <p:spPr>
            <a:xfrm>
              <a:off x="0" y="952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大葉園藝有限公司 ✕ 稅務顧問團隊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506" name="Google Shape;506;p28"/>
            <p:cNvSpPr txBox="1"/>
            <p:nvPr/>
          </p:nvSpPr>
          <p:spPr>
            <a:xfrm>
              <a:off x="7048500" y="95250"/>
              <a:ext cx="952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2026.08 Edition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865</Words>
  <Application>Microsoft Office PowerPoint</Application>
  <PresentationFormat>如螢幕大小 (16:9)</PresentationFormat>
  <Paragraphs>131</Paragraphs>
  <Slides>17</Slides>
  <Notes>9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17</vt:i4>
      </vt:variant>
    </vt:vector>
  </HeadingPairs>
  <TitlesOfParts>
    <vt:vector size="22" baseType="lpstr">
      <vt:lpstr>Noto Sans TC</vt:lpstr>
      <vt:lpstr>Arial</vt:lpstr>
      <vt:lpstr>Calibri</vt:lpstr>
      <vt:lpstr>標楷體</vt:lpstr>
      <vt:lpstr>Simple Light</vt:lpstr>
      <vt:lpstr>PowerPoint 簡報</vt:lpstr>
      <vt:lpstr>成員介紹</vt:lpstr>
      <vt:lpstr>PowerPoint 簡報</vt:lpstr>
      <vt:lpstr>PowerPoint 簡報</vt:lpstr>
      <vt:lpstr>PowerPoint 簡報</vt:lpstr>
      <vt:lpstr>PowerPoint 簡報</vt:lpstr>
      <vt:lpstr>QA問答</vt:lpstr>
      <vt:lpstr>Q1：如何開立發票(三聯式、二聯式) </vt:lpstr>
      <vt:lpstr>Q2:進貨發票及收據我要注意什麼?</vt:lpstr>
      <vt:lpstr>Q3:營業稅申報，需要準備什麼資料給會計師事務所?</vt:lpstr>
      <vt:lpstr>Q4：營業稅如何計算？</vt:lpstr>
      <vt:lpstr>Q5-1：年底營所稅，我要繳多少稅?</vt:lpstr>
      <vt:lpstr>Q5-2：年底營所稅，我要如何節稅?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Gary</dc:creator>
  <cp:lastModifiedBy>LI GARY</cp:lastModifiedBy>
  <cp:revision>7</cp:revision>
  <dcterms:modified xsi:type="dcterms:W3CDTF">2026-08-27T14:06:39Z</dcterms:modified>
</cp:coreProperties>
</file>