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71" r:id="rId3"/>
    <p:sldId id="259" r:id="rId6"/>
    <p:sldId id="260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61" r:id="rId15"/>
    <p:sldId id="262" r:id="rId16"/>
    <p:sldId id="264" r:id="rId17"/>
    <p:sldId id="270" r:id="rId18"/>
  </p:sldIdLst>
  <p:sldSz cx="9144000" cy="5143500" type="screen16x9"/>
  <p:notesSz cx="6858000" cy="9144000"/>
  <p:embeddedFontLst>
    <p:embeddedFont>
      <p:font typeface="標楷體" panose="03000509000000000000" pitchFamily="65" charset="-120"/>
      <p:regular r:id="rId20"/>
    </p:embeddedFont>
    <p:embeddedFont>
      <p:font typeface="Noto Sans TC" panose="020B0200000000000000" pitchFamily="34" charset="-12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579f0009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579f0009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579f0009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8579f0009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579f0009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579f0009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579f0009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8579f0009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579f0009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8579f0009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579f0009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8579f0009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579f0009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579f0009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8579f0009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8579f0009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8579f000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8579f000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8579f0009_1_0)">
  <p:cSld name="Generated (g3f8579f0009_1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-1428750" y="-1428750"/>
            <a:ext cx="12287250" cy="7429500"/>
            <a:chOff x="-1428750" y="-1428750"/>
            <a:chExt cx="12287250" cy="7429500"/>
          </a:xfrm>
        </p:grpSpPr>
        <p:sp>
          <p:nvSpPr>
            <p:cNvPr id="56" name="Google Shape;56;p14"/>
            <p:cNvSpPr/>
            <p:nvPr/>
          </p:nvSpPr>
          <p:spPr>
            <a:xfrm>
              <a:off x="6477000" y="476250"/>
              <a:ext cx="4191000" cy="4191000"/>
            </a:xfrm>
            <a:prstGeom prst="ellipse">
              <a:avLst/>
            </a:prstGeom>
            <a:solidFill>
              <a:srgbClr val="7C9878">
                <a:alpha val="6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7429500" y="2571750"/>
              <a:ext cx="3429000" cy="3429000"/>
            </a:xfrm>
            <a:prstGeom prst="ellipse">
              <a:avLst/>
            </a:prstGeom>
            <a:solidFill>
              <a:srgbClr val="5A7557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524750" y="381000"/>
              <a:ext cx="1143000" cy="1143000"/>
            </a:xfrm>
            <a:prstGeom prst="ellipse">
              <a:avLst/>
            </a:prstGeom>
            <a:solidFill>
              <a:srgbClr val="5A7557">
                <a:alpha val="4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-1428750" y="-1428750"/>
              <a:ext cx="2857500" cy="2857500"/>
            </a:xfrm>
            <a:prstGeom prst="ellipse">
              <a:avLst/>
            </a:prstGeom>
            <a:solidFill>
              <a:srgbClr val="7C9878">
                <a:alpha val="3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571500" y="381000"/>
            <a:ext cx="4305300" cy="438150"/>
            <a:chOff x="0" y="0"/>
            <a:chExt cx="4305300" cy="438150"/>
          </a:xfrm>
        </p:grpSpPr>
        <p:sp>
          <p:nvSpPr>
            <p:cNvPr id="63" name="Google Shape;63;p14"/>
            <p:cNvSpPr txBox="1"/>
            <p:nvPr/>
          </p:nvSpPr>
          <p:spPr>
            <a:xfrm>
              <a:off x="495300" y="571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</a:t>
              </a:r>
              <a:r>
                <a:rPr lang="en-US" altLang="zh-TW" sz="12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VS XX</a:t>
              </a:r>
              <a:r>
                <a:rPr lang="zh-TW" altLang="en-US" sz="12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聯合會計事務所</a:t>
              </a:r>
              <a:endParaRPr sz="12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571500" y="1905000"/>
            <a:ext cx="7620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您的綠色事業 我們來守護</a:t>
            </a:r>
            <a:endParaRPr sz="1650" b="1" dirty="0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從公司設立到</a:t>
            </a:r>
            <a:r>
              <a:rPr lang="zh-TW" altLang="en-US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年度</a:t>
            </a: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稅務規劃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一條龍避坑指南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12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rPr>
              <a:t>專為大葉園藝量身打造的轉型策略與合規藍圖</a:t>
            </a:r>
            <a:endParaRPr sz="1200" b="0" dirty="0">
              <a:solidFill>
                <a:srgbClr val="7C9878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571500" y="4667250"/>
            <a:ext cx="8001000" cy="323850"/>
            <a:chOff x="0" y="0"/>
            <a:chExt cx="8001000" cy="323850"/>
          </a:xfrm>
        </p:grpSpPr>
        <p:cxnSp>
          <p:nvCxnSpPr>
            <p:cNvPr id="66" name="Google Shape;66;p14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7" name="Google Shape;67;p14"/>
            <p:cNvSpPr txBox="1"/>
            <p:nvPr/>
          </p:nvSpPr>
          <p:spPr>
            <a:xfrm>
              <a:off x="0" y="95250"/>
              <a:ext cx="476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7048500" y="952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FBC7B3-AB61-A8FD-7AEA-0662EFAD32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成員介紹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C4632"/>
                          </a:solidFill>
                          <a:latin typeface="Noto Sans TC"/>
                        </a:rPr>
                        <a:t>學號與名字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C4632"/>
                          </a:solidFill>
                          <a:latin typeface="Noto Sans TC"/>
                        </a:rPr>
                        <a:t>角色定位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C4632"/>
                          </a:solidFill>
                          <a:latin typeface="Noto Sans TC"/>
                        </a:rPr>
                        <a:t>主講內容</a:t>
                      </a:r>
                    </a:p>
                  </a:txBody>
                  <a:tcPr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4632"/>
                          </a:solidFill>
                          <a:latin typeface="Noto Sans TC"/>
                        </a:rPr>
                        <a:t>18 素麗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4632"/>
                          </a:solidFill>
                          <a:latin typeface="Noto Sans TC"/>
                        </a:rPr>
                        <a:t>提問客人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4632"/>
                          </a:solidFill>
                          <a:latin typeface="Noto Sans TC"/>
                        </a:rPr>
                        <a:t>主要問題提問者</a:t>
                      </a:r>
                    </a:p>
                  </a:txBody>
                  <a:tcPr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4632"/>
                          </a:solidFill>
                          <a:latin typeface="Noto Sans TC"/>
                        </a:rPr>
                        <a:t>2 德詮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4632"/>
                          </a:solidFill>
                          <a:latin typeface="Noto Sans TC"/>
                        </a:rPr>
                        <a:t>會計師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4632"/>
                          </a:solidFill>
                          <a:latin typeface="Noto Sans TC"/>
                        </a:rPr>
                        <a:t>主要說明公司設立與流程規費</a:t>
                      </a:r>
                    </a:p>
                  </a:txBody>
                  <a:tcPr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4632"/>
                          </a:solidFill>
                          <a:latin typeface="Noto Sans TC"/>
                        </a:rPr>
                        <a:t>13 瓊月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4632"/>
                          </a:solidFill>
                          <a:latin typeface="Noto Sans TC"/>
                        </a:rPr>
                        <a:t>專業顧問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4632"/>
                          </a:solidFill>
                          <a:latin typeface="Noto Sans TC"/>
                        </a:rPr>
                        <a:t>營所稅、營業稅相關稅務問題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533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5905500" y="-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-476250" y="3333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15"/>
          <p:cNvGrpSpPr/>
          <p:nvPr/>
        </p:nvGrpSpPr>
        <p:grpSpPr>
          <a:xfrm>
            <a:off x="571500" y="381000"/>
            <a:ext cx="7772400" cy="1428750"/>
            <a:chOff x="0" y="0"/>
            <a:chExt cx="7772400" cy="1428750"/>
          </a:xfrm>
        </p:grpSpPr>
        <p:grpSp>
          <p:nvGrpSpPr>
            <p:cNvPr id="76" name="Google Shape;76;p15"/>
            <p:cNvGrpSpPr/>
            <p:nvPr/>
          </p:nvGrpSpPr>
          <p:grpSpPr>
            <a:xfrm>
              <a:off x="0" y="0"/>
              <a:ext cx="2400300" cy="381000"/>
              <a:chOff x="0" y="0"/>
              <a:chExt cx="2400300" cy="381000"/>
            </a:xfrm>
          </p:grpSpPr>
          <p:sp>
            <p:nvSpPr>
              <p:cNvPr id="79" name="Google Shape;79;p15"/>
              <p:cNvSpPr txBox="1"/>
              <p:nvPr/>
            </p:nvSpPr>
            <p:spPr>
              <a:xfrm>
                <a:off x="495300" y="57150"/>
                <a:ext cx="1905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大葉園藝顧問</a:t>
                </a:r>
                <a:endParaRPr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0" name="Google Shape;80;p15"/>
            <p:cNvGrpSpPr/>
            <p:nvPr/>
          </p:nvGrpSpPr>
          <p:grpSpPr>
            <a:xfrm>
              <a:off x="0" y="666750"/>
              <a:ext cx="7772400" cy="762000"/>
              <a:chOff x="0" y="0"/>
              <a:chExt cx="7772400" cy="762000"/>
            </a:xfrm>
          </p:grpSpPr>
          <p:sp>
            <p:nvSpPr>
              <p:cNvPr id="82" name="Google Shape;82;p15"/>
              <p:cNvSpPr txBox="1"/>
              <p:nvPr/>
            </p:nvSpPr>
            <p:spPr>
              <a:xfrm>
                <a:off x="152400" y="0"/>
                <a:ext cx="7620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900" b="1">
                    <a:solidFill>
                      <a:srgbClr val="7C9878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TODAY'S AGENDA</a:t>
                </a:r>
                <a:endParaRPr sz="900" b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zh-TW" sz="2100" b="1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今天要帶您走完的路</a:t>
                </a:r>
                <a:endParaRPr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83" name="Google Shape;83;p15"/>
          <p:cNvGrpSpPr/>
          <p:nvPr/>
        </p:nvGrpSpPr>
        <p:grpSpPr>
          <a:xfrm>
            <a:off x="571500" y="2000250"/>
            <a:ext cx="8001000" cy="2333775"/>
            <a:chOff x="0" y="0"/>
            <a:chExt cx="8001000" cy="2333775"/>
          </a:xfrm>
        </p:grpSpPr>
        <p:grpSp>
          <p:nvGrpSpPr>
            <p:cNvPr id="84" name="Google Shape;84;p15"/>
            <p:cNvGrpSpPr/>
            <p:nvPr/>
          </p:nvGrpSpPr>
          <p:grpSpPr>
            <a:xfrm>
              <a:off x="0" y="0"/>
              <a:ext cx="3810000" cy="1047900"/>
              <a:chOff x="0" y="0"/>
              <a:chExt cx="3810000" cy="104790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公司設立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德詮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7" name="Google Shape;87;p15"/>
            <p:cNvGrpSpPr/>
            <p:nvPr/>
          </p:nvGrpSpPr>
          <p:grpSpPr>
            <a:xfrm>
              <a:off x="4191000" y="0"/>
              <a:ext cx="3810000" cy="1047900"/>
              <a:chOff x="0" y="0"/>
              <a:chExt cx="3810000" cy="10479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營業稅申報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0" name="Google Shape;90;p15"/>
            <p:cNvGrpSpPr/>
            <p:nvPr/>
          </p:nvGrpSpPr>
          <p:grpSpPr>
            <a:xfrm>
              <a:off x="0" y="1285875"/>
              <a:ext cx="3810000" cy="1047900"/>
              <a:chOff x="0" y="0"/>
              <a:chExt cx="3810000" cy="10479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營所稅結算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3" name="Google Shape;93;p15"/>
            <p:cNvGrpSpPr/>
            <p:nvPr/>
          </p:nvGrpSpPr>
          <p:grpSpPr>
            <a:xfrm>
              <a:off x="4191000" y="1285875"/>
              <a:ext cx="3810000" cy="1047900"/>
              <a:chOff x="0" y="0"/>
              <a:chExt cx="3810000" cy="1047900"/>
            </a:xfrm>
          </p:grpSpPr>
          <p:sp>
            <p:nvSpPr>
              <p:cNvPr id="94" name="Google Shape;94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發票與稅務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(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與營業稅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營業稅合併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)</a:t>
                </a:r>
                <a:b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</a:b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</a:p>
            </p:txBody>
          </p:sp>
        </p:grpSp>
      </p:grpSp>
      <p:grpSp>
        <p:nvGrpSpPr>
          <p:cNvPr id="96" name="Google Shape;96;p15"/>
          <p:cNvGrpSpPr/>
          <p:nvPr/>
        </p:nvGrpSpPr>
        <p:grpSpPr>
          <a:xfrm>
            <a:off x="571500" y="4667250"/>
            <a:ext cx="8001000" cy="333450"/>
            <a:chOff x="0" y="0"/>
            <a:chExt cx="8001000" cy="333450"/>
          </a:xfrm>
        </p:grpSpPr>
        <p:cxnSp>
          <p:nvCxnSpPr>
            <p:cNvPr id="97" name="Google Shape;97;p15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8" name="Google Shape;98;p15"/>
            <p:cNvSpPr txBox="1"/>
            <p:nvPr/>
          </p:nvSpPr>
          <p:spPr>
            <a:xfrm>
              <a:off x="0" y="95250"/>
              <a:ext cx="6667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客戶現況：陳老闆經營家族園藝 20 年，要正式轉型為有限公司 | 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7048500" y="952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Page 02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5" name="Google Shape;105;p16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08" name="Google Shape;108;p16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109" name="Google Shape;109;p16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16"/>
          <p:cNvGrpSpPr/>
          <p:nvPr/>
        </p:nvGrpSpPr>
        <p:grpSpPr>
          <a:xfrm>
            <a:off x="571500" y="952500"/>
            <a:ext cx="4914900" cy="762000"/>
            <a:chOff x="0" y="0"/>
            <a:chExt cx="4914900" cy="762000"/>
          </a:xfrm>
        </p:grpSpPr>
        <p:sp>
          <p:nvSpPr>
            <p:cNvPr id="112" name="Google Shape;112;p16"/>
            <p:cNvSpPr txBox="1"/>
            <p:nvPr/>
          </p:nvSpPr>
          <p:spPr>
            <a:xfrm>
              <a:off x="152400" y="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陳老闆的園藝</a:t>
              </a:r>
              <a:r>
                <a:rPr lang="zh-TW" altLang="en-US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經營之路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CLIENT PROFILE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571500" y="1762125"/>
            <a:ext cx="3905400" cy="2381400"/>
            <a:chOff x="0" y="0"/>
            <a:chExt cx="3905400" cy="23814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現況</a:t>
              </a:r>
              <a:endParaRPr sz="16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家族園藝經營 20 年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 + 庭園綠化施工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企業客戶要求開發票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75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規劃</a:t>
              </a: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設立公司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4667250" y="1762125"/>
            <a:ext cx="3905400" cy="2381400"/>
            <a:chOff x="0" y="0"/>
            <a:chExt cx="3905400" cy="23814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6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需求</a:t>
              </a:r>
              <a:endParaRPr sz="165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想知道如何設立有限公司</a:t>
              </a:r>
              <a:endParaRPr lang="en-US" altLang="zh-TW"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想了解相關稅務問題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571500" y="4238625"/>
            <a:ext cx="8001000" cy="342900"/>
            <a:chOff x="0" y="0"/>
            <a:chExt cx="8001000" cy="34290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8001000" cy="342900"/>
            </a:xfrm>
            <a:prstGeom prst="roundRect">
              <a:avLst>
                <a:gd name="adj" fmla="val 22222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190500" y="7620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為了接軌大型企業客戶並完善家族傳承，</a:t>
              </a: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合規轉型</a:t>
              </a: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是園藝夢壯大的必經之路。</a:t>
              </a:r>
              <a:endParaRPr sz="105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25" name="Google Shape;125;p16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16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7715250" y="-1428750"/>
            <a:ext cx="2857500" cy="2857500"/>
          </a:xfrm>
          <a:prstGeom prst="ellipse">
            <a:avLst/>
          </a:prstGeom>
          <a:solidFill>
            <a:srgbClr val="5A7557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36" name="Google Shape;136;p17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139" name="Google Shape;139;p17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1 — 公司設立</a:t>
              </a:r>
              <a:endParaRPr sz="1050" b="0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zh-TW" altLang="en-US" sz="21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公司設立步驟</a:t>
              </a:r>
              <a:endParaRPr sz="21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152400" y="2095500"/>
            <a:ext cx="8001000" cy="895500"/>
            <a:chOff x="-419100" y="0"/>
            <a:chExt cx="8001000" cy="895500"/>
          </a:xfrm>
        </p:grpSpPr>
        <p:grpSp>
          <p:nvGrpSpPr>
            <p:cNvPr id="141" name="Google Shape;141;p17"/>
            <p:cNvGrpSpPr/>
            <p:nvPr/>
          </p:nvGrpSpPr>
          <p:grpSpPr>
            <a:xfrm>
              <a:off x="-419100" y="0"/>
              <a:ext cx="1143000" cy="895500"/>
              <a:chOff x="-419100" y="0"/>
              <a:chExt cx="1143000" cy="895500"/>
            </a:xfrm>
          </p:grpSpPr>
          <p:sp>
            <p:nvSpPr>
              <p:cNvPr id="143" name="Google Shape;14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1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4" name="Google Shape;14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名稱預查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46" name="Google Shape;146;p17"/>
            <p:cNvGrpSpPr/>
            <p:nvPr/>
          </p:nvGrpSpPr>
          <p:grpSpPr>
            <a:xfrm>
              <a:off x="723900" y="0"/>
              <a:ext cx="1143000" cy="895500"/>
              <a:chOff x="-419100" y="0"/>
              <a:chExt cx="1143000" cy="895500"/>
            </a:xfrm>
          </p:grpSpPr>
          <p:sp>
            <p:nvSpPr>
              <p:cNvPr id="148" name="Google Shape;14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2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9" name="Google Shape;14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確定地址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51" name="Google Shape;151;p17"/>
            <p:cNvGrpSpPr/>
            <p:nvPr/>
          </p:nvGrpSpPr>
          <p:grpSpPr>
            <a:xfrm>
              <a:off x="1866900" y="0"/>
              <a:ext cx="1143000" cy="895500"/>
              <a:chOff x="-419100" y="0"/>
              <a:chExt cx="1143000" cy="895500"/>
            </a:xfrm>
          </p:grpSpPr>
          <p:sp>
            <p:nvSpPr>
              <p:cNvPr id="153" name="Google Shape;15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3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4" name="Google Shape;15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銀行籌備戶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56" name="Google Shape;156;p17"/>
            <p:cNvGrpSpPr/>
            <p:nvPr/>
          </p:nvGrpSpPr>
          <p:grpSpPr>
            <a:xfrm>
              <a:off x="3009900" y="0"/>
              <a:ext cx="1143000" cy="895500"/>
              <a:chOff x="-419100" y="0"/>
              <a:chExt cx="1143000" cy="895500"/>
            </a:xfrm>
          </p:grpSpPr>
          <p:sp>
            <p:nvSpPr>
              <p:cNvPr id="158" name="Google Shape;15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4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9" name="Google Shape;15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會計師驗資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61" name="Google Shape;161;p17"/>
            <p:cNvGrpSpPr/>
            <p:nvPr/>
          </p:nvGrpSpPr>
          <p:grpSpPr>
            <a:xfrm>
              <a:off x="4152900" y="0"/>
              <a:ext cx="1143000" cy="895500"/>
              <a:chOff x="-419100" y="0"/>
              <a:chExt cx="1143000" cy="895500"/>
            </a:xfrm>
          </p:grpSpPr>
          <p:sp>
            <p:nvSpPr>
              <p:cNvPr id="163" name="Google Shape;16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5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設立登記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66" name="Google Shape;166;p17"/>
            <p:cNvGrpSpPr/>
            <p:nvPr/>
          </p:nvGrpSpPr>
          <p:grpSpPr>
            <a:xfrm>
              <a:off x="5295900" y="0"/>
              <a:ext cx="1143000" cy="895500"/>
              <a:chOff x="-419100" y="0"/>
              <a:chExt cx="1143000" cy="895500"/>
            </a:xfrm>
          </p:grpSpPr>
          <p:sp>
            <p:nvSpPr>
              <p:cNvPr id="168" name="Google Shape;16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6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稅籍登記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71" name="Google Shape;171;p17"/>
            <p:cNvGrpSpPr/>
            <p:nvPr/>
          </p:nvGrpSpPr>
          <p:grpSpPr>
            <a:xfrm>
              <a:off x="6438900" y="0"/>
              <a:ext cx="1143000" cy="895500"/>
              <a:chOff x="-419100" y="0"/>
              <a:chExt cx="1143000" cy="895500"/>
            </a:xfrm>
          </p:grpSpPr>
          <p:sp>
            <p:nvSpPr>
              <p:cNvPr id="173" name="Google Shape;17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7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74" name="Google Shape;17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CTP 申報</a:t>
                </a:r>
                <a:br>
                  <a:rPr lang="en-US" alt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</a:br>
                <a:r>
                  <a:rPr lang="zh-TW" altLang="en-US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自行申報</a:t>
                </a:r>
                <a:r>
                  <a:rPr lang="en-US" alt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&amp;</a:t>
                </a:r>
                <a:r>
                  <a:rPr lang="zh-TW" altLang="en-US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事務所代理</a:t>
                </a:r>
                <a:endParaRPr sz="105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571500" y="3238500"/>
            <a:ext cx="8001000" cy="1047900"/>
            <a:chOff x="0" y="0"/>
            <a:chExt cx="8001000" cy="10479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8001000" cy="1047900"/>
            </a:xfrm>
            <a:prstGeom prst="roundRect">
              <a:avLst>
                <a:gd name="adj" fmla="val 14545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381000" y="238125"/>
              <a:ext cx="723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建議資本額：</a:t>
              </a:r>
              <a:r>
                <a:rPr lang="en-US" alt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500 </a:t>
              </a:r>
              <a:r>
                <a:rPr lang="zh-TW" altLang="en-US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</a:t>
              </a:r>
              <a:r>
                <a:rPr 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/ 費用估算：NT$</a:t>
              </a:r>
              <a:r>
                <a:rPr lang="en-US" alt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15,000~20,000</a:t>
              </a:r>
              <a:endParaRPr sz="10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關鍵期限：</a:t>
              </a:r>
              <a:r>
                <a:rPr lang="zh-TW" sz="105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 天</a:t>
              </a:r>
              <a:r>
                <a:rPr lang="zh-TW" sz="105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（驗資後 15 日內送件、設立後 15 日內辦理稅籍及 CTP）</a:t>
              </a:r>
              <a:endParaRPr sz="1050" b="0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79" name="Google Shape;179;p17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0" name="Google Shape;180;p17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91" name="Google Shape;191;p18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571500" y="952500"/>
            <a:ext cx="4914900" cy="952500"/>
            <a:chOff x="0" y="0"/>
            <a:chExt cx="4914900" cy="9525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0" y="381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DANGER ZONE</a:t>
              </a:r>
              <a:endPara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152400" y="38100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31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兩大致命地雷</a:t>
              </a:r>
              <a:endParaRPr sz="31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571500" y="2095500"/>
            <a:ext cx="3810000" cy="2286000"/>
            <a:chOff x="0" y="0"/>
            <a:chExt cx="3810000" cy="22860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驗資過水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驗資完抽走資金等於虛設資本</a:t>
              </a:r>
              <a:b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（公司法 §9）</a:t>
              </a:r>
              <a:endParaRPr sz="120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最重刑責 5 年</a:t>
              </a:r>
              <a:endParaRPr sz="240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4762500" y="2095500"/>
            <a:ext cx="3810000" cy="2286000"/>
            <a:chOff x="0" y="0"/>
            <a:chExt cx="3810000" cy="22860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漏報 CTP</a:t>
              </a:r>
              <a:endParaRPr sz="165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公司法 §22-1 主要股東資訊申報</a:t>
              </a:r>
              <a:b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忘記 15 日內申報</a:t>
              </a:r>
              <a:endParaRPr sz="1200" b="0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罰 5 萬 ~ 500 萬</a:t>
              </a:r>
              <a:endParaRPr sz="240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5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06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7" name="Google Shape;207;p18"/>
            <p:cNvSpPr txBox="1"/>
            <p:nvPr/>
          </p:nvSpPr>
          <p:spPr>
            <a:xfrm>
              <a:off x="0" y="95250"/>
              <a:ext cx="476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04BE41-2DD9-3EF6-1C3D-1AC4CD8D4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3C4632"/>
                </a:solidFill>
                <a:latin typeface="Noto Sans TC"/>
              </a:rPr>
              <a:t>QA問答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235A7A-D3C0-1568-3BAA-B460A570AF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504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05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221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5F3965-63DC-EA82-5BB1-479E98E16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3C4632"/>
                </a:solidFill>
                <a:latin typeface="Noto Sans TC"/>
              </a:rPr>
              <a:t>Q1：如何開立發票(三聯式、二聯式)</a:t>
            </a:r>
            <a:br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36DA5C7-1FE3-B342-373D-CDE24597BD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506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07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285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33F1D-63C5-1BB4-EEB2-196D5FE30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3C4632"/>
                </a:solidFill>
                <a:latin typeface="Noto Sans TC"/>
              </a:rPr>
              <a:t>Q2:進貨發票及收據我要注意什麼?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66B50CC-0CDE-8E7F-A6D6-634F368FF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508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09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721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33F1D-63C5-1BB4-EEB2-196D5FE30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3C4632"/>
                </a:solidFill>
                <a:latin typeface="Noto Sans TC"/>
              </a:rPr>
              <a:t>Q3:營業稅申報，需要準備什麼資料給會計師事務所?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66B50CC-0CDE-8E7F-A6D6-634F368FF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510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11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5980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2CDD3-60F5-D64A-8757-12AFCE876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3C4632"/>
                </a:solidFill>
                <a:latin typeface="Noto Sans TC"/>
              </a:rPr>
              <a:t>Q4：營業稅如何計算？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52175-0C2A-AC2C-2648-35158C751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512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13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2244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2CDD3-60F5-D64A-8757-12AFCE876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3C4632"/>
                </a:solidFill>
                <a:latin typeface="Noto Sans TC"/>
              </a:rPr>
              <a:t>Q5-1：年底營所稅，我要繳多少稅?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52175-0C2A-AC2C-2648-35158C751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514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15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9260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2CDD3-60F5-D64A-8757-12AFCE876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3C4632"/>
                </a:solidFill>
                <a:latin typeface="Noto Sans TC"/>
              </a:rPr>
              <a:t>Q5-2：年底營所稅，我要如何節稅?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52175-0C2A-AC2C-2648-35158C751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516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17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7804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20" name="Google Shape;220;p19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 vs 應稅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法規依據：營業稅法 §8 第 1 項第 19 款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571500" y="1905000"/>
            <a:ext cx="3619500" cy="2476500"/>
            <a:chOff x="0" y="0"/>
            <a:chExt cx="3619500" cy="2476500"/>
          </a:xfrm>
        </p:grpSpPr>
        <p:sp>
          <p:nvSpPr>
            <p:cNvPr id="222" name="Google Shape;222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14300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免稅（未加工）</a:t>
              </a:r>
              <a:endParaRPr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切花、盆栽（塑膠/素燒陶土/木材容器）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花卉批發、種苗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網路販售原始花卉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符合農業產銷定義之原始型態產品</a:t>
              </a:r>
              <a:endParaRPr sz="900" b="0" i="1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4762500" y="1905000"/>
            <a:ext cx="3619500" cy="2476500"/>
            <a:chOff x="0" y="0"/>
            <a:chExt cx="3619500" cy="2476500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應稅（加工 / 勞務）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乾燥花、花藝禮盒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園藝維護服務、景觀設計施工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高級瓷器 / 玻璃盆栽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D87A6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涉及人工裝飾、加工或純勞務提供</a:t>
              </a:r>
              <a:endParaRPr sz="900" b="0" i="1">
                <a:solidFill>
                  <a:srgbClr val="D87A6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31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0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42" name="Google Shape;242;p20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45" name="Google Shape;245;p20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vs 403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571500" y="1809750"/>
            <a:ext cx="8001000" cy="1714500"/>
            <a:chOff x="0" y="0"/>
            <a:chExt cx="8001000" cy="1714500"/>
          </a:xfrm>
        </p:grpSpPr>
        <p:sp>
          <p:nvSpPr>
            <p:cNvPr id="247" name="Google Shape;247;p20"/>
            <p:cNvSpPr/>
            <p:nvPr/>
          </p:nvSpPr>
          <p:spPr>
            <a:xfrm>
              <a:off x="0" y="0"/>
              <a:ext cx="800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8" name="Google Shape;248;p20"/>
            <p:cNvCxnSpPr/>
            <p:nvPr/>
          </p:nvCxnSpPr>
          <p:spPr>
            <a:xfrm>
              <a:off x="190500" y="4286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20"/>
            <p:cNvCxnSpPr/>
            <p:nvPr/>
          </p:nvCxnSpPr>
          <p:spPr>
            <a:xfrm>
              <a:off x="190500" y="85725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20"/>
            <p:cNvCxnSpPr/>
            <p:nvPr/>
          </p:nvCxnSpPr>
          <p:spPr>
            <a:xfrm>
              <a:off x="190500" y="128587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251" name="Google Shape;25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25" y="1295400"/>
              <a:ext cx="7982100" cy="4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0"/>
            <p:cNvSpPr txBox="1"/>
            <p:nvPr/>
          </p:nvSpPr>
          <p:spPr>
            <a:xfrm>
              <a:off x="228600" y="952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業務類型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190500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收入性質說明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5905500" y="952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適用申報書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228600" y="52387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專營應稅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1905000" y="523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所有收入皆為應稅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5905500" y="52387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228600" y="9525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專營免稅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1905000" y="9525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所有收入皆為免稅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5905500" y="952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228600" y="138112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兼營</a:t>
              </a:r>
              <a:endParaRPr sz="13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1905000" y="138112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同時有應稅＋免稅收入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5905500" y="138112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 申報書</a:t>
              </a:r>
              <a:endParaRPr sz="16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571500" y="3714750"/>
            <a:ext cx="8001000" cy="809700"/>
            <a:chOff x="0" y="0"/>
            <a:chExt cx="8001000" cy="809700"/>
          </a:xfrm>
        </p:grpSpPr>
        <p:sp>
          <p:nvSpPr>
            <p:cNvPr id="265" name="Google Shape;265;p20"/>
            <p:cNvSpPr/>
            <p:nvPr/>
          </p:nvSpPr>
          <p:spPr>
            <a:xfrm>
              <a:off x="0" y="0"/>
              <a:ext cx="8001000" cy="809700"/>
            </a:xfrm>
            <a:prstGeom prst="roundRect">
              <a:avLst>
                <a:gd name="adj" fmla="val 18823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 txBox="1"/>
            <p:nvPr/>
          </p:nvSpPr>
          <p:spPr>
            <a:xfrm>
              <a:off x="285750" y="142875"/>
              <a:ext cx="742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口訣：「</a:t>
              </a:r>
              <a:r>
                <a:rPr lang="zh-TW" altLang="en-US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專營應稅四零一，其餘皆四零三</a:t>
              </a: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」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大葉園藝賣花（免稅）又做工程（應稅）＝ 兼營 ＝ 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。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7" name="Google Shape;267;p20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68" name="Google Shape;268;p20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9" name="Google Shape;269;p20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70" name="Google Shape;270;p20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271" name="Google Shape;271;p20"/>
          <p:cNvSpPr/>
          <p:nvPr/>
        </p:nvSpPr>
        <p:spPr>
          <a:xfrm>
            <a:off x="7810500" y="-666750"/>
            <a:ext cx="2286000" cy="2286000"/>
          </a:xfrm>
          <a:prstGeom prst="ellipse">
            <a:avLst/>
          </a:prstGeom>
          <a:solidFill>
            <a:srgbClr val="7C9878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0" y="2095500"/>
            <a:ext cx="53340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76250" y="-1047750"/>
            <a:ext cx="2857500" cy="2857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2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304" name="Google Shape;304;p22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>
            <a:off x="571500" y="952500"/>
            <a:ext cx="8153400" cy="762000"/>
            <a:chOff x="0" y="0"/>
            <a:chExt cx="8153400" cy="762000"/>
          </a:xfrm>
        </p:grpSpPr>
        <p:sp>
          <p:nvSpPr>
            <p:cNvPr id="307" name="Google Shape;307;p22"/>
            <p:cNvSpPr txBox="1"/>
            <p:nvPr/>
          </p:nvSpPr>
          <p:spPr>
            <a:xfrm>
              <a:off x="15240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三種申報方式比較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altLang="en-US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</a:t>
              </a: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營所稅策略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08" name="Google Shape;308;p22"/>
          <p:cNvGrpSpPr/>
          <p:nvPr/>
        </p:nvGrpSpPr>
        <p:grpSpPr>
          <a:xfrm>
            <a:off x="571500" y="1905000"/>
            <a:ext cx="2571900" cy="2476500"/>
            <a:chOff x="0" y="0"/>
            <a:chExt cx="2571900" cy="2476500"/>
          </a:xfrm>
        </p:grpSpPr>
        <p:sp>
          <p:nvSpPr>
            <p:cNvPr id="309" name="Google Shape;309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擴大書審</a:t>
              </a:r>
              <a:endParaRPr sz="150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</a:t>
              </a: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營收 &lt; 3,000 萬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元</a:t>
              </a:r>
              <a:endParaRPr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淨利率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4%</a:t>
              </a:r>
            </a:p>
            <a:p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缺憑證</a:t>
              </a:r>
              <a:endParaRPr sz="1050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擴大書審及所得額標準二者合計被抽查機率為</a:t>
              </a:r>
              <a:r>
                <a:rPr lang="en-US" altLang="zh-TW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1/10</a:t>
              </a:r>
              <a:endParaRPr dirty="0"/>
            </a:p>
          </p:txBody>
        </p:sp>
      </p:grpSp>
      <p:grpSp>
        <p:nvGrpSpPr>
          <p:cNvPr id="312" name="Google Shape;312;p22"/>
          <p:cNvGrpSpPr/>
          <p:nvPr/>
        </p:nvGrpSpPr>
        <p:grpSpPr>
          <a:xfrm>
            <a:off x="3286125" y="1905000"/>
            <a:ext cx="2571900" cy="2476500"/>
            <a:chOff x="0" y="0"/>
            <a:chExt cx="2571900" cy="2476500"/>
          </a:xfrm>
        </p:grpSpPr>
        <p:sp>
          <p:nvSpPr>
            <p:cNvPr id="313" name="Google Shape;313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A46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 dirty="0">
                  <a:solidFill>
                    <a:srgbClr val="C4A46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所得額標準</a:t>
              </a:r>
              <a:endParaRPr lang="en-US" altLang="zh-TW" sz="1500" b="1" dirty="0">
                <a:solidFill>
                  <a:srgbClr val="C4A46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淨營收 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&gt;3000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萬元</a:t>
              </a:r>
              <a:endParaRPr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淨利率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7%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缺憑證</a:t>
              </a:r>
              <a:endParaRPr lang="en-US" altLang="zh-TW" sz="105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擴大書審及所得額標準二者合計被抽查機率為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1/10</a:t>
              </a:r>
              <a:endParaRPr lang="zh-TW" altLang="en-US" dirty="0"/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6000750" y="1905000"/>
            <a:ext cx="2571900" cy="2476500"/>
            <a:chOff x="0" y="0"/>
            <a:chExt cx="2571900" cy="2476500"/>
          </a:xfrm>
        </p:grpSpPr>
        <p:sp>
          <p:nvSpPr>
            <p:cNvPr id="317" name="Google Shape;317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同業利潤標準</a:t>
              </a:r>
              <a:endParaRPr sz="150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>
                <a:spcBef>
                  <a:spcPts val="1200"/>
                </a:spcBef>
              </a:pP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</a:t>
              </a:r>
              <a:r>
                <a:rPr lang="zh-TW" altLang="en-US" sz="1050" b="1" dirty="0">
                  <a:solidFill>
                    <a:srgbClr val="C55D4D"/>
                  </a:solidFill>
                  <a:latin typeface="Noto Sans TC"/>
                  <a:ea typeface="Noto Sans TC"/>
                  <a:sym typeface="Noto Sans TC"/>
                </a:rPr>
                <a:t>前兩者書審案被抽中查帳時適用</a:t>
              </a:r>
              <a:endParaRPr lang="zh-TW" altLang="en-US" sz="1050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利潤率 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8%</a:t>
              </a:r>
              <a:endParaRPr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國稅局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逕決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(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直接核定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)</a:t>
              </a:r>
              <a:endParaRPr dirty="0"/>
            </a:p>
          </p:txBody>
        </p:sp>
      </p:grpSp>
      <p:grpSp>
        <p:nvGrpSpPr>
          <p:cNvPr id="320" name="Google Shape;320;p22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321" name="Google Shape;321;p22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2" name="Google Shape;322;p22"/>
            <p:cNvSpPr txBox="1"/>
            <p:nvPr/>
          </p:nvSpPr>
          <p:spPr>
            <a:xfrm>
              <a:off x="0" y="9525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323" name="Google Shape;323;p22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"/>
          <p:cNvSpPr/>
          <p:nvPr/>
        </p:nvSpPr>
        <p:spPr>
          <a:xfrm>
            <a:off x="5524500" y="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8"/>
          <p:cNvSpPr/>
          <p:nvPr/>
        </p:nvSpPr>
        <p:spPr>
          <a:xfrm>
            <a:off x="0" y="-16192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3" name="Google Shape;493;p2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496" name="Google Shape;496;p28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97" name="Google Shape;497;p28"/>
          <p:cNvGrpSpPr/>
          <p:nvPr/>
        </p:nvGrpSpPr>
        <p:grpSpPr>
          <a:xfrm>
            <a:off x="571500" y="1333500"/>
            <a:ext cx="952500" cy="266700"/>
            <a:chOff x="0" y="0"/>
            <a:chExt cx="952500" cy="266700"/>
          </a:xfrm>
        </p:grpSpPr>
        <p:sp>
          <p:nvSpPr>
            <p:cNvPr id="498" name="Google Shape;498;p28"/>
            <p:cNvSpPr/>
            <p:nvPr/>
          </p:nvSpPr>
          <p:spPr>
            <a:xfrm>
              <a:off x="0" y="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8"/>
            <p:cNvSpPr txBox="1"/>
            <p:nvPr/>
          </p:nvSpPr>
          <p:spPr>
            <a:xfrm>
              <a:off x="0" y="0"/>
              <a:ext cx="952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THANK YOU</a:t>
              </a:r>
              <a:endParaRPr sz="90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00" name="Google Shape;500;p28"/>
          <p:cNvSpPr txBox="1"/>
          <p:nvPr/>
        </p:nvSpPr>
        <p:spPr>
          <a:xfrm>
            <a:off x="571500" y="180975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讓您專心</a:t>
            </a:r>
            <a:r>
              <a:rPr lang="zh-TW" altLang="en-US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經營</a:t>
            </a: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 稅的事交給我們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1" name="Google Shape;501;p28"/>
          <p:cNvSpPr txBox="1"/>
          <p:nvPr/>
        </p:nvSpPr>
        <p:spPr>
          <a:xfrm>
            <a:off x="571500" y="2762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zh-TW" altLang="en-US" sz="1800" b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設立 → 營業 → 報稅。</a:t>
            </a:r>
            <a:r>
              <a:rPr lang="zh-TW" sz="1800" b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一條龍專業服務，全年稅務無死角。</a:t>
            </a:r>
            <a:endParaRPr sz="1800" b="0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2" name="Google Shape;502;p28"/>
          <p:cNvSpPr txBox="1"/>
          <p:nvPr/>
        </p:nvSpPr>
        <p:spPr>
          <a:xfrm>
            <a:off x="571500" y="3429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</a:pPr>
            <a:r>
              <a:rPr lang="zh-TW" sz="135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rPr>
              <a:t>大葉園藝有限公司 ✕ 稅務顧問團隊</a:t>
            </a:r>
            <a:endParaRPr sz="1350" b="1" dirty="0">
              <a:solidFill>
                <a:srgbClr val="2D4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503" name="Google Shape;503;p2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04" name="Google Shape;504;p2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5" name="Google Shape;505;p28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06" name="Google Shape;506;p28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865</Words>
  <Application>Microsoft Office PowerPoint</Application>
  <PresentationFormat>如螢幕大小 (16:9)</PresentationFormat>
  <Paragraphs>131</Paragraphs>
  <Slides>17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Noto Sans TC</vt:lpstr>
      <vt:lpstr>Arial</vt:lpstr>
      <vt:lpstr>Calibri</vt:lpstr>
      <vt:lpstr>標楷體</vt:lpstr>
      <vt:lpstr>Simple Light</vt:lpstr>
      <vt:lpstr>PowerPoint 簡報</vt:lpstr>
      <vt:lpstr>成員介紹</vt:lpstr>
      <vt:lpstr>PowerPoint 簡報</vt:lpstr>
      <vt:lpstr>PowerPoint 簡報</vt:lpstr>
      <vt:lpstr>PowerPoint 簡報</vt:lpstr>
      <vt:lpstr>PowerPoint 簡報</vt:lpstr>
      <vt:lpstr>QA問答</vt:lpstr>
      <vt:lpstr>Q1：如何開立發票(三聯式、二聯式) </vt:lpstr>
      <vt:lpstr>Q2:進貨發票及收據我要注意什麼?</vt:lpstr>
      <vt:lpstr>Q3:營業稅申報，需要準備什麼資料給會計師事務所?</vt:lpstr>
      <vt:lpstr>Q4：營業稅如何計算？</vt:lpstr>
      <vt:lpstr>Q5-1：年底營所稅，我要繳多少稅?</vt:lpstr>
      <vt:lpstr>Q5-2：年底營所稅，我要如何節稅?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Gary</dc:creator>
  <cp:lastModifiedBy>LI GARY</cp:lastModifiedBy>
  <cp:revision>7</cp:revision>
  <dcterms:modified xsi:type="dcterms:W3CDTF">2026-08-27T14:06:39Z</dcterms:modified>
</cp:coreProperties>
</file>